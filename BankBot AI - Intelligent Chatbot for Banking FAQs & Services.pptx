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MiSans" charset="-122" pitchFamily="34"/>
      <p:regular r:id="rId28"/>
    </p:embeddedFont>
    <p:embeddedFont>
      <p:font typeface="Hedvig Letters Sans" charset="-122" pitchFamily="34"/>
      <p:regular r:id="rId29"/>
    </p:embeddedFont>
    <p:embeddedFont>
      <p:font typeface="Liter" charset="-122" pitchFamily="34"/>
      <p:regular r:id="rId30"/>
    </p:embeddedFont>
    <p:embeddedFont>
      <p:font typeface="Noto Sans SC" charset="-122" pitchFamily="34"/>
      <p:regular r:id="rId3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eg"/><Relationship Id="rId3" Type="http://schemas.openxmlformats.org/officeDocument/2006/relationships/image" Target="../media/image-2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2f88b67eee6fc351243dd7fe929c6b42e983c322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802" b="780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508284"/>
            <a:ext cx="3655695" cy="388620"/>
          </a:xfrm>
          <a:custGeom>
            <a:avLst/>
            <a:gdLst/>
            <a:ahLst/>
            <a:cxnLst/>
            <a:rect l="l" t="t" r="r" b="b"/>
            <a:pathLst>
              <a:path w="3655695" h="388620">
                <a:moveTo>
                  <a:pt x="0" y="0"/>
                </a:moveTo>
                <a:lnTo>
                  <a:pt x="3655695" y="0"/>
                </a:lnTo>
                <a:lnTo>
                  <a:pt x="3655695" y="388620"/>
                </a:lnTo>
                <a:lnTo>
                  <a:pt x="0" y="38862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618774"/>
            <a:ext cx="3335655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315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AI-POWERED BANKING SOLUTION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29314"/>
            <a:ext cx="11858625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BankBot 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172301"/>
            <a:ext cx="1163002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150" dirty="0">
                <a:solidFill>
                  <a:srgbClr val="6C8EA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Chatbot for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150" dirty="0">
                <a:solidFill>
                  <a:srgbClr val="6C8EA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Banking FAQs &amp; Services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01051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4477226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Redefining Banking Accessibility with AI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5867519"/>
            <a:ext cx="2800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Prepared By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6172319"/>
            <a:ext cx="2828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Vallivedu Madhuri Reddy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989820" y="595122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0" y="0"/>
                </a:moveTo>
                <a:lnTo>
                  <a:pt x="520065" y="0"/>
                </a:lnTo>
                <a:lnTo>
                  <a:pt x="520065" y="520065"/>
                </a:lnTo>
                <a:lnTo>
                  <a:pt x="0" y="520065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20000"/>
            </a:srgbClr>
          </a:solidFill>
          <a:ln w="20320">
            <a:solidFill>
              <a:srgbClr val="6C8EA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148888" y="60960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4" name="Shape 11"/>
          <p:cNvSpPr/>
          <p:nvPr/>
        </p:nvSpPr>
        <p:spPr>
          <a:xfrm>
            <a:off x="10637520" y="595122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0" y="0"/>
                </a:moveTo>
                <a:lnTo>
                  <a:pt x="520065" y="0"/>
                </a:lnTo>
                <a:lnTo>
                  <a:pt x="520065" y="520065"/>
                </a:lnTo>
                <a:lnTo>
                  <a:pt x="0" y="520065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2300" y="6096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Shape 13"/>
          <p:cNvSpPr/>
          <p:nvPr/>
        </p:nvSpPr>
        <p:spPr>
          <a:xfrm>
            <a:off x="11285220" y="5951220"/>
            <a:ext cx="520065" cy="520065"/>
          </a:xfrm>
          <a:custGeom>
            <a:avLst/>
            <a:gdLst/>
            <a:ahLst/>
            <a:cxnLst/>
            <a:rect l="l" t="t" r="r" b="b"/>
            <a:pathLst>
              <a:path w="520065" h="520065">
                <a:moveTo>
                  <a:pt x="0" y="0"/>
                </a:moveTo>
                <a:lnTo>
                  <a:pt x="520065" y="0"/>
                </a:lnTo>
                <a:lnTo>
                  <a:pt x="520065" y="520065"/>
                </a:lnTo>
                <a:lnTo>
                  <a:pt x="0" y="520065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20000"/>
            </a:srgbClr>
          </a:solidFill>
          <a:ln w="20320">
            <a:solidFill>
              <a:srgbClr val="6C8EA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444288" y="60960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6C8EAD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91891"/>
            <a:ext cx="387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3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2096691"/>
            <a:ext cx="415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Table of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3963591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4230291"/>
            <a:ext cx="38957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comprehensive journey through BankBot AI's development lifecycle, from concept to deployment.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14850" y="857250"/>
            <a:ext cx="3562350" cy="1333500"/>
          </a:xfrm>
          <a:custGeom>
            <a:avLst/>
            <a:gdLst/>
            <a:ahLst/>
            <a:cxnLst/>
            <a:rect l="l" t="t" r="r" b="b"/>
            <a:pathLst>
              <a:path w="3562350" h="1333500">
                <a:moveTo>
                  <a:pt x="0" y="0"/>
                </a:moveTo>
                <a:lnTo>
                  <a:pt x="3562350" y="0"/>
                </a:lnTo>
                <a:lnTo>
                  <a:pt x="356235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7" name="Shape 5"/>
          <p:cNvSpPr/>
          <p:nvPr/>
        </p:nvSpPr>
        <p:spPr>
          <a:xfrm>
            <a:off x="4514850" y="85725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8" name="Shape 6"/>
          <p:cNvSpPr/>
          <p:nvPr/>
        </p:nvSpPr>
        <p:spPr>
          <a:xfrm>
            <a:off x="4724400" y="1295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9" name="Text 7"/>
          <p:cNvSpPr/>
          <p:nvPr/>
        </p:nvSpPr>
        <p:spPr>
          <a:xfrm>
            <a:off x="4667250" y="12954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0" y="1047750"/>
            <a:ext cx="2647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Vision &amp; Problem Statement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34000" y="1619250"/>
            <a:ext cx="2619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banking challenges and AI-driven solutions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48650" y="857250"/>
            <a:ext cx="3562350" cy="1333500"/>
          </a:xfrm>
          <a:custGeom>
            <a:avLst/>
            <a:gdLst/>
            <a:ahLst/>
            <a:cxnLst/>
            <a:rect l="l" t="t" r="r" b="b"/>
            <a:pathLst>
              <a:path w="3562350" h="1333500">
                <a:moveTo>
                  <a:pt x="0" y="0"/>
                </a:moveTo>
                <a:lnTo>
                  <a:pt x="3562350" y="0"/>
                </a:lnTo>
                <a:lnTo>
                  <a:pt x="356235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13" name="Shape 11"/>
          <p:cNvSpPr/>
          <p:nvPr/>
        </p:nvSpPr>
        <p:spPr>
          <a:xfrm>
            <a:off x="8248650" y="85725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Shape 12"/>
          <p:cNvSpPr/>
          <p:nvPr/>
        </p:nvSpPr>
        <p:spPr>
          <a:xfrm>
            <a:off x="8458200" y="1295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8401050" y="12954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67800" y="1047750"/>
            <a:ext cx="2647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Technology Stack &amp; Architecture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67800" y="1619250"/>
            <a:ext cx="2619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design and technical implementation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14850" y="2343150"/>
            <a:ext cx="3562350" cy="1333500"/>
          </a:xfrm>
          <a:custGeom>
            <a:avLst/>
            <a:gdLst/>
            <a:ahLst/>
            <a:cxnLst/>
            <a:rect l="l" t="t" r="r" b="b"/>
            <a:pathLst>
              <a:path w="3562350" h="1333500">
                <a:moveTo>
                  <a:pt x="0" y="0"/>
                </a:moveTo>
                <a:lnTo>
                  <a:pt x="3562350" y="0"/>
                </a:lnTo>
                <a:lnTo>
                  <a:pt x="356235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19" name="Shape 17"/>
          <p:cNvSpPr/>
          <p:nvPr/>
        </p:nvSpPr>
        <p:spPr>
          <a:xfrm>
            <a:off x="4514850" y="234315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0" name="Shape 18"/>
          <p:cNvSpPr/>
          <p:nvPr/>
        </p:nvSpPr>
        <p:spPr>
          <a:xfrm>
            <a:off x="4724400" y="2781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1" name="Text 19"/>
          <p:cNvSpPr/>
          <p:nvPr/>
        </p:nvSpPr>
        <p:spPr>
          <a:xfrm>
            <a:off x="4667250" y="27813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34000" y="2533650"/>
            <a:ext cx="2647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Milestone 1: Intent Recognition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34000" y="3105150"/>
            <a:ext cx="2619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Natural language understanding foundation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48650" y="2343150"/>
            <a:ext cx="3562350" cy="1333500"/>
          </a:xfrm>
          <a:custGeom>
            <a:avLst/>
            <a:gdLst/>
            <a:ahLst/>
            <a:cxnLst/>
            <a:rect l="l" t="t" r="r" b="b"/>
            <a:pathLst>
              <a:path w="3562350" h="1333500">
                <a:moveTo>
                  <a:pt x="0" y="0"/>
                </a:moveTo>
                <a:lnTo>
                  <a:pt x="3562350" y="0"/>
                </a:lnTo>
                <a:lnTo>
                  <a:pt x="356235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25" name="Shape 23"/>
          <p:cNvSpPr/>
          <p:nvPr/>
        </p:nvSpPr>
        <p:spPr>
          <a:xfrm>
            <a:off x="8248650" y="234315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Shape 24"/>
          <p:cNvSpPr/>
          <p:nvPr/>
        </p:nvSpPr>
        <p:spPr>
          <a:xfrm>
            <a:off x="8458200" y="2781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7" name="Text 25"/>
          <p:cNvSpPr/>
          <p:nvPr/>
        </p:nvSpPr>
        <p:spPr>
          <a:xfrm>
            <a:off x="8401050" y="27813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67800" y="2762250"/>
            <a:ext cx="254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Milestone 2: UI &amp; Database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67800" y="3067050"/>
            <a:ext cx="2514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interface and data management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14850" y="3829050"/>
            <a:ext cx="3562350" cy="1143000"/>
          </a:xfrm>
          <a:custGeom>
            <a:avLst/>
            <a:gdLst/>
            <a:ahLst/>
            <a:cxnLst/>
            <a:rect l="l" t="t" r="r" b="b"/>
            <a:pathLst>
              <a:path w="3562350" h="1143000">
                <a:moveTo>
                  <a:pt x="0" y="0"/>
                </a:moveTo>
                <a:lnTo>
                  <a:pt x="3562350" y="0"/>
                </a:lnTo>
                <a:lnTo>
                  <a:pt x="35623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31" name="Shape 29"/>
          <p:cNvSpPr/>
          <p:nvPr/>
        </p:nvSpPr>
        <p:spPr>
          <a:xfrm>
            <a:off x="4514850" y="382905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2" name="Shape 30"/>
          <p:cNvSpPr/>
          <p:nvPr/>
        </p:nvSpPr>
        <p:spPr>
          <a:xfrm>
            <a:off x="4724400" y="4171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3" name="Text 31"/>
          <p:cNvSpPr/>
          <p:nvPr/>
        </p:nvSpPr>
        <p:spPr>
          <a:xfrm>
            <a:off x="4667250" y="41719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34000" y="4019550"/>
            <a:ext cx="2647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Milestone 3: Banking Operations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34000" y="4591050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banking features implementation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48650" y="3829050"/>
            <a:ext cx="3562350" cy="1143000"/>
          </a:xfrm>
          <a:custGeom>
            <a:avLst/>
            <a:gdLst/>
            <a:ahLst/>
            <a:cxnLst/>
            <a:rect l="l" t="t" r="r" b="b"/>
            <a:pathLst>
              <a:path w="3562350" h="1143000">
                <a:moveTo>
                  <a:pt x="0" y="0"/>
                </a:moveTo>
                <a:lnTo>
                  <a:pt x="3562350" y="0"/>
                </a:lnTo>
                <a:lnTo>
                  <a:pt x="356235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37" name="Shape 35"/>
          <p:cNvSpPr/>
          <p:nvPr/>
        </p:nvSpPr>
        <p:spPr>
          <a:xfrm>
            <a:off x="8248650" y="382905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8" name="Shape 36"/>
          <p:cNvSpPr/>
          <p:nvPr/>
        </p:nvSpPr>
        <p:spPr>
          <a:xfrm>
            <a:off x="8458200" y="4171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7"/>
          <p:cNvSpPr/>
          <p:nvPr/>
        </p:nvSpPr>
        <p:spPr>
          <a:xfrm>
            <a:off x="8401050" y="41719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067800" y="4152900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Milestone 4: Admin Panel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67800" y="445770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Analytics and management dashboard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14850" y="5124450"/>
            <a:ext cx="7296150" cy="876300"/>
          </a:xfrm>
          <a:custGeom>
            <a:avLst/>
            <a:gdLst/>
            <a:ahLst/>
            <a:cxnLst/>
            <a:rect l="l" t="t" r="r" b="b"/>
            <a:pathLst>
              <a:path w="7296150" h="876300">
                <a:moveTo>
                  <a:pt x="0" y="0"/>
                </a:moveTo>
                <a:lnTo>
                  <a:pt x="7296150" y="0"/>
                </a:lnTo>
                <a:lnTo>
                  <a:pt x="729615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43" name="Shape 41"/>
          <p:cNvSpPr/>
          <p:nvPr/>
        </p:nvSpPr>
        <p:spPr>
          <a:xfrm>
            <a:off x="4514850" y="512445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4" name="Shape 42"/>
          <p:cNvSpPr/>
          <p:nvPr/>
        </p:nvSpPr>
        <p:spPr>
          <a:xfrm>
            <a:off x="4724400" y="533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5" name="Text 43"/>
          <p:cNvSpPr/>
          <p:nvPr/>
        </p:nvSpPr>
        <p:spPr>
          <a:xfrm>
            <a:off x="4667250" y="53340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334000" y="5314950"/>
            <a:ext cx="2390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Benefits &amp; Impact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334000" y="5619750"/>
            <a:ext cx="2362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value and user transformation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" y="372844"/>
            <a:ext cx="11511560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spc="257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844" y="633835"/>
            <a:ext cx="11670018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3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 Personal Banker in Your Pocket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2844" y="1193101"/>
            <a:ext cx="745688" cy="37284"/>
          </a:xfrm>
          <a:custGeom>
            <a:avLst/>
            <a:gdLst/>
            <a:ahLst/>
            <a:cxnLst/>
            <a:rect l="l" t="t" r="r" b="b"/>
            <a:pathLst>
              <a:path w="745688" h="37284">
                <a:moveTo>
                  <a:pt x="0" y="0"/>
                </a:moveTo>
                <a:lnTo>
                  <a:pt x="745688" y="0"/>
                </a:lnTo>
                <a:lnTo>
                  <a:pt x="745688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" name="Text 3"/>
          <p:cNvSpPr/>
          <p:nvPr/>
        </p:nvSpPr>
        <p:spPr>
          <a:xfrm>
            <a:off x="372844" y="2654999"/>
            <a:ext cx="5685872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Our Mission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2844" y="3065012"/>
            <a:ext cx="5657908" cy="820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 democratize access to financial information by leveraging Natural Language Processing (NLP) to understand user intent and provide accurate, secure, and human-like responses instantly.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2844" y="4035804"/>
            <a:ext cx="5574018" cy="7457"/>
          </a:xfrm>
          <a:custGeom>
            <a:avLst/>
            <a:gdLst/>
            <a:ahLst/>
            <a:cxnLst/>
            <a:rect l="l" t="t" r="r" b="b"/>
            <a:pathLst>
              <a:path w="5574018" h="7457">
                <a:moveTo>
                  <a:pt x="0" y="0"/>
                </a:moveTo>
                <a:lnTo>
                  <a:pt x="5574018" y="0"/>
                </a:lnTo>
                <a:lnTo>
                  <a:pt x="5574018" y="7457"/>
                </a:lnTo>
                <a:lnTo>
                  <a:pt x="0" y="7457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3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72844" y="4188670"/>
            <a:ext cx="5685872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Objectives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6147" y="4635967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694422" y="4598682"/>
            <a:ext cx="4744440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Automate Banking FAQs: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Provide instant answers to common queries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6147" y="4934242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694422" y="4896957"/>
            <a:ext cx="433431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 Manual Workload: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Minimize human agent dependency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6147" y="5232517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694422" y="5195233"/>
            <a:ext cx="3877578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Improve User Experience: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Deliver seamless 24/7 support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6147" y="5530792"/>
            <a:ext cx="167780" cy="167780"/>
          </a:xfrm>
          <a:custGeom>
            <a:avLst/>
            <a:gdLst/>
            <a:ahLst/>
            <a:cxnLst/>
            <a:rect l="l" t="t" r="r" b="b"/>
            <a:pathLst>
              <a:path w="167780" h="167780">
                <a:moveTo>
                  <a:pt x="83890" y="167780"/>
                </a:moveTo>
                <a:cubicBezTo>
                  <a:pt x="130190" y="167780"/>
                  <a:pt x="167780" y="130190"/>
                  <a:pt x="167780" y="83890"/>
                </a:cubicBezTo>
                <a:cubicBezTo>
                  <a:pt x="167780" y="37590"/>
                  <a:pt x="130190" y="0"/>
                  <a:pt x="83890" y="0"/>
                </a:cubicBezTo>
                <a:cubicBezTo>
                  <a:pt x="37590" y="0"/>
                  <a:pt x="0" y="37590"/>
                  <a:pt x="0" y="83890"/>
                </a:cubicBezTo>
                <a:cubicBezTo>
                  <a:pt x="0" y="130190"/>
                  <a:pt x="37590" y="167780"/>
                  <a:pt x="83890" y="167780"/>
                </a:cubicBezTo>
                <a:close/>
                <a:moveTo>
                  <a:pt x="111547" y="69701"/>
                </a:moveTo>
                <a:lnTo>
                  <a:pt x="85332" y="111646"/>
                </a:lnTo>
                <a:cubicBezTo>
                  <a:pt x="83955" y="113841"/>
                  <a:pt x="81596" y="115218"/>
                  <a:pt x="79007" y="115349"/>
                </a:cubicBezTo>
                <a:cubicBezTo>
                  <a:pt x="76418" y="115480"/>
                  <a:pt x="73928" y="114300"/>
                  <a:pt x="72388" y="112203"/>
                </a:cubicBezTo>
                <a:lnTo>
                  <a:pt x="56658" y="91230"/>
                </a:lnTo>
                <a:cubicBezTo>
                  <a:pt x="54037" y="87757"/>
                  <a:pt x="54758" y="82841"/>
                  <a:pt x="58231" y="80220"/>
                </a:cubicBezTo>
                <a:cubicBezTo>
                  <a:pt x="61705" y="77598"/>
                  <a:pt x="66620" y="78319"/>
                  <a:pt x="69242" y="81793"/>
                </a:cubicBezTo>
                <a:lnTo>
                  <a:pt x="78090" y="93590"/>
                </a:lnTo>
                <a:lnTo>
                  <a:pt x="98210" y="61377"/>
                </a:lnTo>
                <a:cubicBezTo>
                  <a:pt x="100504" y="57707"/>
                  <a:pt x="105354" y="56560"/>
                  <a:pt x="109057" y="58887"/>
                </a:cubicBezTo>
                <a:cubicBezTo>
                  <a:pt x="112760" y="61213"/>
                  <a:pt x="113874" y="66031"/>
                  <a:pt x="111547" y="69733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694422" y="5493508"/>
            <a:ext cx="4110606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Enable Admin Monitoring:</a:t>
            </a:r>
            <a:pPr>
              <a:lnSpc>
                <a:spcPct val="130000"/>
              </a:lnSpc>
            </a:pPr>
            <a:r>
              <a:rPr lang="en-US" sz="1174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Provide comprehensive analytics</a:t>
            </a:r>
            <a:endParaRPr lang="en-US" sz="1600" dirty="0"/>
          </a:p>
        </p:txBody>
      </p:sp>
      <p:pic>
        <p:nvPicPr>
          <p:cNvPr id="17" name="Image 0" descr="https://kimi-web-img.moonshot.cn/img/www.theuxda.com/b385eb3745da046da8e7e839546cb395dbb33333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6247119" y="1379523"/>
            <a:ext cx="5574018" cy="5611303"/>
          </a:xfrm>
          <a:prstGeom prst="roundRect">
            <a:avLst>
              <a:gd name="adj" fmla="val 1338"/>
            </a:avLst>
          </a:prstGeom>
        </p:spPr>
      </p:pic>
      <p:sp>
        <p:nvSpPr>
          <p:cNvPr id="18" name="Shape 15"/>
          <p:cNvSpPr/>
          <p:nvPr/>
        </p:nvSpPr>
        <p:spPr>
          <a:xfrm>
            <a:off x="6247119" y="1379523"/>
            <a:ext cx="5574018" cy="5611303"/>
          </a:xfrm>
          <a:custGeom>
            <a:avLst/>
            <a:gdLst/>
            <a:ahLst/>
            <a:cxnLst/>
            <a:rect l="l" t="t" r="r" b="b"/>
            <a:pathLst>
              <a:path w="5574018" h="5611303">
                <a:moveTo>
                  <a:pt x="74580" y="0"/>
                </a:moveTo>
                <a:lnTo>
                  <a:pt x="5499438" y="0"/>
                </a:lnTo>
                <a:cubicBezTo>
                  <a:pt x="5540628" y="0"/>
                  <a:pt x="5574018" y="33391"/>
                  <a:pt x="5574018" y="74580"/>
                </a:cubicBezTo>
                <a:lnTo>
                  <a:pt x="5574018" y="5536722"/>
                </a:lnTo>
                <a:cubicBezTo>
                  <a:pt x="5574018" y="5577912"/>
                  <a:pt x="5540628" y="5611303"/>
                  <a:pt x="5499438" y="5611303"/>
                </a:cubicBezTo>
                <a:lnTo>
                  <a:pt x="74580" y="5611303"/>
                </a:lnTo>
                <a:cubicBezTo>
                  <a:pt x="33391" y="5611303"/>
                  <a:pt x="0" y="5577912"/>
                  <a:pt x="0" y="5536722"/>
                </a:cubicBezTo>
                <a:lnTo>
                  <a:pt x="0" y="74580"/>
                </a:lnTo>
                <a:cubicBezTo>
                  <a:pt x="0" y="33391"/>
                  <a:pt x="33391" y="0"/>
                  <a:pt x="74580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19" name="Shape 16"/>
          <p:cNvSpPr/>
          <p:nvPr/>
        </p:nvSpPr>
        <p:spPr>
          <a:xfrm>
            <a:off x="6474553" y="5937658"/>
            <a:ext cx="5124741" cy="827714"/>
          </a:xfrm>
          <a:custGeom>
            <a:avLst/>
            <a:gdLst/>
            <a:ahLst/>
            <a:cxnLst/>
            <a:rect l="l" t="t" r="r" b="b"/>
            <a:pathLst>
              <a:path w="5124741" h="827714">
                <a:moveTo>
                  <a:pt x="74569" y="0"/>
                </a:moveTo>
                <a:lnTo>
                  <a:pt x="5050173" y="0"/>
                </a:lnTo>
                <a:cubicBezTo>
                  <a:pt x="5091356" y="0"/>
                  <a:pt x="5124741" y="33386"/>
                  <a:pt x="5124741" y="74569"/>
                </a:cubicBezTo>
                <a:lnTo>
                  <a:pt x="5124741" y="753145"/>
                </a:lnTo>
                <a:cubicBezTo>
                  <a:pt x="5124741" y="794328"/>
                  <a:pt x="5091356" y="827714"/>
                  <a:pt x="5050173" y="827714"/>
                </a:cubicBezTo>
                <a:lnTo>
                  <a:pt x="74569" y="827714"/>
                </a:lnTo>
                <a:cubicBezTo>
                  <a:pt x="33386" y="827714"/>
                  <a:pt x="0" y="794328"/>
                  <a:pt x="0" y="753145"/>
                </a:cubicBezTo>
                <a:lnTo>
                  <a:pt x="0" y="74569"/>
                </a:lnTo>
                <a:cubicBezTo>
                  <a:pt x="0" y="33386"/>
                  <a:pt x="33386" y="0"/>
                  <a:pt x="74569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7419" y="6090525"/>
            <a:ext cx="4902899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Conversational AI at Your Fingertips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27419" y="6388800"/>
            <a:ext cx="4893578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Experience the future of banking through natural language conversations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3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 &amp;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Challenge &amp; Our Solution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85900"/>
            <a:ext cx="5543550" cy="5067300"/>
          </a:xfrm>
          <a:custGeom>
            <a:avLst/>
            <a:gdLst/>
            <a:ahLst/>
            <a:cxnLst/>
            <a:rect l="l" t="t" r="r" b="b"/>
            <a:pathLst>
              <a:path w="5543550" h="5067300">
                <a:moveTo>
                  <a:pt x="0" y="0"/>
                </a:moveTo>
                <a:lnTo>
                  <a:pt x="5543550" y="0"/>
                </a:lnTo>
                <a:lnTo>
                  <a:pt x="5543550" y="5067300"/>
                </a:lnTo>
                <a:lnTo>
                  <a:pt x="0" y="50673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85900"/>
            <a:ext cx="38100" cy="5067300"/>
          </a:xfrm>
          <a:custGeom>
            <a:avLst/>
            <a:gdLst/>
            <a:ahLst/>
            <a:cxnLst/>
            <a:rect l="l" t="t" r="r" b="b"/>
            <a:pathLst>
              <a:path w="38100" h="5067300">
                <a:moveTo>
                  <a:pt x="0" y="0"/>
                </a:moveTo>
                <a:lnTo>
                  <a:pt x="38100" y="0"/>
                </a:lnTo>
                <a:lnTo>
                  <a:pt x="38100" y="5067300"/>
                </a:lnTo>
                <a:lnTo>
                  <a:pt x="0" y="50673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7" name="Shape 5"/>
          <p:cNvSpPr/>
          <p:nvPr/>
        </p:nvSpPr>
        <p:spPr>
          <a:xfrm>
            <a:off x="723900" y="1790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88206" y="19526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9" name="Text 7"/>
          <p:cNvSpPr/>
          <p:nvPr/>
        </p:nvSpPr>
        <p:spPr>
          <a:xfrm>
            <a:off x="1485900" y="1905000"/>
            <a:ext cx="2228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B2C3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900" y="2628900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 Wait Times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3900" y="293370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Customers face extended queues for simple queries like balance checks and transaction history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900" y="3581400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Limited Working Hours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3900" y="388620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Traditional support operates only during business hours, leaving users frustrated during off-times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3900" y="4533900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Operational Costs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3900" y="483870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Maintaining large customer support teams increases overhead for financial institutions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3900" y="5486400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Reduced Satisfaction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3900" y="579120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Delayed responses and limited availability negatively impact customer experience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67450" y="1485900"/>
            <a:ext cx="5543550" cy="5067300"/>
          </a:xfrm>
          <a:custGeom>
            <a:avLst/>
            <a:gdLst/>
            <a:ahLst/>
            <a:cxnLst/>
            <a:rect l="l" t="t" r="r" b="b"/>
            <a:pathLst>
              <a:path w="5543550" h="5067300">
                <a:moveTo>
                  <a:pt x="0" y="0"/>
                </a:moveTo>
                <a:lnTo>
                  <a:pt x="5543550" y="0"/>
                </a:lnTo>
                <a:lnTo>
                  <a:pt x="5543550" y="5067300"/>
                </a:lnTo>
                <a:lnTo>
                  <a:pt x="0" y="50673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19" name="Shape 17"/>
          <p:cNvSpPr/>
          <p:nvPr/>
        </p:nvSpPr>
        <p:spPr>
          <a:xfrm>
            <a:off x="6267450" y="1485900"/>
            <a:ext cx="38100" cy="5067300"/>
          </a:xfrm>
          <a:custGeom>
            <a:avLst/>
            <a:gdLst/>
            <a:ahLst/>
            <a:cxnLst/>
            <a:rect l="l" t="t" r="r" b="b"/>
            <a:pathLst>
              <a:path w="38100" h="5067300">
                <a:moveTo>
                  <a:pt x="0" y="0"/>
                </a:moveTo>
                <a:lnTo>
                  <a:pt x="38100" y="0"/>
                </a:lnTo>
                <a:lnTo>
                  <a:pt x="38100" y="5067300"/>
                </a:lnTo>
                <a:lnTo>
                  <a:pt x="0" y="50673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Shape 18"/>
          <p:cNvSpPr/>
          <p:nvPr/>
        </p:nvSpPr>
        <p:spPr>
          <a:xfrm>
            <a:off x="6591300" y="1790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791325" y="19526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7353300" y="1905000"/>
            <a:ext cx="2228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91300" y="2628900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 Conversational Interface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91300" y="293370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BankBot AI provides round-the-clock instant support through natural language conversations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91300" y="3581400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Intent Understanding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91300" y="388620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Advanced NLP algorithms accurately interpret user queries and deliver precise responses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91300" y="4533900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Instant &amp; Secure Responses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91300" y="483870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query resolution with robust security protocols for sensitive banking data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91300" y="5486400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Enhanced Customer Satisfaction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91300" y="579120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Improved user experience through immediate assistance and personalized interactions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3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TECHNICAL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811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Modular design ensuring security and scalability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62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3238500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4429125"/>
            <a:ext cx="3638550" cy="1504950"/>
          </a:xfrm>
          <a:custGeom>
            <a:avLst/>
            <a:gdLst/>
            <a:ahLst/>
            <a:cxnLst/>
            <a:rect l="l" t="t" r="r" b="b"/>
            <a:pathLst>
              <a:path w="3638550" h="1504950">
                <a:moveTo>
                  <a:pt x="0" y="0"/>
                </a:moveTo>
                <a:lnTo>
                  <a:pt x="3638550" y="0"/>
                </a:lnTo>
                <a:lnTo>
                  <a:pt x="36385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4429125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9" name="Shape 7"/>
          <p:cNvSpPr/>
          <p:nvPr/>
        </p:nvSpPr>
        <p:spPr>
          <a:xfrm>
            <a:off x="638175" y="46386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0" name="Text 8"/>
          <p:cNvSpPr/>
          <p:nvPr/>
        </p:nvSpPr>
        <p:spPr>
          <a:xfrm>
            <a:off x="1009650" y="4619625"/>
            <a:ext cx="81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5000625"/>
            <a:ext cx="3314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Multi-layered security with JWT authentication, encrypted data transmission, and secure API endpoints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86250" y="4429125"/>
            <a:ext cx="3638550" cy="1504950"/>
          </a:xfrm>
          <a:custGeom>
            <a:avLst/>
            <a:gdLst/>
            <a:ahLst/>
            <a:cxnLst/>
            <a:rect l="l" t="t" r="r" b="b"/>
            <a:pathLst>
              <a:path w="3638550" h="1504950">
                <a:moveTo>
                  <a:pt x="0" y="0"/>
                </a:moveTo>
                <a:lnTo>
                  <a:pt x="3638550" y="0"/>
                </a:lnTo>
                <a:lnTo>
                  <a:pt x="36385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13" name="Shape 11"/>
          <p:cNvSpPr/>
          <p:nvPr/>
        </p:nvSpPr>
        <p:spPr>
          <a:xfrm>
            <a:off x="4286250" y="4429125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38663" y="46386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4895850" y="4619625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95800" y="5000625"/>
            <a:ext cx="3314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Modular components allow independent scaling to handle increasing user load and feature expansion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72450" y="4429125"/>
            <a:ext cx="3638550" cy="1504950"/>
          </a:xfrm>
          <a:custGeom>
            <a:avLst/>
            <a:gdLst/>
            <a:ahLst/>
            <a:cxnLst/>
            <a:rect l="l" t="t" r="r" b="b"/>
            <a:pathLst>
              <a:path w="3638550" h="1504950">
                <a:moveTo>
                  <a:pt x="0" y="0"/>
                </a:moveTo>
                <a:lnTo>
                  <a:pt x="3638550" y="0"/>
                </a:lnTo>
                <a:lnTo>
                  <a:pt x="36385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18" name="Shape 16"/>
          <p:cNvSpPr/>
          <p:nvPr/>
        </p:nvSpPr>
        <p:spPr>
          <a:xfrm>
            <a:off x="8172450" y="4429125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9" name="Shape 17"/>
          <p:cNvSpPr/>
          <p:nvPr/>
        </p:nvSpPr>
        <p:spPr>
          <a:xfrm>
            <a:off x="8424863" y="46386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-14287"/>
                </a:moveTo>
                <a:cubicBezTo>
                  <a:pt x="65053" y="-14287"/>
                  <a:pt x="71438" y="-7903"/>
                  <a:pt x="71438" y="0"/>
                </a:cubicBezTo>
                <a:lnTo>
                  <a:pt x="71438" y="42863"/>
                </a:lnTo>
                <a:lnTo>
                  <a:pt x="128588" y="42863"/>
                </a:lnTo>
                <a:lnTo>
                  <a:pt x="128588" y="0"/>
                </a:lnTo>
                <a:cubicBezTo>
                  <a:pt x="128588" y="-7903"/>
                  <a:pt x="134972" y="-14287"/>
                  <a:pt x="142875" y="-14287"/>
                </a:cubicBezTo>
                <a:cubicBezTo>
                  <a:pt x="150778" y="-14287"/>
                  <a:pt x="157163" y="-7903"/>
                  <a:pt x="157163" y="0"/>
                </a:cubicBezTo>
                <a:lnTo>
                  <a:pt x="157163" y="42863"/>
                </a:ln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cubicBezTo>
                  <a:pt x="200025" y="65053"/>
                  <a:pt x="193640" y="71438"/>
                  <a:pt x="185738" y="71438"/>
                </a:cubicBezTo>
                <a:lnTo>
                  <a:pt x="185738" y="100013"/>
                </a:lnTo>
                <a:cubicBezTo>
                  <a:pt x="185738" y="142473"/>
                  <a:pt x="154841" y="177745"/>
                  <a:pt x="114300" y="184532"/>
                </a:cubicBezTo>
                <a:lnTo>
                  <a:pt x="114300" y="214313"/>
                </a:lnTo>
                <a:cubicBezTo>
                  <a:pt x="114300" y="222215"/>
                  <a:pt x="107915" y="228600"/>
                  <a:pt x="100013" y="228600"/>
                </a:cubicBezTo>
                <a:cubicBezTo>
                  <a:pt x="92110" y="228600"/>
                  <a:pt x="85725" y="222215"/>
                  <a:pt x="85725" y="214313"/>
                </a:cubicBezTo>
                <a:lnTo>
                  <a:pt x="85725" y="184532"/>
                </a:lnTo>
                <a:cubicBezTo>
                  <a:pt x="45184" y="177745"/>
                  <a:pt x="14288" y="142473"/>
                  <a:pt x="14288" y="100013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lnTo>
                  <a:pt x="42863" y="0"/>
                </a:lnTo>
                <a:cubicBezTo>
                  <a:pt x="42863" y="-7903"/>
                  <a:pt x="49247" y="-14287"/>
                  <a:pt x="57150" y="-14287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0" name="Text 18"/>
          <p:cNvSpPr/>
          <p:nvPr/>
        </p:nvSpPr>
        <p:spPr>
          <a:xfrm>
            <a:off x="8782050" y="4619625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0" y="5000625"/>
            <a:ext cx="3314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Seamless integration with external APIs, banking systems, and third-party services via RESTful endpoints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2371725"/>
            <a:ext cx="1552575" cy="1752600"/>
          </a:xfrm>
          <a:custGeom>
            <a:avLst/>
            <a:gdLst/>
            <a:ahLst/>
            <a:cxnLst/>
            <a:rect l="l" t="t" r="r" b="b"/>
            <a:pathLst>
              <a:path w="1552575" h="1752600">
                <a:moveTo>
                  <a:pt x="0" y="0"/>
                </a:moveTo>
                <a:lnTo>
                  <a:pt x="1552575" y="0"/>
                </a:lnTo>
                <a:lnTo>
                  <a:pt x="1552575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193" y="23717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8699" y="26098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3"/>
          <p:cNvSpPr/>
          <p:nvPr/>
        </p:nvSpPr>
        <p:spPr>
          <a:xfrm>
            <a:off x="485775" y="3248025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0063" y="3552825"/>
            <a:ext cx="1314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Streamlit web app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Register/Login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 interface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63322" y="2371725"/>
            <a:ext cx="1428750" cy="1752600"/>
          </a:xfrm>
          <a:custGeom>
            <a:avLst/>
            <a:gdLst/>
            <a:ahLst/>
            <a:cxnLst/>
            <a:rect l="l" t="t" r="r" b="b"/>
            <a:pathLst>
              <a:path w="1428750" h="1752600">
                <a:moveTo>
                  <a:pt x="0" y="0"/>
                </a:moveTo>
                <a:lnTo>
                  <a:pt x="1428750" y="0"/>
                </a:lnTo>
                <a:lnTo>
                  <a:pt x="142875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Shape 26"/>
          <p:cNvSpPr/>
          <p:nvPr/>
        </p:nvSpPr>
        <p:spPr>
          <a:xfrm>
            <a:off x="3097173" y="23717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Shape 27"/>
          <p:cNvSpPr/>
          <p:nvPr/>
        </p:nvSpPr>
        <p:spPr>
          <a:xfrm>
            <a:off x="3337679" y="26098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Text 28"/>
          <p:cNvSpPr/>
          <p:nvPr/>
        </p:nvSpPr>
        <p:spPr>
          <a:xfrm>
            <a:off x="2868097" y="3248025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NLP Layer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882384" y="3552825"/>
            <a:ext cx="11906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Intent classification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Entity extraction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Grok LLM API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18842" y="2371725"/>
            <a:ext cx="1600200" cy="1752600"/>
          </a:xfrm>
          <a:custGeom>
            <a:avLst/>
            <a:gdLst/>
            <a:ahLst/>
            <a:cxnLst/>
            <a:rect l="l" t="t" r="r" b="b"/>
            <a:pathLst>
              <a:path w="1600200" h="1752600">
                <a:moveTo>
                  <a:pt x="0" y="0"/>
                </a:moveTo>
                <a:lnTo>
                  <a:pt x="1600200" y="0"/>
                </a:lnTo>
                <a:lnTo>
                  <a:pt x="16002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Shape 31"/>
          <p:cNvSpPr/>
          <p:nvPr/>
        </p:nvSpPr>
        <p:spPr>
          <a:xfrm>
            <a:off x="5435798" y="23717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4" name="Shape 32"/>
          <p:cNvSpPr/>
          <p:nvPr/>
        </p:nvSpPr>
        <p:spPr>
          <a:xfrm>
            <a:off x="5640586" y="260985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Text 33"/>
          <p:cNvSpPr/>
          <p:nvPr/>
        </p:nvSpPr>
        <p:spPr>
          <a:xfrm>
            <a:off x="5123617" y="3248025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Business Logic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37904" y="3552825"/>
            <a:ext cx="13620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backend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Authentication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Banking operations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40692" y="2371725"/>
            <a:ext cx="1343025" cy="1752600"/>
          </a:xfrm>
          <a:custGeom>
            <a:avLst/>
            <a:gdLst/>
            <a:ahLst/>
            <a:cxnLst/>
            <a:rect l="l" t="t" r="r" b="b"/>
            <a:pathLst>
              <a:path w="1343025" h="1752600">
                <a:moveTo>
                  <a:pt x="0" y="0"/>
                </a:moveTo>
                <a:lnTo>
                  <a:pt x="1343025" y="0"/>
                </a:lnTo>
                <a:lnTo>
                  <a:pt x="1343025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Shape 36"/>
          <p:cNvSpPr/>
          <p:nvPr/>
        </p:nvSpPr>
        <p:spPr>
          <a:xfrm>
            <a:off x="7731681" y="23717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Shape 37"/>
          <p:cNvSpPr/>
          <p:nvPr/>
        </p:nvSpPr>
        <p:spPr>
          <a:xfrm>
            <a:off x="7990047" y="260985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Text 38"/>
          <p:cNvSpPr/>
          <p:nvPr/>
        </p:nvSpPr>
        <p:spPr>
          <a:xfrm>
            <a:off x="7545467" y="3248025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Database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59754" y="3552825"/>
            <a:ext cx="1104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SQLite database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data storage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 history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610487" y="2371725"/>
            <a:ext cx="2200275" cy="1752600"/>
          </a:xfrm>
          <a:custGeom>
            <a:avLst/>
            <a:gdLst/>
            <a:ahLst/>
            <a:cxnLst/>
            <a:rect l="l" t="t" r="r" b="b"/>
            <a:pathLst>
              <a:path w="2200275" h="1752600">
                <a:moveTo>
                  <a:pt x="0" y="0"/>
                </a:moveTo>
                <a:lnTo>
                  <a:pt x="2200275" y="0"/>
                </a:lnTo>
                <a:lnTo>
                  <a:pt x="2200275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29744" y="237172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4" name="Shape 42"/>
          <p:cNvSpPr/>
          <p:nvPr/>
        </p:nvSpPr>
        <p:spPr>
          <a:xfrm>
            <a:off x="10552391" y="26098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14313" y="80367"/>
                </a:moveTo>
                <a:cubicBezTo>
                  <a:pt x="214313" y="134615"/>
                  <a:pt x="166315" y="178594"/>
                  <a:pt x="107156" y="178594"/>
                </a:cubicBezTo>
                <a:cubicBezTo>
                  <a:pt x="92255" y="178594"/>
                  <a:pt x="78079" y="175803"/>
                  <a:pt x="65187" y="170780"/>
                </a:cubicBezTo>
                <a:lnTo>
                  <a:pt x="19645" y="194890"/>
                </a:lnTo>
                <a:cubicBezTo>
                  <a:pt x="14455" y="197625"/>
                  <a:pt x="8093" y="196676"/>
                  <a:pt x="3907" y="192546"/>
                </a:cubicBezTo>
                <a:cubicBezTo>
                  <a:pt x="-279" y="188416"/>
                  <a:pt x="-1228" y="181998"/>
                  <a:pt x="1563" y="176808"/>
                </a:cubicBezTo>
                <a:lnTo>
                  <a:pt x="21431" y="139303"/>
                </a:lnTo>
                <a:cubicBezTo>
                  <a:pt x="7981" y="122895"/>
                  <a:pt x="0" y="102468"/>
                  <a:pt x="0" y="80367"/>
                </a:cubicBezTo>
                <a:cubicBezTo>
                  <a:pt x="0" y="26119"/>
                  <a:pt x="47997" y="-17859"/>
                  <a:pt x="107156" y="-17859"/>
                </a:cubicBezTo>
                <a:cubicBezTo>
                  <a:pt x="166315" y="-17859"/>
                  <a:pt x="214313" y="26119"/>
                  <a:pt x="214313" y="80367"/>
                </a:cubicBezTo>
                <a:close/>
                <a:moveTo>
                  <a:pt x="214313" y="285750"/>
                </a:moveTo>
                <a:cubicBezTo>
                  <a:pt x="161795" y="285750"/>
                  <a:pt x="118095" y="251092"/>
                  <a:pt x="108942" y="205383"/>
                </a:cubicBezTo>
                <a:cubicBezTo>
                  <a:pt x="175915" y="204546"/>
                  <a:pt x="234125" y="156883"/>
                  <a:pt x="240543" y="92255"/>
                </a:cubicBezTo>
                <a:cubicBezTo>
                  <a:pt x="287034" y="102970"/>
                  <a:pt x="321469" y="141536"/>
                  <a:pt x="321469" y="187523"/>
                </a:cubicBezTo>
                <a:cubicBezTo>
                  <a:pt x="321469" y="209624"/>
                  <a:pt x="313488" y="230051"/>
                  <a:pt x="300038" y="246459"/>
                </a:cubicBezTo>
                <a:lnTo>
                  <a:pt x="319906" y="283964"/>
                </a:lnTo>
                <a:cubicBezTo>
                  <a:pt x="322641" y="289154"/>
                  <a:pt x="321692" y="295517"/>
                  <a:pt x="317562" y="299703"/>
                </a:cubicBezTo>
                <a:cubicBezTo>
                  <a:pt x="313432" y="303888"/>
                  <a:pt x="307014" y="304837"/>
                  <a:pt x="301823" y="302047"/>
                </a:cubicBezTo>
                <a:lnTo>
                  <a:pt x="256282" y="277937"/>
                </a:lnTo>
                <a:cubicBezTo>
                  <a:pt x="243390" y="282959"/>
                  <a:pt x="229214" y="285750"/>
                  <a:pt x="214313" y="2857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5" name="Text 43"/>
          <p:cNvSpPr/>
          <p:nvPr/>
        </p:nvSpPr>
        <p:spPr>
          <a:xfrm>
            <a:off x="9715262" y="3248025"/>
            <a:ext cx="1990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Response Generation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729549" y="3552825"/>
            <a:ext cx="1962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Dynamic responses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 awareness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delivery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3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811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Powerful technologies driving BankBot 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62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828800"/>
            <a:ext cx="5581650" cy="2209800"/>
          </a:xfrm>
          <a:custGeom>
            <a:avLst/>
            <a:gdLst/>
            <a:ahLst/>
            <a:cxnLst/>
            <a:rect l="l" t="t" r="r" b="b"/>
            <a:pathLst>
              <a:path w="5581650" h="2209800">
                <a:moveTo>
                  <a:pt x="0" y="0"/>
                </a:moveTo>
                <a:lnTo>
                  <a:pt x="5581650" y="0"/>
                </a:lnTo>
                <a:lnTo>
                  <a:pt x="558165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828800"/>
            <a:ext cx="38100" cy="2209800"/>
          </a:xfrm>
          <a:custGeom>
            <a:avLst/>
            <a:gdLst/>
            <a:ahLst/>
            <a:cxnLst/>
            <a:rect l="l" t="t" r="r" b="b"/>
            <a:pathLst>
              <a:path w="38100" h="2209800">
                <a:moveTo>
                  <a:pt x="0" y="0"/>
                </a:moveTo>
                <a:lnTo>
                  <a:pt x="38100" y="0"/>
                </a:lnTo>
                <a:lnTo>
                  <a:pt x="381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8" name="Shape 6"/>
          <p:cNvSpPr/>
          <p:nvPr/>
        </p:nvSpPr>
        <p:spPr>
          <a:xfrm>
            <a:off x="647700" y="2057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7725" y="22193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17859"/>
                </a:moveTo>
                <a:lnTo>
                  <a:pt x="19478" y="238758"/>
                </a:lnTo>
                <a:lnTo>
                  <a:pt x="106877" y="267891"/>
                </a:lnTo>
                <a:lnTo>
                  <a:pt x="194835" y="238758"/>
                </a:lnTo>
                <a:lnTo>
                  <a:pt x="214313" y="17859"/>
                </a:lnTo>
                <a:lnTo>
                  <a:pt x="0" y="17859"/>
                </a:lnTo>
                <a:close/>
                <a:moveTo>
                  <a:pt x="172008" y="89241"/>
                </a:moveTo>
                <a:lnTo>
                  <a:pt x="69428" y="89241"/>
                </a:lnTo>
                <a:lnTo>
                  <a:pt x="71717" y="116811"/>
                </a:lnTo>
                <a:lnTo>
                  <a:pt x="169720" y="116811"/>
                </a:lnTo>
                <a:lnTo>
                  <a:pt x="162130" y="199634"/>
                </a:lnTo>
                <a:lnTo>
                  <a:pt x="107491" y="214703"/>
                </a:lnTo>
                <a:lnTo>
                  <a:pt x="107491" y="214871"/>
                </a:lnTo>
                <a:lnTo>
                  <a:pt x="106877" y="214871"/>
                </a:lnTo>
                <a:lnTo>
                  <a:pt x="51792" y="199634"/>
                </a:lnTo>
                <a:lnTo>
                  <a:pt x="48444" y="157330"/>
                </a:lnTo>
                <a:lnTo>
                  <a:pt x="75065" y="157330"/>
                </a:lnTo>
                <a:lnTo>
                  <a:pt x="77019" y="178594"/>
                </a:lnTo>
                <a:lnTo>
                  <a:pt x="106877" y="186686"/>
                </a:lnTo>
                <a:lnTo>
                  <a:pt x="136847" y="178594"/>
                </a:lnTo>
                <a:lnTo>
                  <a:pt x="140196" y="143880"/>
                </a:lnTo>
                <a:lnTo>
                  <a:pt x="47048" y="143880"/>
                </a:lnTo>
                <a:lnTo>
                  <a:pt x="39905" y="62619"/>
                </a:lnTo>
                <a:lnTo>
                  <a:pt x="174464" y="62619"/>
                </a:lnTo>
                <a:lnTo>
                  <a:pt x="172008" y="89241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0" name="Text 8"/>
          <p:cNvSpPr/>
          <p:nvPr/>
        </p:nvSpPr>
        <p:spPr>
          <a:xfrm>
            <a:off x="1409700" y="2114550"/>
            <a:ext cx="1276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7700" y="294632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" y="2851072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Streamlit: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Rapid web app development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7700" y="327647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" y="3181229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HTML/CSS: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Responsive interface design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7700" y="360664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" y="3511390"/>
            <a:ext cx="278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JavaScript: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Interactive components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29350" y="1828800"/>
            <a:ext cx="5581650" cy="2209800"/>
          </a:xfrm>
          <a:custGeom>
            <a:avLst/>
            <a:gdLst/>
            <a:ahLst/>
            <a:cxnLst/>
            <a:rect l="l" t="t" r="r" b="b"/>
            <a:pathLst>
              <a:path w="5581650" h="2209800">
                <a:moveTo>
                  <a:pt x="0" y="0"/>
                </a:moveTo>
                <a:lnTo>
                  <a:pt x="5581650" y="0"/>
                </a:lnTo>
                <a:lnTo>
                  <a:pt x="558165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18" name="Shape 16"/>
          <p:cNvSpPr/>
          <p:nvPr/>
        </p:nvSpPr>
        <p:spPr>
          <a:xfrm>
            <a:off x="6229350" y="1828800"/>
            <a:ext cx="38100" cy="2209800"/>
          </a:xfrm>
          <a:custGeom>
            <a:avLst/>
            <a:gdLst/>
            <a:ahLst/>
            <a:cxnLst/>
            <a:rect l="l" t="t" r="r" b="b"/>
            <a:pathLst>
              <a:path w="38100" h="2209800">
                <a:moveTo>
                  <a:pt x="0" y="0"/>
                </a:moveTo>
                <a:lnTo>
                  <a:pt x="38100" y="0"/>
                </a:lnTo>
                <a:lnTo>
                  <a:pt x="381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0" y="2057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59166" y="22193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45455" y="111900"/>
                </a:moveTo>
                <a:cubicBezTo>
                  <a:pt x="241157" y="94655"/>
                  <a:pt x="233009" y="81651"/>
                  <a:pt x="215652" y="81651"/>
                </a:cubicBezTo>
                <a:lnTo>
                  <a:pt x="193272" y="81651"/>
                </a:lnTo>
                <a:lnTo>
                  <a:pt x="193272" y="108105"/>
                </a:lnTo>
                <a:cubicBezTo>
                  <a:pt x="193272" y="128643"/>
                  <a:pt x="175859" y="145945"/>
                  <a:pt x="155990" y="145945"/>
                </a:cubicBezTo>
                <a:lnTo>
                  <a:pt x="96385" y="145945"/>
                </a:lnTo>
                <a:cubicBezTo>
                  <a:pt x="80088" y="145945"/>
                  <a:pt x="66582" y="159897"/>
                  <a:pt x="66582" y="176250"/>
                </a:cubicBezTo>
                <a:lnTo>
                  <a:pt x="66582" y="233065"/>
                </a:lnTo>
                <a:cubicBezTo>
                  <a:pt x="66582" y="249250"/>
                  <a:pt x="80646" y="258738"/>
                  <a:pt x="96385" y="263370"/>
                </a:cubicBezTo>
                <a:cubicBezTo>
                  <a:pt x="115249" y="268895"/>
                  <a:pt x="133387" y="269900"/>
                  <a:pt x="155990" y="263370"/>
                </a:cubicBezTo>
                <a:cubicBezTo>
                  <a:pt x="171004" y="259017"/>
                  <a:pt x="185793" y="250254"/>
                  <a:pt x="185793" y="233065"/>
                </a:cubicBezTo>
                <a:lnTo>
                  <a:pt x="185793" y="210350"/>
                </a:lnTo>
                <a:lnTo>
                  <a:pt x="126243" y="210350"/>
                </a:lnTo>
                <a:lnTo>
                  <a:pt x="126243" y="202760"/>
                </a:lnTo>
                <a:lnTo>
                  <a:pt x="215652" y="202760"/>
                </a:lnTo>
                <a:cubicBezTo>
                  <a:pt x="233009" y="202760"/>
                  <a:pt x="239427" y="190649"/>
                  <a:pt x="245455" y="172510"/>
                </a:cubicBezTo>
                <a:cubicBezTo>
                  <a:pt x="251706" y="153814"/>
                  <a:pt x="251427" y="135843"/>
                  <a:pt x="245455" y="111900"/>
                </a:cubicBezTo>
                <a:close/>
                <a:moveTo>
                  <a:pt x="159730" y="248190"/>
                </a:moveTo>
                <a:cubicBezTo>
                  <a:pt x="155482" y="248487"/>
                  <a:pt x="151423" y="246390"/>
                  <a:pt x="149209" y="242753"/>
                </a:cubicBezTo>
                <a:cubicBezTo>
                  <a:pt x="146994" y="239116"/>
                  <a:pt x="146994" y="234548"/>
                  <a:pt x="149209" y="230911"/>
                </a:cubicBezTo>
                <a:cubicBezTo>
                  <a:pt x="151423" y="227274"/>
                  <a:pt x="155482" y="225177"/>
                  <a:pt x="159730" y="225475"/>
                </a:cubicBezTo>
                <a:cubicBezTo>
                  <a:pt x="163977" y="225177"/>
                  <a:pt x="168036" y="227274"/>
                  <a:pt x="170251" y="230911"/>
                </a:cubicBezTo>
                <a:cubicBezTo>
                  <a:pt x="172465" y="234548"/>
                  <a:pt x="172465" y="239116"/>
                  <a:pt x="170251" y="242753"/>
                </a:cubicBezTo>
                <a:cubicBezTo>
                  <a:pt x="168036" y="246390"/>
                  <a:pt x="163977" y="248487"/>
                  <a:pt x="159730" y="248190"/>
                </a:cubicBezTo>
                <a:close/>
                <a:moveTo>
                  <a:pt x="93650" y="138466"/>
                </a:moveTo>
                <a:lnTo>
                  <a:pt x="153256" y="138466"/>
                </a:lnTo>
                <a:cubicBezTo>
                  <a:pt x="169831" y="138466"/>
                  <a:pt x="183059" y="124792"/>
                  <a:pt x="183059" y="108161"/>
                </a:cubicBezTo>
                <a:lnTo>
                  <a:pt x="183059" y="51290"/>
                </a:lnTo>
                <a:cubicBezTo>
                  <a:pt x="183059" y="35105"/>
                  <a:pt x="169441" y="22994"/>
                  <a:pt x="153256" y="20259"/>
                </a:cubicBezTo>
                <a:cubicBezTo>
                  <a:pt x="133276" y="16966"/>
                  <a:pt x="111565" y="17134"/>
                  <a:pt x="93650" y="20315"/>
                </a:cubicBezTo>
                <a:cubicBezTo>
                  <a:pt x="68424" y="24780"/>
                  <a:pt x="63847" y="34100"/>
                  <a:pt x="63847" y="51346"/>
                </a:cubicBezTo>
                <a:lnTo>
                  <a:pt x="63847" y="74061"/>
                </a:lnTo>
                <a:lnTo>
                  <a:pt x="123509" y="74061"/>
                </a:lnTo>
                <a:lnTo>
                  <a:pt x="123509" y="81651"/>
                </a:lnTo>
                <a:lnTo>
                  <a:pt x="41467" y="81651"/>
                </a:lnTo>
                <a:cubicBezTo>
                  <a:pt x="24110" y="81651"/>
                  <a:pt x="8930" y="92087"/>
                  <a:pt x="4186" y="111900"/>
                </a:cubicBezTo>
                <a:cubicBezTo>
                  <a:pt x="-1284" y="134615"/>
                  <a:pt x="-1507" y="148791"/>
                  <a:pt x="4186" y="172510"/>
                </a:cubicBezTo>
                <a:cubicBezTo>
                  <a:pt x="8427" y="190147"/>
                  <a:pt x="18529" y="202760"/>
                  <a:pt x="35886" y="202760"/>
                </a:cubicBezTo>
                <a:lnTo>
                  <a:pt x="56369" y="202760"/>
                </a:lnTo>
                <a:lnTo>
                  <a:pt x="56369" y="175524"/>
                </a:lnTo>
                <a:cubicBezTo>
                  <a:pt x="56369" y="155823"/>
                  <a:pt x="73391" y="138466"/>
                  <a:pt x="93650" y="138466"/>
                </a:cubicBezTo>
                <a:close/>
                <a:moveTo>
                  <a:pt x="89967" y="36109"/>
                </a:moveTo>
                <a:cubicBezTo>
                  <a:pt x="96250" y="36109"/>
                  <a:pt x="101352" y="41211"/>
                  <a:pt x="101352" y="47495"/>
                </a:cubicBezTo>
                <a:cubicBezTo>
                  <a:pt x="101352" y="53779"/>
                  <a:pt x="96250" y="58880"/>
                  <a:pt x="89967" y="58880"/>
                </a:cubicBezTo>
                <a:cubicBezTo>
                  <a:pt x="83683" y="58880"/>
                  <a:pt x="78581" y="53779"/>
                  <a:pt x="78581" y="47495"/>
                </a:cubicBezTo>
                <a:cubicBezTo>
                  <a:pt x="78581" y="41211"/>
                  <a:pt x="83683" y="36109"/>
                  <a:pt x="89967" y="3610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7239000" y="2114550"/>
            <a:ext cx="1133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Backend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77000" y="294632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3" name="Text 21"/>
          <p:cNvSpPr/>
          <p:nvPr/>
        </p:nvSpPr>
        <p:spPr>
          <a:xfrm>
            <a:off x="6667500" y="2851072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Core application logic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77000" y="327647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5" name="Text 23"/>
          <p:cNvSpPr/>
          <p:nvPr/>
        </p:nvSpPr>
        <p:spPr>
          <a:xfrm>
            <a:off x="6667500" y="3181229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Flask/Django: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API framework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77000" y="360664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7" name="Text 25"/>
          <p:cNvSpPr/>
          <p:nvPr/>
        </p:nvSpPr>
        <p:spPr>
          <a:xfrm>
            <a:off x="6667500" y="3511390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Secure authentication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4267200"/>
            <a:ext cx="5581650" cy="2209800"/>
          </a:xfrm>
          <a:custGeom>
            <a:avLst/>
            <a:gdLst/>
            <a:ahLst/>
            <a:cxnLst/>
            <a:rect l="l" t="t" r="r" b="b"/>
            <a:pathLst>
              <a:path w="5581650" h="2209800">
                <a:moveTo>
                  <a:pt x="0" y="0"/>
                </a:moveTo>
                <a:lnTo>
                  <a:pt x="5581650" y="0"/>
                </a:lnTo>
                <a:lnTo>
                  <a:pt x="558165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4267200"/>
            <a:ext cx="38100" cy="2209800"/>
          </a:xfrm>
          <a:custGeom>
            <a:avLst/>
            <a:gdLst/>
            <a:ahLst/>
            <a:cxnLst/>
            <a:rect l="l" t="t" r="r" b="b"/>
            <a:pathLst>
              <a:path w="38100" h="2209800">
                <a:moveTo>
                  <a:pt x="0" y="0"/>
                </a:moveTo>
                <a:lnTo>
                  <a:pt x="38100" y="0"/>
                </a:lnTo>
                <a:lnTo>
                  <a:pt x="381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700" y="4495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29866" y="46577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2" name="Text 30"/>
          <p:cNvSpPr/>
          <p:nvPr/>
        </p:nvSpPr>
        <p:spPr>
          <a:xfrm>
            <a:off x="1409700" y="4552950"/>
            <a:ext cx="1228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Database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7700" y="538472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4" name="Text 32"/>
          <p:cNvSpPr/>
          <p:nvPr/>
        </p:nvSpPr>
        <p:spPr>
          <a:xfrm>
            <a:off x="838200" y="5289472"/>
            <a:ext cx="260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SQLite: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Lightweight relational DB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7700" y="571487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6" name="Text 34"/>
          <p:cNvSpPr/>
          <p:nvPr/>
        </p:nvSpPr>
        <p:spPr>
          <a:xfrm>
            <a:off x="838200" y="5619629"/>
            <a:ext cx="2771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Tables: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Account management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7700" y="604504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8" name="Text 36"/>
          <p:cNvSpPr/>
          <p:nvPr/>
        </p:nvSpPr>
        <p:spPr>
          <a:xfrm>
            <a:off x="838200" y="5949790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 History: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Conversation logs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29350" y="4267200"/>
            <a:ext cx="5581650" cy="2209800"/>
          </a:xfrm>
          <a:custGeom>
            <a:avLst/>
            <a:gdLst/>
            <a:ahLst/>
            <a:cxnLst/>
            <a:rect l="l" t="t" r="r" b="b"/>
            <a:pathLst>
              <a:path w="5581650" h="2209800">
                <a:moveTo>
                  <a:pt x="0" y="0"/>
                </a:moveTo>
                <a:lnTo>
                  <a:pt x="5581650" y="0"/>
                </a:lnTo>
                <a:lnTo>
                  <a:pt x="558165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40" name="Shape 38"/>
          <p:cNvSpPr/>
          <p:nvPr/>
        </p:nvSpPr>
        <p:spPr>
          <a:xfrm>
            <a:off x="6229350" y="4267200"/>
            <a:ext cx="38100" cy="2209800"/>
          </a:xfrm>
          <a:custGeom>
            <a:avLst/>
            <a:gdLst/>
            <a:ahLst/>
            <a:cxnLst/>
            <a:rect l="l" t="t" r="r" b="b"/>
            <a:pathLst>
              <a:path w="38100" h="2209800">
                <a:moveTo>
                  <a:pt x="0" y="0"/>
                </a:moveTo>
                <a:lnTo>
                  <a:pt x="38100" y="0"/>
                </a:lnTo>
                <a:lnTo>
                  <a:pt x="381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1" name="Shape 39"/>
          <p:cNvSpPr/>
          <p:nvPr/>
        </p:nvSpPr>
        <p:spPr>
          <a:xfrm>
            <a:off x="6477000" y="4495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41306" y="46577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3" name="Text 41"/>
          <p:cNvSpPr/>
          <p:nvPr/>
        </p:nvSpPr>
        <p:spPr>
          <a:xfrm>
            <a:off x="7239000" y="4552950"/>
            <a:ext cx="1228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AI/NLP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239000" y="4857629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Intelligence Engine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77000" y="538472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6" name="Text 44"/>
          <p:cNvSpPr/>
          <p:nvPr/>
        </p:nvSpPr>
        <p:spPr>
          <a:xfrm>
            <a:off x="6667500" y="5289472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Intent Classification: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Query understanding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77000" y="5714879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8" name="Text 46"/>
          <p:cNvSpPr/>
          <p:nvPr/>
        </p:nvSpPr>
        <p:spPr>
          <a:xfrm>
            <a:off x="6667500" y="5619629"/>
            <a:ext cx="2743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Grok LLM API: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Dynamic responses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77000" y="604504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0" name="Text 48"/>
          <p:cNvSpPr/>
          <p:nvPr/>
        </p:nvSpPr>
        <p:spPr>
          <a:xfrm>
            <a:off x="6667500" y="5949790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Entity Extraction: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Data parsing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dribbble.com/f62630bb021eff99efe0c46dafec47bcdb1a09fe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8620" y="735808"/>
            <a:ext cx="834390" cy="586740"/>
          </a:xfrm>
          <a:custGeom>
            <a:avLst/>
            <a:gdLst/>
            <a:ahLst/>
            <a:cxnLst/>
            <a:rect l="l" t="t" r="r" b="b"/>
            <a:pathLst>
              <a:path w="834390" h="586740">
                <a:moveTo>
                  <a:pt x="0" y="0"/>
                </a:moveTo>
                <a:lnTo>
                  <a:pt x="834390" y="0"/>
                </a:lnTo>
                <a:lnTo>
                  <a:pt x="834390" y="586740"/>
                </a:lnTo>
                <a:lnTo>
                  <a:pt x="0" y="586740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20000"/>
            </a:srgbClr>
          </a:solidFill>
          <a:ln w="20320">
            <a:solidFill>
              <a:srgbClr val="6C8EA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4840" y="842488"/>
            <a:ext cx="500182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34965"/>
            <a:ext cx="8248650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7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Milestone 1:</a:t>
            </a:r>
            <a:endParaRPr lang="en-US" sz="1600" dirty="0"/>
          </a:p>
          <a:p>
            <a:pPr>
              <a:lnSpc>
                <a:spcPct val="7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Intent Recognition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5856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928588"/>
            <a:ext cx="793432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Building the Foundation of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Natural Language Understanding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810" y="5242086"/>
            <a:ext cx="1579245" cy="883920"/>
          </a:xfrm>
          <a:custGeom>
            <a:avLst/>
            <a:gdLst/>
            <a:ahLst/>
            <a:cxnLst/>
            <a:rect l="l" t="t" r="r" b="b"/>
            <a:pathLst>
              <a:path w="1579245" h="883920">
                <a:moveTo>
                  <a:pt x="0" y="0"/>
                </a:moveTo>
                <a:lnTo>
                  <a:pt x="1579245" y="0"/>
                </a:lnTo>
                <a:lnTo>
                  <a:pt x="1579245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6C8EAD">
                <a:alpha val="5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1508" y="539829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" y="5703094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Balance Check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200037" y="5242086"/>
            <a:ext cx="1664970" cy="883920"/>
          </a:xfrm>
          <a:custGeom>
            <a:avLst/>
            <a:gdLst/>
            <a:ahLst/>
            <a:cxnLst/>
            <a:rect l="l" t="t" r="r" b="b"/>
            <a:pathLst>
              <a:path w="1664970" h="883920">
                <a:moveTo>
                  <a:pt x="0" y="0"/>
                </a:moveTo>
                <a:lnTo>
                  <a:pt x="1664970" y="0"/>
                </a:lnTo>
                <a:lnTo>
                  <a:pt x="1664970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6C8EAD">
                <a:alpha val="5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61022" y="539829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859" y="21431"/>
                </a:moveTo>
                <a:cubicBezTo>
                  <a:pt x="11921" y="21431"/>
                  <a:pt x="7144" y="26209"/>
                  <a:pt x="7144" y="32147"/>
                </a:cubicBezTo>
                <a:lnTo>
                  <a:pt x="7144" y="53578"/>
                </a:lnTo>
                <a:cubicBezTo>
                  <a:pt x="7144" y="59516"/>
                  <a:pt x="11921" y="64294"/>
                  <a:pt x="17859" y="64294"/>
                </a:cubicBezTo>
                <a:lnTo>
                  <a:pt x="39291" y="64294"/>
                </a:lnTo>
                <a:cubicBezTo>
                  <a:pt x="45229" y="64294"/>
                  <a:pt x="50006" y="59516"/>
                  <a:pt x="50006" y="53578"/>
                </a:cubicBezTo>
                <a:lnTo>
                  <a:pt x="50006" y="32147"/>
                </a:lnTo>
                <a:cubicBezTo>
                  <a:pt x="50006" y="26209"/>
                  <a:pt x="45229" y="21431"/>
                  <a:pt x="39291" y="21431"/>
                </a:cubicBezTo>
                <a:lnTo>
                  <a:pt x="17859" y="21431"/>
                </a:lnTo>
                <a:close/>
                <a:moveTo>
                  <a:pt x="85725" y="28575"/>
                </a:moveTo>
                <a:cubicBezTo>
                  <a:pt x="77822" y="28575"/>
                  <a:pt x="71438" y="34960"/>
                  <a:pt x="71438" y="42863"/>
                </a:cubicBezTo>
                <a:cubicBezTo>
                  <a:pt x="71438" y="50765"/>
                  <a:pt x="77822" y="57150"/>
                  <a:pt x="85725" y="57150"/>
                </a:cubicBezTo>
                <a:lnTo>
                  <a:pt x="214313" y="57150"/>
                </a:lnTo>
                <a:cubicBezTo>
                  <a:pt x="222215" y="57150"/>
                  <a:pt x="228600" y="50765"/>
                  <a:pt x="228600" y="42863"/>
                </a:cubicBezTo>
                <a:cubicBezTo>
                  <a:pt x="228600" y="34960"/>
                  <a:pt x="222215" y="28575"/>
                  <a:pt x="214313" y="28575"/>
                </a:cubicBezTo>
                <a:lnTo>
                  <a:pt x="85725" y="28575"/>
                </a:lnTo>
                <a:close/>
                <a:moveTo>
                  <a:pt x="85725" y="100013"/>
                </a:moveTo>
                <a:cubicBezTo>
                  <a:pt x="77822" y="100013"/>
                  <a:pt x="71438" y="106397"/>
                  <a:pt x="71438" y="114300"/>
                </a:cubicBezTo>
                <a:cubicBezTo>
                  <a:pt x="71438" y="122203"/>
                  <a:pt x="77822" y="128588"/>
                  <a:pt x="85725" y="128588"/>
                </a:cubicBez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85725" y="100013"/>
                </a:lnTo>
                <a:close/>
                <a:moveTo>
                  <a:pt x="85725" y="171450"/>
                </a:moveTo>
                <a:cubicBezTo>
                  <a:pt x="77822" y="171450"/>
                  <a:pt x="71438" y="177835"/>
                  <a:pt x="71438" y="185738"/>
                </a:cubicBezTo>
                <a:cubicBezTo>
                  <a:pt x="71438" y="193640"/>
                  <a:pt x="77822" y="200025"/>
                  <a:pt x="85725" y="200025"/>
                </a:cubicBez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ubicBezTo>
                  <a:pt x="228600" y="177835"/>
                  <a:pt x="222215" y="171450"/>
                  <a:pt x="214313" y="171450"/>
                </a:cubicBezTo>
                <a:lnTo>
                  <a:pt x="85725" y="171450"/>
                </a:lnTo>
                <a:close/>
                <a:moveTo>
                  <a:pt x="7144" y="103584"/>
                </a:moveTo>
                <a:lnTo>
                  <a:pt x="7144" y="125016"/>
                </a:lnTo>
                <a:cubicBezTo>
                  <a:pt x="7144" y="130954"/>
                  <a:pt x="11921" y="135731"/>
                  <a:pt x="17859" y="135731"/>
                </a:cubicBezTo>
                <a:lnTo>
                  <a:pt x="39291" y="135731"/>
                </a:lnTo>
                <a:cubicBezTo>
                  <a:pt x="45229" y="135731"/>
                  <a:pt x="50006" y="130954"/>
                  <a:pt x="50006" y="125016"/>
                </a:cubicBezTo>
                <a:lnTo>
                  <a:pt x="50006" y="103584"/>
                </a:lnTo>
                <a:cubicBezTo>
                  <a:pt x="50006" y="97646"/>
                  <a:pt x="45229" y="92869"/>
                  <a:pt x="39291" y="92869"/>
                </a:cubicBezTo>
                <a:lnTo>
                  <a:pt x="17859" y="92869"/>
                </a:lnTo>
                <a:cubicBezTo>
                  <a:pt x="11921" y="92869"/>
                  <a:pt x="7144" y="97646"/>
                  <a:pt x="7144" y="103584"/>
                </a:cubicBezTo>
                <a:close/>
                <a:moveTo>
                  <a:pt x="17859" y="164306"/>
                </a:moveTo>
                <a:cubicBezTo>
                  <a:pt x="11921" y="164306"/>
                  <a:pt x="7144" y="169084"/>
                  <a:pt x="7144" y="175022"/>
                </a:cubicBezTo>
                <a:lnTo>
                  <a:pt x="7144" y="196453"/>
                </a:lnTo>
                <a:cubicBezTo>
                  <a:pt x="7144" y="202391"/>
                  <a:pt x="11921" y="207169"/>
                  <a:pt x="17859" y="207169"/>
                </a:cubicBezTo>
                <a:lnTo>
                  <a:pt x="39291" y="207169"/>
                </a:lnTo>
                <a:cubicBezTo>
                  <a:pt x="45229" y="207169"/>
                  <a:pt x="50006" y="202391"/>
                  <a:pt x="50006" y="196453"/>
                </a:cubicBezTo>
                <a:lnTo>
                  <a:pt x="50006" y="175022"/>
                </a:lnTo>
                <a:cubicBezTo>
                  <a:pt x="50006" y="169084"/>
                  <a:pt x="45229" y="164306"/>
                  <a:pt x="39291" y="164306"/>
                </a:cubicBezTo>
                <a:lnTo>
                  <a:pt x="17859" y="164306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4" name="Text 11"/>
          <p:cNvSpPr/>
          <p:nvPr/>
        </p:nvSpPr>
        <p:spPr>
          <a:xfrm>
            <a:off x="2432447" y="5703094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 Statement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099084" y="5242086"/>
            <a:ext cx="1379220" cy="883920"/>
          </a:xfrm>
          <a:custGeom>
            <a:avLst/>
            <a:gdLst/>
            <a:ahLst/>
            <a:cxnLst/>
            <a:rect l="l" t="t" r="r" b="b"/>
            <a:pathLst>
              <a:path w="1379220" h="883920">
                <a:moveTo>
                  <a:pt x="0" y="0"/>
                </a:moveTo>
                <a:lnTo>
                  <a:pt x="1379220" y="0"/>
                </a:lnTo>
                <a:lnTo>
                  <a:pt x="1379220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6C8EAD">
                <a:alpha val="5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60069" y="539829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7" name="Text 14"/>
          <p:cNvSpPr/>
          <p:nvPr/>
        </p:nvSpPr>
        <p:spPr>
          <a:xfrm>
            <a:off x="4331494" y="5703094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FAQs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701" y="373701"/>
            <a:ext cx="1150999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spc="257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MILESTONE 1: IMPLEMENTATION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3701" y="635292"/>
            <a:ext cx="11668818" cy="448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31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Core Features &amp;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3701" y="1195844"/>
            <a:ext cx="747402" cy="37370"/>
          </a:xfrm>
          <a:custGeom>
            <a:avLst/>
            <a:gdLst/>
            <a:ahLst/>
            <a:cxnLst/>
            <a:rect l="l" t="t" r="r" b="b"/>
            <a:pathLst>
              <a:path w="747402" h="37370">
                <a:moveTo>
                  <a:pt x="0" y="0"/>
                </a:moveTo>
                <a:lnTo>
                  <a:pt x="747402" y="0"/>
                </a:lnTo>
                <a:lnTo>
                  <a:pt x="747402" y="37370"/>
                </a:lnTo>
                <a:lnTo>
                  <a:pt x="0" y="3737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" name="Shape 3"/>
          <p:cNvSpPr/>
          <p:nvPr/>
        </p:nvSpPr>
        <p:spPr>
          <a:xfrm>
            <a:off x="392386" y="1382694"/>
            <a:ext cx="37370" cy="1681655"/>
          </a:xfrm>
          <a:custGeom>
            <a:avLst/>
            <a:gdLst/>
            <a:ahLst/>
            <a:cxnLst/>
            <a:rect l="l" t="t" r="r" b="b"/>
            <a:pathLst>
              <a:path w="37370" h="1681655">
                <a:moveTo>
                  <a:pt x="0" y="0"/>
                </a:moveTo>
                <a:lnTo>
                  <a:pt x="37370" y="0"/>
                </a:lnTo>
                <a:lnTo>
                  <a:pt x="37370" y="1681655"/>
                </a:lnTo>
                <a:lnTo>
                  <a:pt x="0" y="1681655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6" name="Shape 4"/>
          <p:cNvSpPr/>
          <p:nvPr/>
        </p:nvSpPr>
        <p:spPr>
          <a:xfrm>
            <a:off x="597922" y="1569545"/>
            <a:ext cx="523182" cy="523182"/>
          </a:xfrm>
          <a:custGeom>
            <a:avLst/>
            <a:gdLst/>
            <a:ahLst/>
            <a:cxnLst/>
            <a:rect l="l" t="t" r="r" b="b"/>
            <a:pathLst>
              <a:path w="523182" h="523182">
                <a:moveTo>
                  <a:pt x="0" y="0"/>
                </a:moveTo>
                <a:lnTo>
                  <a:pt x="523182" y="0"/>
                </a:lnTo>
                <a:lnTo>
                  <a:pt x="523182" y="523182"/>
                </a:lnTo>
                <a:lnTo>
                  <a:pt x="0" y="523182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7" name="Shape 5"/>
          <p:cNvSpPr/>
          <p:nvPr/>
        </p:nvSpPr>
        <p:spPr>
          <a:xfrm>
            <a:off x="747402" y="1719025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28028" y="14014"/>
                </a:moveTo>
                <a:cubicBezTo>
                  <a:pt x="12569" y="14014"/>
                  <a:pt x="0" y="26582"/>
                  <a:pt x="0" y="42041"/>
                </a:cubicBezTo>
                <a:lnTo>
                  <a:pt x="0" y="168166"/>
                </a:lnTo>
                <a:cubicBezTo>
                  <a:pt x="0" y="183624"/>
                  <a:pt x="12569" y="196193"/>
                  <a:pt x="28028" y="196193"/>
                </a:cubicBezTo>
                <a:lnTo>
                  <a:pt x="196193" y="196193"/>
                </a:lnTo>
                <a:cubicBezTo>
                  <a:pt x="211652" y="196193"/>
                  <a:pt x="224221" y="183624"/>
                  <a:pt x="224221" y="168166"/>
                </a:cubicBezTo>
                <a:lnTo>
                  <a:pt x="224221" y="84083"/>
                </a:lnTo>
                <a:cubicBezTo>
                  <a:pt x="224221" y="68624"/>
                  <a:pt x="211652" y="56055"/>
                  <a:pt x="196193" y="56055"/>
                </a:cubicBezTo>
                <a:lnTo>
                  <a:pt x="31531" y="56055"/>
                </a:lnTo>
                <a:cubicBezTo>
                  <a:pt x="25707" y="56055"/>
                  <a:pt x="21021" y="51369"/>
                  <a:pt x="21021" y="45545"/>
                </a:cubicBezTo>
                <a:cubicBezTo>
                  <a:pt x="21021" y="39720"/>
                  <a:pt x="25707" y="35034"/>
                  <a:pt x="31531" y="35034"/>
                </a:cubicBezTo>
                <a:lnTo>
                  <a:pt x="199697" y="35034"/>
                </a:lnTo>
                <a:cubicBezTo>
                  <a:pt x="205521" y="35034"/>
                  <a:pt x="210207" y="30349"/>
                  <a:pt x="210207" y="24524"/>
                </a:cubicBezTo>
                <a:cubicBezTo>
                  <a:pt x="210207" y="18700"/>
                  <a:pt x="205521" y="14014"/>
                  <a:pt x="199697" y="14014"/>
                </a:cubicBezTo>
                <a:lnTo>
                  <a:pt x="28028" y="14014"/>
                </a:lnTo>
                <a:close/>
                <a:moveTo>
                  <a:pt x="182179" y="112110"/>
                </a:moveTo>
                <a:cubicBezTo>
                  <a:pt x="189914" y="112110"/>
                  <a:pt x="196193" y="118390"/>
                  <a:pt x="196193" y="126124"/>
                </a:cubicBezTo>
                <a:cubicBezTo>
                  <a:pt x="196193" y="133859"/>
                  <a:pt x="189914" y="140138"/>
                  <a:pt x="182179" y="140138"/>
                </a:cubicBezTo>
                <a:cubicBezTo>
                  <a:pt x="174445" y="140138"/>
                  <a:pt x="168166" y="133859"/>
                  <a:pt x="168166" y="126124"/>
                </a:cubicBezTo>
                <a:cubicBezTo>
                  <a:pt x="168166" y="118390"/>
                  <a:pt x="174445" y="112110"/>
                  <a:pt x="182179" y="11211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270584" y="1569545"/>
            <a:ext cx="349410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Balance Check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584" y="1905876"/>
            <a:ext cx="3475421" cy="97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heck their account balance anytime using natural language queies.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2386" y="3213830"/>
            <a:ext cx="4465729" cy="1681655"/>
          </a:xfrm>
          <a:custGeom>
            <a:avLst/>
            <a:gdLst/>
            <a:ahLst/>
            <a:cxnLst/>
            <a:rect l="l" t="t" r="r" b="b"/>
            <a:pathLst>
              <a:path w="4465729" h="1681655">
                <a:moveTo>
                  <a:pt x="0" y="0"/>
                </a:moveTo>
                <a:lnTo>
                  <a:pt x="4465729" y="0"/>
                </a:lnTo>
                <a:lnTo>
                  <a:pt x="4465729" y="1681655"/>
                </a:lnTo>
                <a:lnTo>
                  <a:pt x="0" y="1681655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11" name="Shape 9"/>
          <p:cNvSpPr/>
          <p:nvPr/>
        </p:nvSpPr>
        <p:spPr>
          <a:xfrm>
            <a:off x="392386" y="3213830"/>
            <a:ext cx="37370" cy="1681655"/>
          </a:xfrm>
          <a:custGeom>
            <a:avLst/>
            <a:gdLst/>
            <a:ahLst/>
            <a:cxnLst/>
            <a:rect l="l" t="t" r="r" b="b"/>
            <a:pathLst>
              <a:path w="37370" h="1681655">
                <a:moveTo>
                  <a:pt x="0" y="0"/>
                </a:moveTo>
                <a:lnTo>
                  <a:pt x="37370" y="0"/>
                </a:lnTo>
                <a:lnTo>
                  <a:pt x="37370" y="1681655"/>
                </a:lnTo>
                <a:lnTo>
                  <a:pt x="0" y="168165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Shape 10"/>
          <p:cNvSpPr/>
          <p:nvPr/>
        </p:nvSpPr>
        <p:spPr>
          <a:xfrm>
            <a:off x="597922" y="3400680"/>
            <a:ext cx="523182" cy="523182"/>
          </a:xfrm>
          <a:custGeom>
            <a:avLst/>
            <a:gdLst/>
            <a:ahLst/>
            <a:cxnLst/>
            <a:rect l="l" t="t" r="r" b="b"/>
            <a:pathLst>
              <a:path w="523182" h="523182">
                <a:moveTo>
                  <a:pt x="0" y="0"/>
                </a:moveTo>
                <a:lnTo>
                  <a:pt x="523182" y="0"/>
                </a:lnTo>
                <a:lnTo>
                  <a:pt x="523182" y="523182"/>
                </a:lnTo>
                <a:lnTo>
                  <a:pt x="0" y="52318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Shape 11"/>
          <p:cNvSpPr/>
          <p:nvPr/>
        </p:nvSpPr>
        <p:spPr>
          <a:xfrm>
            <a:off x="747402" y="3550161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21021" y="63062"/>
                </a:moveTo>
                <a:cubicBezTo>
                  <a:pt x="32622" y="63062"/>
                  <a:pt x="42041" y="53643"/>
                  <a:pt x="42041" y="42041"/>
                </a:cubicBezTo>
                <a:cubicBezTo>
                  <a:pt x="42041" y="30440"/>
                  <a:pt x="32622" y="21021"/>
                  <a:pt x="21021" y="21021"/>
                </a:cubicBezTo>
                <a:cubicBezTo>
                  <a:pt x="9419" y="21021"/>
                  <a:pt x="0" y="30440"/>
                  <a:pt x="0" y="42041"/>
                </a:cubicBezTo>
                <a:cubicBezTo>
                  <a:pt x="0" y="53643"/>
                  <a:pt x="9419" y="63062"/>
                  <a:pt x="21021" y="63062"/>
                </a:cubicBezTo>
                <a:close/>
                <a:moveTo>
                  <a:pt x="84083" y="28028"/>
                </a:moveTo>
                <a:cubicBezTo>
                  <a:pt x="76331" y="28028"/>
                  <a:pt x="70069" y="34290"/>
                  <a:pt x="70069" y="42041"/>
                </a:cubicBezTo>
                <a:cubicBezTo>
                  <a:pt x="70069" y="49793"/>
                  <a:pt x="76331" y="56055"/>
                  <a:pt x="84083" y="56055"/>
                </a:cubicBezTo>
                <a:lnTo>
                  <a:pt x="210207" y="56055"/>
                </a:lnTo>
                <a:cubicBezTo>
                  <a:pt x="217958" y="56055"/>
                  <a:pt x="224221" y="49793"/>
                  <a:pt x="224221" y="42041"/>
                </a:cubicBezTo>
                <a:cubicBezTo>
                  <a:pt x="224221" y="34290"/>
                  <a:pt x="217958" y="28028"/>
                  <a:pt x="210207" y="28028"/>
                </a:cubicBezTo>
                <a:lnTo>
                  <a:pt x="84083" y="28028"/>
                </a:lnTo>
                <a:close/>
                <a:moveTo>
                  <a:pt x="84083" y="98097"/>
                </a:moveTo>
                <a:cubicBezTo>
                  <a:pt x="76331" y="98097"/>
                  <a:pt x="70069" y="104359"/>
                  <a:pt x="70069" y="112110"/>
                </a:cubicBezTo>
                <a:cubicBezTo>
                  <a:pt x="70069" y="119862"/>
                  <a:pt x="76331" y="126124"/>
                  <a:pt x="84083" y="126124"/>
                </a:cubicBezTo>
                <a:lnTo>
                  <a:pt x="210207" y="126124"/>
                </a:lnTo>
                <a:cubicBezTo>
                  <a:pt x="217958" y="126124"/>
                  <a:pt x="224221" y="119862"/>
                  <a:pt x="224221" y="112110"/>
                </a:cubicBezTo>
                <a:cubicBezTo>
                  <a:pt x="224221" y="104359"/>
                  <a:pt x="217958" y="98097"/>
                  <a:pt x="210207" y="98097"/>
                </a:cubicBezTo>
                <a:lnTo>
                  <a:pt x="84083" y="98097"/>
                </a:lnTo>
                <a:close/>
                <a:moveTo>
                  <a:pt x="84083" y="168166"/>
                </a:moveTo>
                <a:cubicBezTo>
                  <a:pt x="76331" y="168166"/>
                  <a:pt x="70069" y="174428"/>
                  <a:pt x="70069" y="182179"/>
                </a:cubicBezTo>
                <a:cubicBezTo>
                  <a:pt x="70069" y="189931"/>
                  <a:pt x="76331" y="196193"/>
                  <a:pt x="84083" y="196193"/>
                </a:cubicBezTo>
                <a:lnTo>
                  <a:pt x="210207" y="196193"/>
                </a:lnTo>
                <a:cubicBezTo>
                  <a:pt x="217958" y="196193"/>
                  <a:pt x="224221" y="189931"/>
                  <a:pt x="224221" y="182179"/>
                </a:cubicBezTo>
                <a:cubicBezTo>
                  <a:pt x="224221" y="174428"/>
                  <a:pt x="217958" y="168166"/>
                  <a:pt x="210207" y="168166"/>
                </a:cubicBezTo>
                <a:lnTo>
                  <a:pt x="84083" y="168166"/>
                </a:lnTo>
                <a:close/>
                <a:moveTo>
                  <a:pt x="21021" y="203200"/>
                </a:moveTo>
                <a:cubicBezTo>
                  <a:pt x="32622" y="203200"/>
                  <a:pt x="42041" y="193781"/>
                  <a:pt x="42041" y="182179"/>
                </a:cubicBezTo>
                <a:cubicBezTo>
                  <a:pt x="42041" y="170578"/>
                  <a:pt x="32622" y="161159"/>
                  <a:pt x="21021" y="161159"/>
                </a:cubicBezTo>
                <a:cubicBezTo>
                  <a:pt x="9419" y="161159"/>
                  <a:pt x="0" y="170578"/>
                  <a:pt x="0" y="182179"/>
                </a:cubicBezTo>
                <a:cubicBezTo>
                  <a:pt x="0" y="193781"/>
                  <a:pt x="9419" y="203200"/>
                  <a:pt x="21021" y="203200"/>
                </a:cubicBezTo>
                <a:close/>
                <a:moveTo>
                  <a:pt x="42041" y="112110"/>
                </a:moveTo>
                <a:cubicBezTo>
                  <a:pt x="42041" y="100509"/>
                  <a:pt x="32622" y="91090"/>
                  <a:pt x="21021" y="91090"/>
                </a:cubicBezTo>
                <a:cubicBezTo>
                  <a:pt x="9419" y="91090"/>
                  <a:pt x="0" y="100509"/>
                  <a:pt x="0" y="112110"/>
                </a:cubicBezTo>
                <a:cubicBezTo>
                  <a:pt x="0" y="123712"/>
                  <a:pt x="9419" y="133131"/>
                  <a:pt x="21021" y="133131"/>
                </a:cubicBezTo>
                <a:cubicBezTo>
                  <a:pt x="32622" y="133131"/>
                  <a:pt x="42041" y="123712"/>
                  <a:pt x="42041" y="11211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584" y="3400680"/>
            <a:ext cx="349410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Statement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0584" y="3737011"/>
            <a:ext cx="3475421" cy="97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 the last 5 transactions instantly to track recent spending activity. Provides quick access to recent transaction history without navigating complex menus.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2386" y="5044966"/>
            <a:ext cx="4465729" cy="1438749"/>
          </a:xfrm>
          <a:custGeom>
            <a:avLst/>
            <a:gdLst/>
            <a:ahLst/>
            <a:cxnLst/>
            <a:rect l="l" t="t" r="r" b="b"/>
            <a:pathLst>
              <a:path w="4465729" h="1438749">
                <a:moveTo>
                  <a:pt x="0" y="0"/>
                </a:moveTo>
                <a:lnTo>
                  <a:pt x="4465729" y="0"/>
                </a:lnTo>
                <a:lnTo>
                  <a:pt x="4465729" y="1438749"/>
                </a:lnTo>
                <a:lnTo>
                  <a:pt x="0" y="1438749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17" name="Shape 15"/>
          <p:cNvSpPr/>
          <p:nvPr/>
        </p:nvSpPr>
        <p:spPr>
          <a:xfrm>
            <a:off x="392386" y="5044966"/>
            <a:ext cx="37370" cy="1438749"/>
          </a:xfrm>
          <a:custGeom>
            <a:avLst/>
            <a:gdLst/>
            <a:ahLst/>
            <a:cxnLst/>
            <a:rect l="l" t="t" r="r" b="b"/>
            <a:pathLst>
              <a:path w="37370" h="1438749">
                <a:moveTo>
                  <a:pt x="0" y="0"/>
                </a:moveTo>
                <a:lnTo>
                  <a:pt x="37370" y="0"/>
                </a:lnTo>
                <a:lnTo>
                  <a:pt x="37370" y="1438749"/>
                </a:lnTo>
                <a:lnTo>
                  <a:pt x="0" y="1438749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8" name="Shape 16"/>
          <p:cNvSpPr/>
          <p:nvPr/>
        </p:nvSpPr>
        <p:spPr>
          <a:xfrm>
            <a:off x="597922" y="5231816"/>
            <a:ext cx="523182" cy="523182"/>
          </a:xfrm>
          <a:custGeom>
            <a:avLst/>
            <a:gdLst/>
            <a:ahLst/>
            <a:cxnLst/>
            <a:rect l="l" t="t" r="r" b="b"/>
            <a:pathLst>
              <a:path w="523182" h="523182">
                <a:moveTo>
                  <a:pt x="0" y="0"/>
                </a:moveTo>
                <a:lnTo>
                  <a:pt x="523182" y="0"/>
                </a:lnTo>
                <a:lnTo>
                  <a:pt x="523182" y="523182"/>
                </a:lnTo>
                <a:lnTo>
                  <a:pt x="0" y="523182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9" name="Shape 17"/>
          <p:cNvSpPr/>
          <p:nvPr/>
        </p:nvSpPr>
        <p:spPr>
          <a:xfrm>
            <a:off x="747402" y="5381297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112110" y="224221"/>
                </a:moveTo>
                <a:cubicBezTo>
                  <a:pt x="173986" y="224221"/>
                  <a:pt x="224221" y="173986"/>
                  <a:pt x="224221" y="112110"/>
                </a:cubicBezTo>
                <a:cubicBezTo>
                  <a:pt x="224221" y="50235"/>
                  <a:pt x="173986" y="0"/>
                  <a:pt x="112110" y="0"/>
                </a:cubicBezTo>
                <a:cubicBezTo>
                  <a:pt x="50235" y="0"/>
                  <a:pt x="0" y="50235"/>
                  <a:pt x="0" y="112110"/>
                </a:cubicBezTo>
                <a:cubicBezTo>
                  <a:pt x="0" y="173986"/>
                  <a:pt x="50235" y="224221"/>
                  <a:pt x="112110" y="224221"/>
                </a:cubicBezTo>
                <a:close/>
                <a:moveTo>
                  <a:pt x="112110" y="77076"/>
                </a:moveTo>
                <a:cubicBezTo>
                  <a:pt x="104359" y="77076"/>
                  <a:pt x="98097" y="83338"/>
                  <a:pt x="98097" y="91090"/>
                </a:cubicBezTo>
                <a:cubicBezTo>
                  <a:pt x="98097" y="96914"/>
                  <a:pt x="93411" y="101600"/>
                  <a:pt x="87586" y="101600"/>
                </a:cubicBezTo>
                <a:cubicBezTo>
                  <a:pt x="81762" y="101600"/>
                  <a:pt x="77076" y="96914"/>
                  <a:pt x="77076" y="91090"/>
                </a:cubicBezTo>
                <a:cubicBezTo>
                  <a:pt x="77076" y="71733"/>
                  <a:pt x="92754" y="56055"/>
                  <a:pt x="112110" y="56055"/>
                </a:cubicBezTo>
                <a:cubicBezTo>
                  <a:pt x="131467" y="56055"/>
                  <a:pt x="147145" y="71733"/>
                  <a:pt x="147145" y="91090"/>
                </a:cubicBezTo>
                <a:cubicBezTo>
                  <a:pt x="147145" y="111760"/>
                  <a:pt x="131379" y="120519"/>
                  <a:pt x="122621" y="123716"/>
                </a:cubicBezTo>
                <a:lnTo>
                  <a:pt x="122621" y="125380"/>
                </a:lnTo>
                <a:cubicBezTo>
                  <a:pt x="122621" y="131204"/>
                  <a:pt x="117935" y="135890"/>
                  <a:pt x="112110" y="135890"/>
                </a:cubicBezTo>
                <a:cubicBezTo>
                  <a:pt x="106286" y="135890"/>
                  <a:pt x="101600" y="131204"/>
                  <a:pt x="101600" y="125380"/>
                </a:cubicBezTo>
                <a:lnTo>
                  <a:pt x="101600" y="121832"/>
                </a:lnTo>
                <a:cubicBezTo>
                  <a:pt x="101600" y="112855"/>
                  <a:pt x="108081" y="106417"/>
                  <a:pt x="114782" y="104228"/>
                </a:cubicBezTo>
                <a:cubicBezTo>
                  <a:pt x="117584" y="103308"/>
                  <a:pt x="120562" y="101819"/>
                  <a:pt x="122752" y="99717"/>
                </a:cubicBezTo>
                <a:cubicBezTo>
                  <a:pt x="124635" y="97878"/>
                  <a:pt x="126124" y="95338"/>
                  <a:pt x="126124" y="91133"/>
                </a:cubicBezTo>
                <a:cubicBezTo>
                  <a:pt x="126124" y="83382"/>
                  <a:pt x="119862" y="77120"/>
                  <a:pt x="112110" y="77120"/>
                </a:cubicBezTo>
                <a:close/>
                <a:moveTo>
                  <a:pt x="98097" y="161159"/>
                </a:moveTo>
                <a:cubicBezTo>
                  <a:pt x="98097" y="153424"/>
                  <a:pt x="104376" y="147145"/>
                  <a:pt x="112110" y="147145"/>
                </a:cubicBezTo>
                <a:cubicBezTo>
                  <a:pt x="119845" y="147145"/>
                  <a:pt x="126124" y="153424"/>
                  <a:pt x="126124" y="161159"/>
                </a:cubicBezTo>
                <a:cubicBezTo>
                  <a:pt x="126124" y="168893"/>
                  <a:pt x="119845" y="175172"/>
                  <a:pt x="112110" y="175172"/>
                </a:cubicBezTo>
                <a:cubicBezTo>
                  <a:pt x="104376" y="175172"/>
                  <a:pt x="98097" y="168893"/>
                  <a:pt x="98097" y="16115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8"/>
          <p:cNvSpPr/>
          <p:nvPr/>
        </p:nvSpPr>
        <p:spPr>
          <a:xfrm>
            <a:off x="1270584" y="5231816"/>
            <a:ext cx="3494106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 FAQs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0584" y="5568147"/>
            <a:ext cx="3475421" cy="72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Automated answers to common questions regarding bank policies, hours, and services. Reduces repetitive queries to human agents.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60813" y="1386431"/>
            <a:ext cx="6650012" cy="5463511"/>
          </a:xfrm>
          <a:custGeom>
            <a:avLst/>
            <a:gdLst/>
            <a:ahLst/>
            <a:cxnLst/>
            <a:rect l="l" t="t" r="r" b="b"/>
            <a:pathLst>
              <a:path w="6650012" h="5463511">
                <a:moveTo>
                  <a:pt x="0" y="0"/>
                </a:moveTo>
                <a:lnTo>
                  <a:pt x="6650012" y="0"/>
                </a:lnTo>
                <a:lnTo>
                  <a:pt x="6650012" y="5463511"/>
                </a:lnTo>
                <a:lnTo>
                  <a:pt x="0" y="5463511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 w="10160">
            <a:solidFill>
              <a:srgbClr val="6C8EAD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16798" y="1651643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84083" y="28028"/>
                </a:moveTo>
                <a:cubicBezTo>
                  <a:pt x="84083" y="20276"/>
                  <a:pt x="90345" y="14014"/>
                  <a:pt x="98097" y="14014"/>
                </a:cubicBezTo>
                <a:lnTo>
                  <a:pt x="126124" y="14014"/>
                </a:lnTo>
                <a:cubicBezTo>
                  <a:pt x="133876" y="14014"/>
                  <a:pt x="140138" y="20276"/>
                  <a:pt x="140138" y="28028"/>
                </a:cubicBezTo>
                <a:lnTo>
                  <a:pt x="140138" y="56055"/>
                </a:lnTo>
                <a:cubicBezTo>
                  <a:pt x="140138" y="63807"/>
                  <a:pt x="133876" y="70069"/>
                  <a:pt x="126124" y="70069"/>
                </a:cubicBezTo>
                <a:lnTo>
                  <a:pt x="122621" y="70069"/>
                </a:lnTo>
                <a:lnTo>
                  <a:pt x="122621" y="98097"/>
                </a:lnTo>
                <a:lnTo>
                  <a:pt x="175172" y="98097"/>
                </a:lnTo>
                <a:cubicBezTo>
                  <a:pt x="192602" y="98097"/>
                  <a:pt x="206703" y="112198"/>
                  <a:pt x="206703" y="129628"/>
                </a:cubicBezTo>
                <a:lnTo>
                  <a:pt x="206703" y="154152"/>
                </a:lnTo>
                <a:lnTo>
                  <a:pt x="210207" y="154152"/>
                </a:lnTo>
                <a:cubicBezTo>
                  <a:pt x="217958" y="154152"/>
                  <a:pt x="224221" y="160414"/>
                  <a:pt x="224221" y="168166"/>
                </a:cubicBezTo>
                <a:lnTo>
                  <a:pt x="224221" y="196193"/>
                </a:lnTo>
                <a:cubicBezTo>
                  <a:pt x="224221" y="203944"/>
                  <a:pt x="217958" y="210207"/>
                  <a:pt x="210207" y="210207"/>
                </a:cubicBezTo>
                <a:lnTo>
                  <a:pt x="182179" y="210207"/>
                </a:lnTo>
                <a:cubicBezTo>
                  <a:pt x="174428" y="210207"/>
                  <a:pt x="168166" y="203944"/>
                  <a:pt x="168166" y="196193"/>
                </a:cubicBezTo>
                <a:lnTo>
                  <a:pt x="168166" y="168166"/>
                </a:lnTo>
                <a:cubicBezTo>
                  <a:pt x="168166" y="160414"/>
                  <a:pt x="174428" y="154152"/>
                  <a:pt x="182179" y="154152"/>
                </a:cubicBezTo>
                <a:lnTo>
                  <a:pt x="185683" y="154152"/>
                </a:lnTo>
                <a:lnTo>
                  <a:pt x="185683" y="129628"/>
                </a:lnTo>
                <a:cubicBezTo>
                  <a:pt x="185683" y="123803"/>
                  <a:pt x="180997" y="119117"/>
                  <a:pt x="175172" y="119117"/>
                </a:cubicBezTo>
                <a:lnTo>
                  <a:pt x="122621" y="119117"/>
                </a:lnTo>
                <a:lnTo>
                  <a:pt x="122621" y="154152"/>
                </a:lnTo>
                <a:lnTo>
                  <a:pt x="126124" y="154152"/>
                </a:lnTo>
                <a:cubicBezTo>
                  <a:pt x="133876" y="154152"/>
                  <a:pt x="140138" y="160414"/>
                  <a:pt x="140138" y="168166"/>
                </a:cubicBezTo>
                <a:lnTo>
                  <a:pt x="140138" y="196193"/>
                </a:lnTo>
                <a:cubicBezTo>
                  <a:pt x="140138" y="203944"/>
                  <a:pt x="133876" y="210207"/>
                  <a:pt x="126124" y="210207"/>
                </a:cubicBezTo>
                <a:lnTo>
                  <a:pt x="98097" y="210207"/>
                </a:lnTo>
                <a:cubicBezTo>
                  <a:pt x="90345" y="210207"/>
                  <a:pt x="84083" y="203944"/>
                  <a:pt x="84083" y="196193"/>
                </a:cubicBezTo>
                <a:lnTo>
                  <a:pt x="84083" y="168166"/>
                </a:lnTo>
                <a:cubicBezTo>
                  <a:pt x="84083" y="160414"/>
                  <a:pt x="90345" y="154152"/>
                  <a:pt x="98097" y="154152"/>
                </a:cubicBezTo>
                <a:lnTo>
                  <a:pt x="101600" y="154152"/>
                </a:lnTo>
                <a:lnTo>
                  <a:pt x="101600" y="119117"/>
                </a:lnTo>
                <a:lnTo>
                  <a:pt x="49048" y="119117"/>
                </a:lnTo>
                <a:cubicBezTo>
                  <a:pt x="43224" y="119117"/>
                  <a:pt x="38538" y="123803"/>
                  <a:pt x="38538" y="129628"/>
                </a:cubicBezTo>
                <a:lnTo>
                  <a:pt x="38538" y="154152"/>
                </a:lnTo>
                <a:lnTo>
                  <a:pt x="42041" y="154152"/>
                </a:lnTo>
                <a:cubicBezTo>
                  <a:pt x="49793" y="154152"/>
                  <a:pt x="56055" y="160414"/>
                  <a:pt x="56055" y="168166"/>
                </a:cubicBezTo>
                <a:lnTo>
                  <a:pt x="56055" y="196193"/>
                </a:lnTo>
                <a:cubicBezTo>
                  <a:pt x="56055" y="203944"/>
                  <a:pt x="49793" y="210207"/>
                  <a:pt x="42041" y="210207"/>
                </a:cubicBezTo>
                <a:lnTo>
                  <a:pt x="14014" y="210207"/>
                </a:lnTo>
                <a:cubicBezTo>
                  <a:pt x="6262" y="210207"/>
                  <a:pt x="0" y="203944"/>
                  <a:pt x="0" y="196193"/>
                </a:cubicBezTo>
                <a:lnTo>
                  <a:pt x="0" y="168166"/>
                </a:lnTo>
                <a:cubicBezTo>
                  <a:pt x="0" y="160414"/>
                  <a:pt x="6262" y="154152"/>
                  <a:pt x="14014" y="154152"/>
                </a:cubicBezTo>
                <a:lnTo>
                  <a:pt x="17517" y="154152"/>
                </a:lnTo>
                <a:lnTo>
                  <a:pt x="17517" y="129628"/>
                </a:lnTo>
                <a:cubicBezTo>
                  <a:pt x="17517" y="112198"/>
                  <a:pt x="31619" y="98097"/>
                  <a:pt x="49048" y="98097"/>
                </a:cubicBezTo>
                <a:lnTo>
                  <a:pt x="101600" y="98097"/>
                </a:lnTo>
                <a:lnTo>
                  <a:pt x="101600" y="70069"/>
                </a:lnTo>
                <a:lnTo>
                  <a:pt x="98097" y="70069"/>
                </a:lnTo>
                <a:cubicBezTo>
                  <a:pt x="90345" y="70069"/>
                  <a:pt x="84083" y="63807"/>
                  <a:pt x="84083" y="56055"/>
                </a:cubicBezTo>
                <a:lnTo>
                  <a:pt x="84083" y="2802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046" y="1614387"/>
            <a:ext cx="6025931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Milestone 1 Pipeline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88770" y="2118770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0" y="0"/>
                </a:moveTo>
                <a:lnTo>
                  <a:pt x="448441" y="0"/>
                </a:lnTo>
                <a:lnTo>
                  <a:pt x="448441" y="448441"/>
                </a:lnTo>
                <a:lnTo>
                  <a:pt x="0" y="448441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6" name="Text 24"/>
          <p:cNvSpPr/>
          <p:nvPr/>
        </p:nvSpPr>
        <p:spPr>
          <a:xfrm>
            <a:off x="5564527" y="2212195"/>
            <a:ext cx="177508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86692" y="2100085"/>
            <a:ext cx="568025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Query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86692" y="2361675"/>
            <a:ext cx="5670915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Customer types natural language query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88770" y="2838144"/>
            <a:ext cx="2961582" cy="18685"/>
          </a:xfrm>
          <a:custGeom>
            <a:avLst/>
            <a:gdLst/>
            <a:ahLst/>
            <a:cxnLst/>
            <a:rect l="l" t="t" r="r" b="b"/>
            <a:pathLst>
              <a:path w="2961582" h="18685">
                <a:moveTo>
                  <a:pt x="0" y="0"/>
                </a:moveTo>
                <a:lnTo>
                  <a:pt x="2961582" y="0"/>
                </a:lnTo>
                <a:lnTo>
                  <a:pt x="2961582" y="18685"/>
                </a:lnTo>
                <a:lnTo>
                  <a:pt x="0" y="18685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428946" y="2772747"/>
            <a:ext cx="112110" cy="149480"/>
          </a:xfrm>
          <a:custGeom>
            <a:avLst/>
            <a:gdLst/>
            <a:ahLst/>
            <a:cxnLst/>
            <a:rect l="l" t="t" r="r" b="b"/>
            <a:pathLst>
              <a:path w="112110" h="149480">
                <a:moveTo>
                  <a:pt x="49457" y="146736"/>
                </a:moveTo>
                <a:cubicBezTo>
                  <a:pt x="53106" y="150386"/>
                  <a:pt x="59033" y="150386"/>
                  <a:pt x="62683" y="146736"/>
                </a:cubicBezTo>
                <a:lnTo>
                  <a:pt x="109395" y="100023"/>
                </a:lnTo>
                <a:cubicBezTo>
                  <a:pt x="113045" y="96374"/>
                  <a:pt x="113045" y="90447"/>
                  <a:pt x="109395" y="86798"/>
                </a:cubicBezTo>
                <a:cubicBezTo>
                  <a:pt x="105746" y="83149"/>
                  <a:pt x="99819" y="83149"/>
                  <a:pt x="96170" y="86798"/>
                </a:cubicBezTo>
                <a:lnTo>
                  <a:pt x="65398" y="117570"/>
                </a:lnTo>
                <a:lnTo>
                  <a:pt x="65398" y="9343"/>
                </a:lnTo>
                <a:cubicBezTo>
                  <a:pt x="65398" y="4175"/>
                  <a:pt x="61223" y="0"/>
                  <a:pt x="56055" y="0"/>
                </a:cubicBezTo>
                <a:cubicBezTo>
                  <a:pt x="50888" y="0"/>
                  <a:pt x="46713" y="4175"/>
                  <a:pt x="46713" y="9343"/>
                </a:cubicBezTo>
                <a:lnTo>
                  <a:pt x="46713" y="117570"/>
                </a:lnTo>
                <a:lnTo>
                  <a:pt x="15941" y="86798"/>
                </a:lnTo>
                <a:cubicBezTo>
                  <a:pt x="12291" y="83149"/>
                  <a:pt x="6365" y="83149"/>
                  <a:pt x="2715" y="86798"/>
                </a:cubicBezTo>
                <a:cubicBezTo>
                  <a:pt x="-934" y="90447"/>
                  <a:pt x="-934" y="96374"/>
                  <a:pt x="2715" y="100023"/>
                </a:cubicBezTo>
                <a:lnTo>
                  <a:pt x="49428" y="146736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1" name="Shape 29"/>
          <p:cNvSpPr/>
          <p:nvPr/>
        </p:nvSpPr>
        <p:spPr>
          <a:xfrm>
            <a:off x="8620001" y="2838144"/>
            <a:ext cx="2961582" cy="18685"/>
          </a:xfrm>
          <a:custGeom>
            <a:avLst/>
            <a:gdLst/>
            <a:ahLst/>
            <a:cxnLst/>
            <a:rect l="l" t="t" r="r" b="b"/>
            <a:pathLst>
              <a:path w="2961582" h="18685">
                <a:moveTo>
                  <a:pt x="0" y="0"/>
                </a:moveTo>
                <a:lnTo>
                  <a:pt x="2961582" y="0"/>
                </a:lnTo>
                <a:lnTo>
                  <a:pt x="2961582" y="18685"/>
                </a:lnTo>
                <a:lnTo>
                  <a:pt x="0" y="18685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388770" y="3127763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0" y="0"/>
                </a:moveTo>
                <a:lnTo>
                  <a:pt x="448441" y="0"/>
                </a:lnTo>
                <a:lnTo>
                  <a:pt x="448441" y="448441"/>
                </a:lnTo>
                <a:lnTo>
                  <a:pt x="0" y="44844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3" name="Text 31"/>
          <p:cNvSpPr/>
          <p:nvPr/>
        </p:nvSpPr>
        <p:spPr>
          <a:xfrm>
            <a:off x="5564527" y="3221188"/>
            <a:ext cx="177508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86692" y="3109078"/>
            <a:ext cx="568025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 Preprocessing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86692" y="3370668"/>
            <a:ext cx="5670915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Tokenization, normalization, cleaning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88770" y="3847137"/>
            <a:ext cx="2961582" cy="18685"/>
          </a:xfrm>
          <a:custGeom>
            <a:avLst/>
            <a:gdLst/>
            <a:ahLst/>
            <a:cxnLst/>
            <a:rect l="l" t="t" r="r" b="b"/>
            <a:pathLst>
              <a:path w="2961582" h="18685">
                <a:moveTo>
                  <a:pt x="0" y="0"/>
                </a:moveTo>
                <a:lnTo>
                  <a:pt x="2961582" y="0"/>
                </a:lnTo>
                <a:lnTo>
                  <a:pt x="2961582" y="18685"/>
                </a:lnTo>
                <a:lnTo>
                  <a:pt x="0" y="18685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428946" y="3781740"/>
            <a:ext cx="112110" cy="149480"/>
          </a:xfrm>
          <a:custGeom>
            <a:avLst/>
            <a:gdLst/>
            <a:ahLst/>
            <a:cxnLst/>
            <a:rect l="l" t="t" r="r" b="b"/>
            <a:pathLst>
              <a:path w="112110" h="149480">
                <a:moveTo>
                  <a:pt x="49457" y="146736"/>
                </a:moveTo>
                <a:cubicBezTo>
                  <a:pt x="53106" y="150386"/>
                  <a:pt x="59033" y="150386"/>
                  <a:pt x="62683" y="146736"/>
                </a:cubicBezTo>
                <a:lnTo>
                  <a:pt x="109395" y="100023"/>
                </a:lnTo>
                <a:cubicBezTo>
                  <a:pt x="113045" y="96374"/>
                  <a:pt x="113045" y="90447"/>
                  <a:pt x="109395" y="86798"/>
                </a:cubicBezTo>
                <a:cubicBezTo>
                  <a:pt x="105746" y="83149"/>
                  <a:pt x="99819" y="83149"/>
                  <a:pt x="96170" y="86798"/>
                </a:cubicBezTo>
                <a:lnTo>
                  <a:pt x="65398" y="117570"/>
                </a:lnTo>
                <a:lnTo>
                  <a:pt x="65398" y="9343"/>
                </a:lnTo>
                <a:cubicBezTo>
                  <a:pt x="65398" y="4175"/>
                  <a:pt x="61223" y="0"/>
                  <a:pt x="56055" y="0"/>
                </a:cubicBezTo>
                <a:cubicBezTo>
                  <a:pt x="50888" y="0"/>
                  <a:pt x="46713" y="4175"/>
                  <a:pt x="46713" y="9343"/>
                </a:cubicBezTo>
                <a:lnTo>
                  <a:pt x="46713" y="117570"/>
                </a:lnTo>
                <a:lnTo>
                  <a:pt x="15941" y="86798"/>
                </a:lnTo>
                <a:cubicBezTo>
                  <a:pt x="12291" y="83149"/>
                  <a:pt x="6365" y="83149"/>
                  <a:pt x="2715" y="86798"/>
                </a:cubicBezTo>
                <a:cubicBezTo>
                  <a:pt x="-934" y="90447"/>
                  <a:pt x="-934" y="96374"/>
                  <a:pt x="2715" y="100023"/>
                </a:cubicBezTo>
                <a:lnTo>
                  <a:pt x="49428" y="14673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8" name="Shape 36"/>
          <p:cNvSpPr/>
          <p:nvPr/>
        </p:nvSpPr>
        <p:spPr>
          <a:xfrm>
            <a:off x="8620001" y="3847137"/>
            <a:ext cx="2961582" cy="18685"/>
          </a:xfrm>
          <a:custGeom>
            <a:avLst/>
            <a:gdLst/>
            <a:ahLst/>
            <a:cxnLst/>
            <a:rect l="l" t="t" r="r" b="b"/>
            <a:pathLst>
              <a:path w="2961582" h="18685">
                <a:moveTo>
                  <a:pt x="0" y="0"/>
                </a:moveTo>
                <a:lnTo>
                  <a:pt x="2961582" y="0"/>
                </a:lnTo>
                <a:lnTo>
                  <a:pt x="2961582" y="18685"/>
                </a:lnTo>
                <a:lnTo>
                  <a:pt x="0" y="18685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88770" y="4136756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0" y="0"/>
                </a:moveTo>
                <a:lnTo>
                  <a:pt x="448441" y="0"/>
                </a:lnTo>
                <a:lnTo>
                  <a:pt x="448441" y="448441"/>
                </a:lnTo>
                <a:lnTo>
                  <a:pt x="0" y="448441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0" name="Text 38"/>
          <p:cNvSpPr/>
          <p:nvPr/>
        </p:nvSpPr>
        <p:spPr>
          <a:xfrm>
            <a:off x="5564527" y="4230181"/>
            <a:ext cx="177508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986692" y="4118071"/>
            <a:ext cx="568025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Intent Detection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986692" y="4379662"/>
            <a:ext cx="5670915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model identifies user intent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388770" y="4856131"/>
            <a:ext cx="2961582" cy="18685"/>
          </a:xfrm>
          <a:custGeom>
            <a:avLst/>
            <a:gdLst/>
            <a:ahLst/>
            <a:cxnLst/>
            <a:rect l="l" t="t" r="r" b="b"/>
            <a:pathLst>
              <a:path w="2961582" h="18685">
                <a:moveTo>
                  <a:pt x="0" y="0"/>
                </a:moveTo>
                <a:lnTo>
                  <a:pt x="2961582" y="0"/>
                </a:lnTo>
                <a:lnTo>
                  <a:pt x="2961582" y="18685"/>
                </a:lnTo>
                <a:lnTo>
                  <a:pt x="0" y="18685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428946" y="4790733"/>
            <a:ext cx="112110" cy="149480"/>
          </a:xfrm>
          <a:custGeom>
            <a:avLst/>
            <a:gdLst/>
            <a:ahLst/>
            <a:cxnLst/>
            <a:rect l="l" t="t" r="r" b="b"/>
            <a:pathLst>
              <a:path w="112110" h="149480">
                <a:moveTo>
                  <a:pt x="49457" y="146736"/>
                </a:moveTo>
                <a:cubicBezTo>
                  <a:pt x="53106" y="150386"/>
                  <a:pt x="59033" y="150386"/>
                  <a:pt x="62683" y="146736"/>
                </a:cubicBezTo>
                <a:lnTo>
                  <a:pt x="109395" y="100023"/>
                </a:lnTo>
                <a:cubicBezTo>
                  <a:pt x="113045" y="96374"/>
                  <a:pt x="113045" y="90447"/>
                  <a:pt x="109395" y="86798"/>
                </a:cubicBezTo>
                <a:cubicBezTo>
                  <a:pt x="105746" y="83149"/>
                  <a:pt x="99819" y="83149"/>
                  <a:pt x="96170" y="86798"/>
                </a:cubicBezTo>
                <a:lnTo>
                  <a:pt x="65398" y="117570"/>
                </a:lnTo>
                <a:lnTo>
                  <a:pt x="65398" y="9343"/>
                </a:lnTo>
                <a:cubicBezTo>
                  <a:pt x="65398" y="4175"/>
                  <a:pt x="61223" y="0"/>
                  <a:pt x="56055" y="0"/>
                </a:cubicBezTo>
                <a:cubicBezTo>
                  <a:pt x="50888" y="0"/>
                  <a:pt x="46713" y="4175"/>
                  <a:pt x="46713" y="9343"/>
                </a:cubicBezTo>
                <a:lnTo>
                  <a:pt x="46713" y="117570"/>
                </a:lnTo>
                <a:lnTo>
                  <a:pt x="15941" y="86798"/>
                </a:lnTo>
                <a:cubicBezTo>
                  <a:pt x="12291" y="83149"/>
                  <a:pt x="6365" y="83149"/>
                  <a:pt x="2715" y="86798"/>
                </a:cubicBezTo>
                <a:cubicBezTo>
                  <a:pt x="-934" y="90447"/>
                  <a:pt x="-934" y="96374"/>
                  <a:pt x="2715" y="100023"/>
                </a:cubicBezTo>
                <a:lnTo>
                  <a:pt x="49428" y="146736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5" name="Shape 43"/>
          <p:cNvSpPr/>
          <p:nvPr/>
        </p:nvSpPr>
        <p:spPr>
          <a:xfrm>
            <a:off x="8620001" y="4856131"/>
            <a:ext cx="2961582" cy="18685"/>
          </a:xfrm>
          <a:custGeom>
            <a:avLst/>
            <a:gdLst/>
            <a:ahLst/>
            <a:cxnLst/>
            <a:rect l="l" t="t" r="r" b="b"/>
            <a:pathLst>
              <a:path w="2961582" h="18685">
                <a:moveTo>
                  <a:pt x="0" y="0"/>
                </a:moveTo>
                <a:lnTo>
                  <a:pt x="2961582" y="0"/>
                </a:lnTo>
                <a:lnTo>
                  <a:pt x="2961582" y="18685"/>
                </a:lnTo>
                <a:lnTo>
                  <a:pt x="0" y="18685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3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88770" y="5145749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0" y="0"/>
                </a:moveTo>
                <a:lnTo>
                  <a:pt x="448441" y="0"/>
                </a:lnTo>
                <a:lnTo>
                  <a:pt x="448441" y="448441"/>
                </a:lnTo>
                <a:lnTo>
                  <a:pt x="0" y="44844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7" name="Text 45"/>
          <p:cNvSpPr/>
          <p:nvPr/>
        </p:nvSpPr>
        <p:spPr>
          <a:xfrm>
            <a:off x="5564527" y="5239174"/>
            <a:ext cx="177508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986692" y="5127064"/>
            <a:ext cx="568025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Backend Logic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986692" y="5388655"/>
            <a:ext cx="5670915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 request and fetch data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388770" y="5865124"/>
            <a:ext cx="2961582" cy="18685"/>
          </a:xfrm>
          <a:custGeom>
            <a:avLst/>
            <a:gdLst/>
            <a:ahLst/>
            <a:cxnLst/>
            <a:rect l="l" t="t" r="r" b="b"/>
            <a:pathLst>
              <a:path w="2961582" h="18685">
                <a:moveTo>
                  <a:pt x="0" y="0"/>
                </a:moveTo>
                <a:lnTo>
                  <a:pt x="2961582" y="0"/>
                </a:lnTo>
                <a:lnTo>
                  <a:pt x="2961582" y="18685"/>
                </a:lnTo>
                <a:lnTo>
                  <a:pt x="0" y="18685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28946" y="5799726"/>
            <a:ext cx="112110" cy="149480"/>
          </a:xfrm>
          <a:custGeom>
            <a:avLst/>
            <a:gdLst/>
            <a:ahLst/>
            <a:cxnLst/>
            <a:rect l="l" t="t" r="r" b="b"/>
            <a:pathLst>
              <a:path w="112110" h="149480">
                <a:moveTo>
                  <a:pt x="49457" y="146736"/>
                </a:moveTo>
                <a:cubicBezTo>
                  <a:pt x="53106" y="150386"/>
                  <a:pt x="59033" y="150386"/>
                  <a:pt x="62683" y="146736"/>
                </a:cubicBezTo>
                <a:lnTo>
                  <a:pt x="109395" y="100023"/>
                </a:lnTo>
                <a:cubicBezTo>
                  <a:pt x="113045" y="96374"/>
                  <a:pt x="113045" y="90447"/>
                  <a:pt x="109395" y="86798"/>
                </a:cubicBezTo>
                <a:cubicBezTo>
                  <a:pt x="105746" y="83149"/>
                  <a:pt x="99819" y="83149"/>
                  <a:pt x="96170" y="86798"/>
                </a:cubicBezTo>
                <a:lnTo>
                  <a:pt x="65398" y="117570"/>
                </a:lnTo>
                <a:lnTo>
                  <a:pt x="65398" y="9343"/>
                </a:lnTo>
                <a:cubicBezTo>
                  <a:pt x="65398" y="4175"/>
                  <a:pt x="61223" y="0"/>
                  <a:pt x="56055" y="0"/>
                </a:cubicBezTo>
                <a:cubicBezTo>
                  <a:pt x="50888" y="0"/>
                  <a:pt x="46713" y="4175"/>
                  <a:pt x="46713" y="9343"/>
                </a:cubicBezTo>
                <a:lnTo>
                  <a:pt x="46713" y="117570"/>
                </a:lnTo>
                <a:lnTo>
                  <a:pt x="15941" y="86798"/>
                </a:lnTo>
                <a:cubicBezTo>
                  <a:pt x="12291" y="83149"/>
                  <a:pt x="6365" y="83149"/>
                  <a:pt x="2715" y="86798"/>
                </a:cubicBezTo>
                <a:cubicBezTo>
                  <a:pt x="-934" y="90447"/>
                  <a:pt x="-934" y="96374"/>
                  <a:pt x="2715" y="100023"/>
                </a:cubicBezTo>
                <a:lnTo>
                  <a:pt x="49428" y="14673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2" name="Shape 50"/>
          <p:cNvSpPr/>
          <p:nvPr/>
        </p:nvSpPr>
        <p:spPr>
          <a:xfrm>
            <a:off x="8620001" y="5865124"/>
            <a:ext cx="2961582" cy="18685"/>
          </a:xfrm>
          <a:custGeom>
            <a:avLst/>
            <a:gdLst/>
            <a:ahLst/>
            <a:cxnLst/>
            <a:rect l="l" t="t" r="r" b="b"/>
            <a:pathLst>
              <a:path w="2961582" h="18685">
                <a:moveTo>
                  <a:pt x="0" y="0"/>
                </a:moveTo>
                <a:lnTo>
                  <a:pt x="2961582" y="0"/>
                </a:lnTo>
                <a:lnTo>
                  <a:pt x="2961582" y="18685"/>
                </a:lnTo>
                <a:lnTo>
                  <a:pt x="0" y="18685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388770" y="6154742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0" y="0"/>
                </a:moveTo>
                <a:lnTo>
                  <a:pt x="448441" y="0"/>
                </a:lnTo>
                <a:lnTo>
                  <a:pt x="448441" y="448441"/>
                </a:lnTo>
                <a:lnTo>
                  <a:pt x="0" y="448441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4" name="Text 52"/>
          <p:cNvSpPr/>
          <p:nvPr/>
        </p:nvSpPr>
        <p:spPr>
          <a:xfrm>
            <a:off x="5564527" y="6248167"/>
            <a:ext cx="177508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986692" y="6136057"/>
            <a:ext cx="5680257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986692" y="6397648"/>
            <a:ext cx="5670915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Generate and deliver response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3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MILESTONE 1: TECHNICAL DETAILS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Intent Recognition Engine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811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natural language understanding 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62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828800"/>
            <a:ext cx="5581650" cy="2857500"/>
          </a:xfrm>
          <a:custGeom>
            <a:avLst/>
            <a:gdLst/>
            <a:ahLst/>
            <a:cxnLst/>
            <a:rect l="l" t="t" r="r" b="b"/>
            <a:pathLst>
              <a:path w="5581650" h="2857500">
                <a:moveTo>
                  <a:pt x="0" y="0"/>
                </a:moveTo>
                <a:lnTo>
                  <a:pt x="5581650" y="0"/>
                </a:lnTo>
                <a:lnTo>
                  <a:pt x="558165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828800"/>
            <a:ext cx="38100" cy="2857500"/>
          </a:xfrm>
          <a:custGeom>
            <a:avLst/>
            <a:gdLst/>
            <a:ahLst/>
            <a:cxnLst/>
            <a:rect l="l" t="t" r="r" b="b"/>
            <a:pathLst>
              <a:path w="38100" h="2857500">
                <a:moveTo>
                  <a:pt x="0" y="0"/>
                </a:moveTo>
                <a:lnTo>
                  <a:pt x="38100" y="0"/>
                </a:lnTo>
                <a:lnTo>
                  <a:pt x="381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2019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044" y="21526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9275" y="14548"/>
                </a:moveTo>
                <a:lnTo>
                  <a:pt x="204415" y="70470"/>
                </a:lnTo>
                <a:cubicBezTo>
                  <a:pt x="214722" y="80925"/>
                  <a:pt x="214722" y="97668"/>
                  <a:pt x="204415" y="108124"/>
                </a:cubicBezTo>
                <a:lnTo>
                  <a:pt x="146224" y="167022"/>
                </a:lnTo>
                <a:cubicBezTo>
                  <a:pt x="142763" y="170520"/>
                  <a:pt x="137108" y="170557"/>
                  <a:pt x="133610" y="167097"/>
                </a:cubicBezTo>
                <a:cubicBezTo>
                  <a:pt x="130113" y="163637"/>
                  <a:pt x="130076" y="157981"/>
                  <a:pt x="133536" y="154484"/>
                </a:cubicBezTo>
                <a:lnTo>
                  <a:pt x="191728" y="95548"/>
                </a:lnTo>
                <a:cubicBezTo>
                  <a:pt x="195151" y="92087"/>
                  <a:pt x="195151" y="86469"/>
                  <a:pt x="191728" y="83009"/>
                </a:cubicBezTo>
                <a:lnTo>
                  <a:pt x="136550" y="27124"/>
                </a:lnTo>
                <a:cubicBezTo>
                  <a:pt x="133090" y="23626"/>
                  <a:pt x="133127" y="17971"/>
                  <a:pt x="136624" y="14511"/>
                </a:cubicBezTo>
                <a:cubicBezTo>
                  <a:pt x="140122" y="11050"/>
                  <a:pt x="145777" y="11088"/>
                  <a:pt x="149237" y="14585"/>
                </a:cubicBezTo>
                <a:close/>
                <a:moveTo>
                  <a:pt x="11943" y="85390"/>
                </a:moveTo>
                <a:lnTo>
                  <a:pt x="11943" y="35719"/>
                </a:lnTo>
                <a:cubicBezTo>
                  <a:pt x="11943" y="22585"/>
                  <a:pt x="22622" y="11906"/>
                  <a:pt x="35756" y="11906"/>
                </a:cubicBezTo>
                <a:lnTo>
                  <a:pt x="85427" y="11906"/>
                </a:lnTo>
                <a:cubicBezTo>
                  <a:pt x="91753" y="11906"/>
                  <a:pt x="97817" y="14399"/>
                  <a:pt x="102282" y="18864"/>
                </a:cubicBezTo>
                <a:lnTo>
                  <a:pt x="155860" y="72442"/>
                </a:lnTo>
                <a:cubicBezTo>
                  <a:pt x="165162" y="81744"/>
                  <a:pt x="165162" y="96813"/>
                  <a:pt x="155860" y="106114"/>
                </a:cubicBezTo>
                <a:lnTo>
                  <a:pt x="106189" y="155786"/>
                </a:lnTo>
                <a:cubicBezTo>
                  <a:pt x="96887" y="165088"/>
                  <a:pt x="81818" y="165088"/>
                  <a:pt x="72517" y="155786"/>
                </a:cubicBezTo>
                <a:lnTo>
                  <a:pt x="18938" y="102208"/>
                </a:lnTo>
                <a:cubicBezTo>
                  <a:pt x="14474" y="97743"/>
                  <a:pt x="11981" y="91678"/>
                  <a:pt x="11981" y="85353"/>
                </a:cubicBezTo>
                <a:close/>
                <a:moveTo>
                  <a:pt x="65522" y="53578"/>
                </a:moveTo>
                <a:cubicBezTo>
                  <a:pt x="65522" y="47007"/>
                  <a:pt x="60187" y="41672"/>
                  <a:pt x="53615" y="41672"/>
                </a:cubicBezTo>
                <a:cubicBezTo>
                  <a:pt x="47044" y="41672"/>
                  <a:pt x="41709" y="47007"/>
                  <a:pt x="41709" y="53578"/>
                </a:cubicBezTo>
                <a:cubicBezTo>
                  <a:pt x="41709" y="60149"/>
                  <a:pt x="47044" y="65484"/>
                  <a:pt x="53615" y="65484"/>
                </a:cubicBezTo>
                <a:cubicBezTo>
                  <a:pt x="60187" y="65484"/>
                  <a:pt x="65522" y="60149"/>
                  <a:pt x="65522" y="53578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2114550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Intent Definition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5908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Defined key intents for banking operations with sample utterances: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2933700"/>
            <a:ext cx="5181600" cy="495300"/>
          </a:xfrm>
          <a:custGeom>
            <a:avLst/>
            <a:gdLst/>
            <a:ahLst/>
            <a:cxnLst/>
            <a:rect l="l" t="t" r="r" b="b"/>
            <a:pathLst>
              <a:path w="5181600" h="495300">
                <a:moveTo>
                  <a:pt x="0" y="0"/>
                </a:moveTo>
                <a:lnTo>
                  <a:pt x="5181600" y="0"/>
                </a:lnTo>
                <a:lnTo>
                  <a:pt x="51816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09900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check_balance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200400"/>
            <a:ext cx="5086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"What's my balance?", "Show account balance"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3466979"/>
            <a:ext cx="5181600" cy="495300"/>
          </a:xfrm>
          <a:custGeom>
            <a:avLst/>
            <a:gdLst/>
            <a:ahLst/>
            <a:cxnLst/>
            <a:rect l="l" t="t" r="r" b="b"/>
            <a:pathLst>
              <a:path w="5181600" h="495300">
                <a:moveTo>
                  <a:pt x="0" y="0"/>
                </a:moveTo>
                <a:lnTo>
                  <a:pt x="5181600" y="0"/>
                </a:lnTo>
                <a:lnTo>
                  <a:pt x="51816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43179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mini_statement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733679"/>
            <a:ext cx="5086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"Recent transactions", "Show my last 5 transactions"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4000258"/>
            <a:ext cx="5181600" cy="495300"/>
          </a:xfrm>
          <a:custGeom>
            <a:avLst/>
            <a:gdLst/>
            <a:ahLst/>
            <a:cxnLst/>
            <a:rect l="l" t="t" r="r" b="b"/>
            <a:pathLst>
              <a:path w="5181600" h="495300">
                <a:moveTo>
                  <a:pt x="0" y="0"/>
                </a:moveTo>
                <a:lnTo>
                  <a:pt x="5181600" y="0"/>
                </a:lnTo>
                <a:lnTo>
                  <a:pt x="518160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076458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banking_faq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266958"/>
            <a:ext cx="5086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"What are your hours?", "Bank policies"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4876442"/>
            <a:ext cx="5581650" cy="1447800"/>
          </a:xfrm>
          <a:custGeom>
            <a:avLst/>
            <a:gdLst/>
            <a:ahLst/>
            <a:cxnLst/>
            <a:rect l="l" t="t" r="r" b="b"/>
            <a:pathLst>
              <a:path w="5581650" h="1447800">
                <a:moveTo>
                  <a:pt x="0" y="0"/>
                </a:moveTo>
                <a:lnTo>
                  <a:pt x="5581650" y="0"/>
                </a:lnTo>
                <a:lnTo>
                  <a:pt x="558165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22" name="Shape 20"/>
          <p:cNvSpPr/>
          <p:nvPr/>
        </p:nvSpPr>
        <p:spPr>
          <a:xfrm>
            <a:off x="400050" y="4876442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600" y="50669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19138" y="520029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Text 23"/>
          <p:cNvSpPr/>
          <p:nvPr/>
        </p:nvSpPr>
        <p:spPr>
          <a:xfrm>
            <a:off x="1181100" y="5162192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NLU Model Training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9600" y="5638442"/>
            <a:ext cx="5257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Built and trained Natural Language Understanding model using spaCy/Rasa NLU with intent classification and entity extraction capabilities.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29350" y="1828800"/>
            <a:ext cx="5581650" cy="2286000"/>
          </a:xfrm>
          <a:custGeom>
            <a:avLst/>
            <a:gdLst/>
            <a:ahLst/>
            <a:cxnLst/>
            <a:rect l="l" t="t" r="r" b="b"/>
            <a:pathLst>
              <a:path w="5581650" h="2286000">
                <a:moveTo>
                  <a:pt x="0" y="0"/>
                </a:moveTo>
                <a:lnTo>
                  <a:pt x="5581650" y="0"/>
                </a:lnTo>
                <a:lnTo>
                  <a:pt x="558165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28" name="Shape 26"/>
          <p:cNvSpPr/>
          <p:nvPr/>
        </p:nvSpPr>
        <p:spPr>
          <a:xfrm>
            <a:off x="6229350" y="1828800"/>
            <a:ext cx="38100" cy="2286000"/>
          </a:xfrm>
          <a:custGeom>
            <a:avLst/>
            <a:gdLst/>
            <a:ahLst/>
            <a:cxnLst/>
            <a:rect l="l" t="t" r="r" b="b"/>
            <a:pathLst>
              <a:path w="38100" h="2286000">
                <a:moveTo>
                  <a:pt x="0" y="0"/>
                </a:moveTo>
                <a:lnTo>
                  <a:pt x="38100" y="0"/>
                </a:lnTo>
                <a:lnTo>
                  <a:pt x="381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9" name="Shape 27"/>
          <p:cNvSpPr/>
          <p:nvPr/>
        </p:nvSpPr>
        <p:spPr>
          <a:xfrm>
            <a:off x="6438900" y="2019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60344" y="21526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10815" y="20315"/>
                </a:moveTo>
                <a:cubicBezTo>
                  <a:pt x="215466" y="15664"/>
                  <a:pt x="215466" y="8111"/>
                  <a:pt x="210815" y="3460"/>
                </a:cubicBezTo>
                <a:cubicBezTo>
                  <a:pt x="206164" y="-1191"/>
                  <a:pt x="198611" y="-1191"/>
                  <a:pt x="193960" y="3460"/>
                </a:cubicBezTo>
                <a:lnTo>
                  <a:pt x="122523" y="74898"/>
                </a:lnTo>
                <a:lnTo>
                  <a:pt x="109612" y="61987"/>
                </a:lnTo>
                <a:cubicBezTo>
                  <a:pt x="108049" y="60424"/>
                  <a:pt x="105891" y="59531"/>
                  <a:pt x="103659" y="59531"/>
                </a:cubicBezTo>
                <a:cubicBezTo>
                  <a:pt x="99008" y="59531"/>
                  <a:pt x="95250" y="63289"/>
                  <a:pt x="95250" y="67940"/>
                </a:cubicBezTo>
                <a:lnTo>
                  <a:pt x="95250" y="78767"/>
                </a:lnTo>
                <a:lnTo>
                  <a:pt x="135545" y="119063"/>
                </a:lnTo>
                <a:lnTo>
                  <a:pt x="146372" y="119063"/>
                </a:lnTo>
                <a:cubicBezTo>
                  <a:pt x="151023" y="119063"/>
                  <a:pt x="154781" y="115305"/>
                  <a:pt x="154781" y="110654"/>
                </a:cubicBezTo>
                <a:cubicBezTo>
                  <a:pt x="154781" y="108421"/>
                  <a:pt x="153888" y="106263"/>
                  <a:pt x="152326" y="104701"/>
                </a:cubicBezTo>
                <a:lnTo>
                  <a:pt x="139415" y="91790"/>
                </a:lnTo>
                <a:lnTo>
                  <a:pt x="210852" y="20352"/>
                </a:lnTo>
                <a:close/>
                <a:moveTo>
                  <a:pt x="126913" y="131490"/>
                </a:moveTo>
                <a:lnTo>
                  <a:pt x="82823" y="87399"/>
                </a:lnTo>
                <a:cubicBezTo>
                  <a:pt x="66935" y="86023"/>
                  <a:pt x="51122" y="91753"/>
                  <a:pt x="39737" y="103138"/>
                </a:cubicBezTo>
                <a:lnTo>
                  <a:pt x="36761" y="106114"/>
                </a:lnTo>
                <a:cubicBezTo>
                  <a:pt x="28463" y="114412"/>
                  <a:pt x="23812" y="125648"/>
                  <a:pt x="23812" y="137368"/>
                </a:cubicBezTo>
                <a:cubicBezTo>
                  <a:pt x="23812" y="139898"/>
                  <a:pt x="26454" y="141536"/>
                  <a:pt x="28724" y="140419"/>
                </a:cubicBezTo>
                <a:lnTo>
                  <a:pt x="47737" y="130932"/>
                </a:lnTo>
                <a:cubicBezTo>
                  <a:pt x="49597" y="130001"/>
                  <a:pt x="51271" y="132457"/>
                  <a:pt x="49746" y="133871"/>
                </a:cubicBezTo>
                <a:lnTo>
                  <a:pt x="2716" y="176138"/>
                </a:lnTo>
                <a:cubicBezTo>
                  <a:pt x="1005" y="177701"/>
                  <a:pt x="0" y="179933"/>
                  <a:pt x="0" y="182277"/>
                </a:cubicBezTo>
                <a:cubicBezTo>
                  <a:pt x="0" y="186817"/>
                  <a:pt x="3683" y="190500"/>
                  <a:pt x="8223" y="190500"/>
                </a:cubicBezTo>
                <a:lnTo>
                  <a:pt x="72703" y="190500"/>
                </a:lnTo>
                <a:cubicBezTo>
                  <a:pt x="87139" y="190500"/>
                  <a:pt x="100943" y="184770"/>
                  <a:pt x="111175" y="174575"/>
                </a:cubicBezTo>
                <a:cubicBezTo>
                  <a:pt x="122560" y="163190"/>
                  <a:pt x="128253" y="147377"/>
                  <a:pt x="126913" y="131490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1" name="Text 29"/>
          <p:cNvSpPr/>
          <p:nvPr/>
        </p:nvSpPr>
        <p:spPr>
          <a:xfrm>
            <a:off x="7010400" y="2114550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Preprocessing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38900" y="2590800"/>
            <a:ext cx="2533650" cy="609600"/>
          </a:xfrm>
          <a:custGeom>
            <a:avLst/>
            <a:gdLst/>
            <a:ahLst/>
            <a:cxnLst/>
            <a:rect l="l" t="t" r="r" b="b"/>
            <a:pathLst>
              <a:path w="2533650" h="609600">
                <a:moveTo>
                  <a:pt x="0" y="0"/>
                </a:moveTo>
                <a:lnTo>
                  <a:pt x="2533650" y="0"/>
                </a:lnTo>
                <a:lnTo>
                  <a:pt x="253365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6553200" y="2705100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Tokenization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53200" y="2933700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Split into tokens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86850" y="2590800"/>
            <a:ext cx="2533650" cy="609600"/>
          </a:xfrm>
          <a:custGeom>
            <a:avLst/>
            <a:gdLst/>
            <a:ahLst/>
            <a:cxnLst/>
            <a:rect l="l" t="t" r="r" b="b"/>
            <a:pathLst>
              <a:path w="2533650" h="609600">
                <a:moveTo>
                  <a:pt x="0" y="0"/>
                </a:moveTo>
                <a:lnTo>
                  <a:pt x="2533650" y="0"/>
                </a:lnTo>
                <a:lnTo>
                  <a:pt x="253365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Text 34"/>
          <p:cNvSpPr/>
          <p:nvPr/>
        </p:nvSpPr>
        <p:spPr>
          <a:xfrm>
            <a:off x="9201150" y="2705100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01150" y="2933700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Lowercase, remove punctuation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38900" y="3314579"/>
            <a:ext cx="2533650" cy="609600"/>
          </a:xfrm>
          <a:custGeom>
            <a:avLst/>
            <a:gdLst/>
            <a:ahLst/>
            <a:cxnLst/>
            <a:rect l="l" t="t" r="r" b="b"/>
            <a:pathLst>
              <a:path w="2533650" h="609600">
                <a:moveTo>
                  <a:pt x="0" y="0"/>
                </a:moveTo>
                <a:lnTo>
                  <a:pt x="2533650" y="0"/>
                </a:lnTo>
                <a:lnTo>
                  <a:pt x="253365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Text 37"/>
          <p:cNvSpPr/>
          <p:nvPr/>
        </p:nvSpPr>
        <p:spPr>
          <a:xfrm>
            <a:off x="6553200" y="3428879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Stop Words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53200" y="3657479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Remove common words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86850" y="3314579"/>
            <a:ext cx="2533650" cy="609600"/>
          </a:xfrm>
          <a:custGeom>
            <a:avLst/>
            <a:gdLst/>
            <a:ahLst/>
            <a:cxnLst/>
            <a:rect l="l" t="t" r="r" b="b"/>
            <a:pathLst>
              <a:path w="2533650" h="609600">
                <a:moveTo>
                  <a:pt x="0" y="0"/>
                </a:moveTo>
                <a:lnTo>
                  <a:pt x="2533650" y="0"/>
                </a:lnTo>
                <a:lnTo>
                  <a:pt x="253365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Text 40"/>
          <p:cNvSpPr/>
          <p:nvPr/>
        </p:nvSpPr>
        <p:spPr>
          <a:xfrm>
            <a:off x="9201150" y="3428879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Lemmatization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201150" y="3657479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Reduce to base form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29350" y="4305058"/>
            <a:ext cx="5581650" cy="2247900"/>
          </a:xfrm>
          <a:custGeom>
            <a:avLst/>
            <a:gdLst/>
            <a:ahLst/>
            <a:cxnLst/>
            <a:rect l="l" t="t" r="r" b="b"/>
            <a:pathLst>
              <a:path w="5581650" h="2247900">
                <a:moveTo>
                  <a:pt x="0" y="0"/>
                </a:moveTo>
                <a:lnTo>
                  <a:pt x="5581650" y="0"/>
                </a:lnTo>
                <a:lnTo>
                  <a:pt x="558165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45" name="Shape 43"/>
          <p:cNvSpPr/>
          <p:nvPr/>
        </p:nvSpPr>
        <p:spPr>
          <a:xfrm>
            <a:off x="6229350" y="4305058"/>
            <a:ext cx="38100" cy="2247900"/>
          </a:xfrm>
          <a:custGeom>
            <a:avLst/>
            <a:gdLst/>
            <a:ahLst/>
            <a:cxnLst/>
            <a:rect l="l" t="t" r="r" b="b"/>
            <a:pathLst>
              <a:path w="38100" h="2247900">
                <a:moveTo>
                  <a:pt x="0" y="0"/>
                </a:moveTo>
                <a:lnTo>
                  <a:pt x="38100" y="0"/>
                </a:lnTo>
                <a:lnTo>
                  <a:pt x="38100" y="2247900"/>
                </a:lnTo>
                <a:lnTo>
                  <a:pt x="0" y="22479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6" name="Shape 44"/>
          <p:cNvSpPr/>
          <p:nvPr/>
        </p:nvSpPr>
        <p:spPr>
          <a:xfrm>
            <a:off x="6438900" y="44955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572250" y="462890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Text 46"/>
          <p:cNvSpPr/>
          <p:nvPr/>
        </p:nvSpPr>
        <p:spPr>
          <a:xfrm>
            <a:off x="7010400" y="4590808"/>
            <a:ext cx="3067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Intent Detection with Confidence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38900" y="5067058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 model predicts intent with confidence scores: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38900" y="5409958"/>
            <a:ext cx="5181600" cy="952500"/>
          </a:xfrm>
          <a:custGeom>
            <a:avLst/>
            <a:gdLst/>
            <a:ahLst/>
            <a:cxnLst/>
            <a:rect l="l" t="t" r="r" b="b"/>
            <a:pathLst>
              <a:path w="5181600" h="952500">
                <a:moveTo>
                  <a:pt x="0" y="0"/>
                </a:moveTo>
                <a:lnTo>
                  <a:pt x="5181600" y="0"/>
                </a:lnTo>
                <a:lnTo>
                  <a:pt x="518160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1" name="Text 49"/>
          <p:cNvSpPr/>
          <p:nvPr/>
        </p:nvSpPr>
        <p:spPr>
          <a:xfrm>
            <a:off x="6553200" y="5524258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check_balance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246519" y="5581408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53" name="Shape 51"/>
          <p:cNvSpPr/>
          <p:nvPr/>
        </p:nvSpPr>
        <p:spPr>
          <a:xfrm>
            <a:off x="10246519" y="5581408"/>
            <a:ext cx="866775" cy="76200"/>
          </a:xfrm>
          <a:custGeom>
            <a:avLst/>
            <a:gdLst/>
            <a:ahLst/>
            <a:cxnLst/>
            <a:rect l="l" t="t" r="r" b="b"/>
            <a:pathLst>
              <a:path w="866775" h="76200">
                <a:moveTo>
                  <a:pt x="0" y="0"/>
                </a:moveTo>
                <a:lnTo>
                  <a:pt x="866775" y="0"/>
                </a:lnTo>
                <a:lnTo>
                  <a:pt x="8667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4" name="Text 52"/>
          <p:cNvSpPr/>
          <p:nvPr/>
        </p:nvSpPr>
        <p:spPr>
          <a:xfrm>
            <a:off x="11237119" y="5524258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95%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53200" y="5790958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mini_statement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246519" y="5848108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57" name="Shape 55"/>
          <p:cNvSpPr/>
          <p:nvPr/>
        </p:nvSpPr>
        <p:spPr>
          <a:xfrm>
            <a:off x="10246519" y="5848108"/>
            <a:ext cx="800100" cy="76200"/>
          </a:xfrm>
          <a:custGeom>
            <a:avLst/>
            <a:gdLst/>
            <a:ahLst/>
            <a:cxnLst/>
            <a:rect l="l" t="t" r="r" b="b"/>
            <a:pathLst>
              <a:path w="800100" h="76200">
                <a:moveTo>
                  <a:pt x="0" y="0"/>
                </a:moveTo>
                <a:lnTo>
                  <a:pt x="800100" y="0"/>
                </a:lnTo>
                <a:lnTo>
                  <a:pt x="8001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8" name="Text 56"/>
          <p:cNvSpPr/>
          <p:nvPr/>
        </p:nvSpPr>
        <p:spPr>
          <a:xfrm>
            <a:off x="11237119" y="5790958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C8EA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87%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553200" y="6057658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banking_faq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0246519" y="6114808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61" name="Shape 59"/>
          <p:cNvSpPr/>
          <p:nvPr/>
        </p:nvSpPr>
        <p:spPr>
          <a:xfrm>
            <a:off x="10246519" y="6114808"/>
            <a:ext cx="714375" cy="76200"/>
          </a:xfrm>
          <a:custGeom>
            <a:avLst/>
            <a:gdLst/>
            <a:ahLst/>
            <a:cxnLst/>
            <a:rect l="l" t="t" r="r" b="b"/>
            <a:pathLst>
              <a:path w="714375" h="76200">
                <a:moveTo>
                  <a:pt x="0" y="0"/>
                </a:moveTo>
                <a:lnTo>
                  <a:pt x="714375" y="0"/>
                </a:lnTo>
                <a:lnTo>
                  <a:pt x="714375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/>
        </p:spPr>
      </p:sp>
      <p:sp>
        <p:nvSpPr>
          <p:cNvPr id="62" name="Text 60"/>
          <p:cNvSpPr/>
          <p:nvPr/>
        </p:nvSpPr>
        <p:spPr>
          <a:xfrm>
            <a:off x="11237119" y="6057658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78%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blog.zegocloud.com/f169c11594a162471184b8ddb221b29e41d66df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33" r="13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8620" y="735803"/>
            <a:ext cx="834390" cy="586740"/>
          </a:xfrm>
          <a:custGeom>
            <a:avLst/>
            <a:gdLst/>
            <a:ahLst/>
            <a:cxnLst/>
            <a:rect l="l" t="t" r="r" b="b"/>
            <a:pathLst>
              <a:path w="834390" h="586740">
                <a:moveTo>
                  <a:pt x="0" y="0"/>
                </a:moveTo>
                <a:lnTo>
                  <a:pt x="834390" y="0"/>
                </a:lnTo>
                <a:lnTo>
                  <a:pt x="834390" y="586740"/>
                </a:lnTo>
                <a:lnTo>
                  <a:pt x="0" y="5867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4840" y="842483"/>
            <a:ext cx="500182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34965"/>
            <a:ext cx="6286500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7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Milestone 2:</a:t>
            </a:r>
            <a:endParaRPr lang="en-US" sz="1600" dirty="0"/>
          </a:p>
          <a:p>
            <a:pPr>
              <a:lnSpc>
                <a:spcPct val="7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UI &amp; Database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58568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928583"/>
            <a:ext cx="59721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Creating Seamless User Experience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&amp; Data Management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810" y="5242081"/>
            <a:ext cx="1807845" cy="883920"/>
          </a:xfrm>
          <a:custGeom>
            <a:avLst/>
            <a:gdLst/>
            <a:ahLst/>
            <a:cxnLst/>
            <a:rect l="l" t="t" r="r" b="b"/>
            <a:pathLst>
              <a:path w="1807845" h="883920">
                <a:moveTo>
                  <a:pt x="0" y="0"/>
                </a:moveTo>
                <a:lnTo>
                  <a:pt x="1807845" y="0"/>
                </a:lnTo>
                <a:lnTo>
                  <a:pt x="1807845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4ECDC4">
                <a:alpha val="5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5795" y="539829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8147" y="171539"/>
                </a:moveTo>
                <a:cubicBezTo>
                  <a:pt x="168280" y="154394"/>
                  <a:pt x="149751" y="142875"/>
                  <a:pt x="128588" y="142875"/>
                </a:cubicBezTo>
                <a:lnTo>
                  <a:pt x="100013" y="142875"/>
                </a:lnTo>
                <a:cubicBezTo>
                  <a:pt x="78849" y="142875"/>
                  <a:pt x="60320" y="154394"/>
                  <a:pt x="50453" y="171539"/>
                </a:cubicBezTo>
                <a:cubicBezTo>
                  <a:pt x="66169" y="189041"/>
                  <a:pt x="88940" y="200025"/>
                  <a:pt x="114300" y="200025"/>
                </a:cubicBezTo>
                <a:cubicBezTo>
                  <a:pt x="139660" y="200025"/>
                  <a:pt x="162431" y="188997"/>
                  <a:pt x="178147" y="171539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21444"/>
                </a:moveTo>
                <a:cubicBezTo>
                  <a:pt x="132042" y="121444"/>
                  <a:pt x="146447" y="107039"/>
                  <a:pt x="146447" y="89297"/>
                </a:cubicBezTo>
                <a:cubicBezTo>
                  <a:pt x="146447" y="71555"/>
                  <a:pt x="132042" y="57150"/>
                  <a:pt x="114300" y="57150"/>
                </a:cubicBezTo>
                <a:cubicBezTo>
                  <a:pt x="96558" y="57150"/>
                  <a:pt x="82153" y="71555"/>
                  <a:pt x="82153" y="89297"/>
                </a:cubicBezTo>
                <a:cubicBezTo>
                  <a:pt x="82153" y="107039"/>
                  <a:pt x="96558" y="121444"/>
                  <a:pt x="114300" y="12144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" y="5703094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Registration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425898" y="5242081"/>
            <a:ext cx="1464945" cy="883920"/>
          </a:xfrm>
          <a:custGeom>
            <a:avLst/>
            <a:gdLst/>
            <a:ahLst/>
            <a:cxnLst/>
            <a:rect l="l" t="t" r="r" b="b"/>
            <a:pathLst>
              <a:path w="1464945" h="883920">
                <a:moveTo>
                  <a:pt x="0" y="0"/>
                </a:moveTo>
                <a:lnTo>
                  <a:pt x="1464945" y="0"/>
                </a:lnTo>
                <a:lnTo>
                  <a:pt x="1464945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4ECDC4">
                <a:alpha val="5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86883" y="539829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4037" y="121890"/>
                </a:moveTo>
                <a:cubicBezTo>
                  <a:pt x="158234" y="117693"/>
                  <a:pt x="158234" y="110907"/>
                  <a:pt x="154037" y="106754"/>
                </a:cubicBezTo>
                <a:lnTo>
                  <a:pt x="89743" y="42416"/>
                </a:lnTo>
                <a:cubicBezTo>
                  <a:pt x="86663" y="39335"/>
                  <a:pt x="82064" y="38442"/>
                  <a:pt x="78045" y="40094"/>
                </a:cubicBezTo>
                <a:cubicBezTo>
                  <a:pt x="74027" y="41746"/>
                  <a:pt x="71438" y="45675"/>
                  <a:pt x="71438" y="50006"/>
                </a:cubicBezTo>
                <a:lnTo>
                  <a:pt x="71438" y="85725"/>
                </a:lnTo>
                <a:lnTo>
                  <a:pt x="21431" y="85725"/>
                </a:lnTo>
                <a:cubicBezTo>
                  <a:pt x="9599" y="85725"/>
                  <a:pt x="0" y="95324"/>
                  <a:pt x="0" y="107156"/>
                </a:cubicBezTo>
                <a:lnTo>
                  <a:pt x="0" y="121444"/>
                </a:lnTo>
                <a:cubicBezTo>
                  <a:pt x="0" y="133276"/>
                  <a:pt x="9599" y="142875"/>
                  <a:pt x="21431" y="142875"/>
                </a:cubicBezTo>
                <a:lnTo>
                  <a:pt x="71438" y="142875"/>
                </a:lnTo>
                <a:lnTo>
                  <a:pt x="71438" y="178594"/>
                </a:lnTo>
                <a:cubicBezTo>
                  <a:pt x="71438" y="182925"/>
                  <a:pt x="74027" y="186854"/>
                  <a:pt x="78045" y="188506"/>
                </a:cubicBezTo>
                <a:cubicBezTo>
                  <a:pt x="82064" y="190158"/>
                  <a:pt x="86663" y="189265"/>
                  <a:pt x="89743" y="186184"/>
                </a:cubicBezTo>
                <a:lnTo>
                  <a:pt x="154037" y="121890"/>
                </a:lnTo>
                <a:close/>
                <a:moveTo>
                  <a:pt x="157163" y="185738"/>
                </a:moveTo>
                <a:cubicBezTo>
                  <a:pt x="149260" y="185738"/>
                  <a:pt x="142875" y="192122"/>
                  <a:pt x="142875" y="200025"/>
                </a:cubicBezTo>
                <a:cubicBezTo>
                  <a:pt x="142875" y="207928"/>
                  <a:pt x="149260" y="214313"/>
                  <a:pt x="157163" y="214313"/>
                </a:cubicBezTo>
                <a:lnTo>
                  <a:pt x="185738" y="214313"/>
                </a:lnTo>
                <a:cubicBezTo>
                  <a:pt x="209401" y="214313"/>
                  <a:pt x="228600" y="195114"/>
                  <a:pt x="228600" y="171450"/>
                </a:cubicBezTo>
                <a:lnTo>
                  <a:pt x="228600" y="57150"/>
                </a:lnTo>
                <a:cubicBezTo>
                  <a:pt x="228600" y="33486"/>
                  <a:pt x="209401" y="14288"/>
                  <a:pt x="185738" y="14288"/>
                </a:cubicBezTo>
                <a:lnTo>
                  <a:pt x="157163" y="14288"/>
                </a:lnTo>
                <a:cubicBezTo>
                  <a:pt x="149260" y="14288"/>
                  <a:pt x="142875" y="20672"/>
                  <a:pt x="142875" y="28575"/>
                </a:cubicBezTo>
                <a:cubicBezTo>
                  <a:pt x="142875" y="36478"/>
                  <a:pt x="149260" y="42863"/>
                  <a:pt x="157163" y="42863"/>
                </a:cubicBez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71450"/>
                </a:lnTo>
                <a:cubicBezTo>
                  <a:pt x="200025" y="179353"/>
                  <a:pt x="193640" y="185738"/>
                  <a:pt x="185738" y="185738"/>
                </a:cubicBezTo>
                <a:lnTo>
                  <a:pt x="157163" y="18573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1"/>
          <p:cNvSpPr/>
          <p:nvPr/>
        </p:nvSpPr>
        <p:spPr>
          <a:xfrm>
            <a:off x="2658308" y="5703094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Secure Login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128016" y="5242081"/>
            <a:ext cx="1560195" cy="883920"/>
          </a:xfrm>
          <a:custGeom>
            <a:avLst/>
            <a:gdLst/>
            <a:ahLst/>
            <a:cxnLst/>
            <a:rect l="l" t="t" r="r" b="b"/>
            <a:pathLst>
              <a:path w="1560195" h="883920">
                <a:moveTo>
                  <a:pt x="0" y="0"/>
                </a:moveTo>
                <a:lnTo>
                  <a:pt x="1560195" y="0"/>
                </a:lnTo>
                <a:lnTo>
                  <a:pt x="1560195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4ECDC4">
                <a:alpha val="5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74713" y="539829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Text 14"/>
          <p:cNvSpPr/>
          <p:nvPr/>
        </p:nvSpPr>
        <p:spPr>
          <a:xfrm>
            <a:off x="4360426" y="5703094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 Interface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219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MILESTONE 2: IMPLEMENTATION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Core Features &amp;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160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174750"/>
            <a:ext cx="5635625" cy="6064250"/>
          </a:xfrm>
          <a:custGeom>
            <a:avLst/>
            <a:gdLst/>
            <a:ahLst/>
            <a:cxnLst/>
            <a:rect l="l" t="t" r="r" b="b"/>
            <a:pathLst>
              <a:path w="5635625" h="6064250">
                <a:moveTo>
                  <a:pt x="0" y="0"/>
                </a:moveTo>
                <a:lnTo>
                  <a:pt x="5635625" y="0"/>
                </a:lnTo>
                <a:lnTo>
                  <a:pt x="5635625" y="6064250"/>
                </a:lnTo>
                <a:lnTo>
                  <a:pt x="0" y="606425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6" name="Shape 4"/>
          <p:cNvSpPr/>
          <p:nvPr/>
        </p:nvSpPr>
        <p:spPr>
          <a:xfrm>
            <a:off x="333375" y="1174750"/>
            <a:ext cx="31750" cy="6064250"/>
          </a:xfrm>
          <a:custGeom>
            <a:avLst/>
            <a:gdLst/>
            <a:ahLst/>
            <a:cxnLst/>
            <a:rect l="l" t="t" r="r" b="b"/>
            <a:pathLst>
              <a:path w="31750" h="6064250">
                <a:moveTo>
                  <a:pt x="0" y="0"/>
                </a:moveTo>
                <a:lnTo>
                  <a:pt x="31750" y="0"/>
                </a:lnTo>
                <a:lnTo>
                  <a:pt x="31750" y="6064250"/>
                </a:lnTo>
                <a:lnTo>
                  <a:pt x="0" y="60642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Shape 5"/>
          <p:cNvSpPr/>
          <p:nvPr/>
        </p:nvSpPr>
        <p:spPr>
          <a:xfrm>
            <a:off x="563563" y="139689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777875" y="1365250"/>
            <a:ext cx="5095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User Interface Features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6100" y="1777899"/>
            <a:ext cx="5229225" cy="730250"/>
          </a:xfrm>
          <a:custGeom>
            <a:avLst/>
            <a:gdLst/>
            <a:ahLst/>
            <a:cxnLst/>
            <a:rect l="l" t="t" r="r" b="b"/>
            <a:pathLst>
              <a:path w="5229225" h="730250">
                <a:moveTo>
                  <a:pt x="0" y="0"/>
                </a:moveTo>
                <a:lnTo>
                  <a:pt x="5229225" y="0"/>
                </a:lnTo>
                <a:lnTo>
                  <a:pt x="52292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Shape 8"/>
          <p:cNvSpPr/>
          <p:nvPr/>
        </p:nvSpPr>
        <p:spPr>
          <a:xfrm>
            <a:off x="546100" y="1777899"/>
            <a:ext cx="12700" cy="730250"/>
          </a:xfrm>
          <a:custGeom>
            <a:avLst/>
            <a:gdLst/>
            <a:ahLst/>
            <a:cxnLst/>
            <a:rect l="l" t="t" r="r" b="b"/>
            <a:pathLst>
              <a:path w="12700" h="730250">
                <a:moveTo>
                  <a:pt x="0" y="0"/>
                </a:moveTo>
                <a:lnTo>
                  <a:pt x="12700" y="0"/>
                </a:lnTo>
                <a:lnTo>
                  <a:pt x="12700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1" name="Shape 9"/>
          <p:cNvSpPr/>
          <p:nvPr/>
        </p:nvSpPr>
        <p:spPr>
          <a:xfrm>
            <a:off x="681434" y="1944587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37951" y="35719"/>
                </a:moveTo>
                <a:cubicBezTo>
                  <a:pt x="37951" y="17237"/>
                  <a:pt x="52956" y="2232"/>
                  <a:pt x="71438" y="2232"/>
                </a:cubicBezTo>
                <a:cubicBezTo>
                  <a:pt x="89919" y="2232"/>
                  <a:pt x="104924" y="17237"/>
                  <a:pt x="104924" y="35719"/>
                </a:cubicBezTo>
                <a:cubicBezTo>
                  <a:pt x="104924" y="54200"/>
                  <a:pt x="89919" y="69205"/>
                  <a:pt x="71438" y="69205"/>
                </a:cubicBezTo>
                <a:cubicBezTo>
                  <a:pt x="52956" y="69205"/>
                  <a:pt x="37951" y="54200"/>
                  <a:pt x="37951" y="35719"/>
                </a:cubicBezTo>
                <a:close/>
                <a:moveTo>
                  <a:pt x="13395" y="134587"/>
                </a:moveTo>
                <a:cubicBezTo>
                  <a:pt x="13395" y="107100"/>
                  <a:pt x="35663" y="84832"/>
                  <a:pt x="63150" y="84832"/>
                </a:cubicBezTo>
                <a:lnTo>
                  <a:pt x="79725" y="84832"/>
                </a:lnTo>
                <a:cubicBezTo>
                  <a:pt x="107212" y="84832"/>
                  <a:pt x="129480" y="107100"/>
                  <a:pt x="129480" y="134587"/>
                </a:cubicBezTo>
                <a:cubicBezTo>
                  <a:pt x="129480" y="139164"/>
                  <a:pt x="125769" y="142875"/>
                  <a:pt x="121193" y="142875"/>
                </a:cubicBezTo>
                <a:lnTo>
                  <a:pt x="21682" y="142875"/>
                </a:lnTo>
                <a:cubicBezTo>
                  <a:pt x="17106" y="142875"/>
                  <a:pt x="13395" y="139164"/>
                  <a:pt x="13395" y="134587"/>
                </a:cubicBezTo>
                <a:close/>
                <a:moveTo>
                  <a:pt x="151805" y="26789"/>
                </a:moveTo>
                <a:cubicBezTo>
                  <a:pt x="155516" y="26789"/>
                  <a:pt x="158502" y="29775"/>
                  <a:pt x="158502" y="33486"/>
                </a:cubicBezTo>
                <a:lnTo>
                  <a:pt x="158502" y="46881"/>
                </a:lnTo>
                <a:lnTo>
                  <a:pt x="171896" y="46881"/>
                </a:lnTo>
                <a:cubicBezTo>
                  <a:pt x="175608" y="46881"/>
                  <a:pt x="178594" y="49867"/>
                  <a:pt x="178594" y="53578"/>
                </a:cubicBezTo>
                <a:cubicBezTo>
                  <a:pt x="178594" y="57290"/>
                  <a:pt x="175608" y="60275"/>
                  <a:pt x="171896" y="60275"/>
                </a:cubicBezTo>
                <a:lnTo>
                  <a:pt x="158502" y="60275"/>
                </a:lnTo>
                <a:lnTo>
                  <a:pt x="158502" y="73670"/>
                </a:lnTo>
                <a:cubicBezTo>
                  <a:pt x="158502" y="77381"/>
                  <a:pt x="155516" y="80367"/>
                  <a:pt x="151805" y="80367"/>
                </a:cubicBezTo>
                <a:cubicBezTo>
                  <a:pt x="148093" y="80367"/>
                  <a:pt x="145107" y="77381"/>
                  <a:pt x="145107" y="73670"/>
                </a:cubicBezTo>
                <a:lnTo>
                  <a:pt x="145107" y="60275"/>
                </a:lnTo>
                <a:lnTo>
                  <a:pt x="131713" y="60275"/>
                </a:lnTo>
                <a:cubicBezTo>
                  <a:pt x="128001" y="60275"/>
                  <a:pt x="125016" y="57290"/>
                  <a:pt x="125016" y="53578"/>
                </a:cubicBezTo>
                <a:cubicBezTo>
                  <a:pt x="125016" y="49867"/>
                  <a:pt x="128001" y="46881"/>
                  <a:pt x="131713" y="46881"/>
                </a:cubicBezTo>
                <a:lnTo>
                  <a:pt x="145107" y="46881"/>
                </a:lnTo>
                <a:lnTo>
                  <a:pt x="145107" y="33486"/>
                </a:lnTo>
                <a:cubicBezTo>
                  <a:pt x="145107" y="29775"/>
                  <a:pt x="148093" y="26789"/>
                  <a:pt x="151805" y="26789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2" name="Text 10"/>
          <p:cNvSpPr/>
          <p:nvPr/>
        </p:nvSpPr>
        <p:spPr>
          <a:xfrm>
            <a:off x="953294" y="1904899"/>
            <a:ext cx="1230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Registration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9450" y="2190649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Secure user registration with email validation, password hashing, and account setup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6100" y="2635149"/>
            <a:ext cx="5229225" cy="730250"/>
          </a:xfrm>
          <a:custGeom>
            <a:avLst/>
            <a:gdLst/>
            <a:ahLst/>
            <a:cxnLst/>
            <a:rect l="l" t="t" r="r" b="b"/>
            <a:pathLst>
              <a:path w="5229225" h="730250">
                <a:moveTo>
                  <a:pt x="0" y="0"/>
                </a:moveTo>
                <a:lnTo>
                  <a:pt x="5229225" y="0"/>
                </a:lnTo>
                <a:lnTo>
                  <a:pt x="52292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Shape 13"/>
          <p:cNvSpPr/>
          <p:nvPr/>
        </p:nvSpPr>
        <p:spPr>
          <a:xfrm>
            <a:off x="546100" y="2635149"/>
            <a:ext cx="12700" cy="730250"/>
          </a:xfrm>
          <a:custGeom>
            <a:avLst/>
            <a:gdLst/>
            <a:ahLst/>
            <a:cxnLst/>
            <a:rect l="l" t="t" r="r" b="b"/>
            <a:pathLst>
              <a:path w="12700" h="730250">
                <a:moveTo>
                  <a:pt x="0" y="0"/>
                </a:moveTo>
                <a:lnTo>
                  <a:pt x="12700" y="0"/>
                </a:lnTo>
                <a:lnTo>
                  <a:pt x="12700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6" name="Shape 14"/>
          <p:cNvSpPr/>
          <p:nvPr/>
        </p:nvSpPr>
        <p:spPr>
          <a:xfrm>
            <a:off x="699294" y="280183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96273" y="76181"/>
                </a:moveTo>
                <a:cubicBezTo>
                  <a:pt x="98896" y="73558"/>
                  <a:pt x="98896" y="69317"/>
                  <a:pt x="96273" y="66722"/>
                </a:cubicBezTo>
                <a:lnTo>
                  <a:pt x="56090" y="26510"/>
                </a:lnTo>
                <a:cubicBezTo>
                  <a:pt x="54164" y="24585"/>
                  <a:pt x="51290" y="24026"/>
                  <a:pt x="48778" y="25059"/>
                </a:cubicBezTo>
                <a:cubicBezTo>
                  <a:pt x="46267" y="26091"/>
                  <a:pt x="44648" y="28547"/>
                  <a:pt x="44648" y="31254"/>
                </a:cubicBezTo>
                <a:lnTo>
                  <a:pt x="44648" y="53578"/>
                </a:lnTo>
                <a:lnTo>
                  <a:pt x="13395" y="53578"/>
                </a:lnTo>
                <a:cubicBezTo>
                  <a:pt x="6000" y="53578"/>
                  <a:pt x="0" y="59578"/>
                  <a:pt x="0" y="66973"/>
                </a:cubicBezTo>
                <a:lnTo>
                  <a:pt x="0" y="75902"/>
                </a:lnTo>
                <a:cubicBezTo>
                  <a:pt x="0" y="83297"/>
                  <a:pt x="6000" y="89297"/>
                  <a:pt x="13395" y="89297"/>
                </a:cubicBezTo>
                <a:lnTo>
                  <a:pt x="44648" y="89297"/>
                </a:lnTo>
                <a:lnTo>
                  <a:pt x="44648" y="111621"/>
                </a:lnTo>
                <a:cubicBezTo>
                  <a:pt x="44648" y="114328"/>
                  <a:pt x="46267" y="116784"/>
                  <a:pt x="48778" y="117816"/>
                </a:cubicBezTo>
                <a:cubicBezTo>
                  <a:pt x="51290" y="118849"/>
                  <a:pt x="54164" y="118290"/>
                  <a:pt x="56090" y="116365"/>
                </a:cubicBezTo>
                <a:lnTo>
                  <a:pt x="96273" y="76181"/>
                </a:lnTo>
                <a:close/>
                <a:moveTo>
                  <a:pt x="98227" y="116086"/>
                </a:moveTo>
                <a:cubicBezTo>
                  <a:pt x="93287" y="116086"/>
                  <a:pt x="89297" y="120076"/>
                  <a:pt x="89297" y="125016"/>
                </a:cubicBezTo>
                <a:cubicBezTo>
                  <a:pt x="89297" y="129955"/>
                  <a:pt x="93287" y="133945"/>
                  <a:pt x="98227" y="133945"/>
                </a:cubicBezTo>
                <a:lnTo>
                  <a:pt x="116086" y="133945"/>
                </a:lnTo>
                <a:cubicBezTo>
                  <a:pt x="130876" y="133945"/>
                  <a:pt x="142875" y="121946"/>
                  <a:pt x="142875" y="107156"/>
                </a:cubicBezTo>
                <a:lnTo>
                  <a:pt x="142875" y="35719"/>
                </a:lnTo>
                <a:cubicBezTo>
                  <a:pt x="142875" y="20929"/>
                  <a:pt x="130876" y="8930"/>
                  <a:pt x="116086" y="8930"/>
                </a:cubicBezTo>
                <a:lnTo>
                  <a:pt x="98227" y="8930"/>
                </a:lnTo>
                <a:cubicBezTo>
                  <a:pt x="93287" y="8930"/>
                  <a:pt x="89297" y="12920"/>
                  <a:pt x="89297" y="17859"/>
                </a:cubicBezTo>
                <a:cubicBezTo>
                  <a:pt x="89297" y="22799"/>
                  <a:pt x="93287" y="26789"/>
                  <a:pt x="98227" y="26789"/>
                </a:cubicBezTo>
                <a:lnTo>
                  <a:pt x="116086" y="26789"/>
                </a:lnTo>
                <a:cubicBezTo>
                  <a:pt x="121025" y="26789"/>
                  <a:pt x="125016" y="30780"/>
                  <a:pt x="125016" y="35719"/>
                </a:cubicBezTo>
                <a:lnTo>
                  <a:pt x="125016" y="107156"/>
                </a:lnTo>
                <a:cubicBezTo>
                  <a:pt x="125016" y="112095"/>
                  <a:pt x="121025" y="116086"/>
                  <a:pt x="116086" y="116086"/>
                </a:cubicBezTo>
                <a:lnTo>
                  <a:pt x="98227" y="116086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7" name="Text 15"/>
          <p:cNvSpPr/>
          <p:nvPr/>
        </p:nvSpPr>
        <p:spPr>
          <a:xfrm>
            <a:off x="953294" y="2762149"/>
            <a:ext cx="96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Login 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9450" y="3047899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JWT-based authentication with session management and secure credential validation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6100" y="3492399"/>
            <a:ext cx="5229225" cy="920750"/>
          </a:xfrm>
          <a:custGeom>
            <a:avLst/>
            <a:gdLst/>
            <a:ahLst/>
            <a:cxnLst/>
            <a:rect l="l" t="t" r="r" b="b"/>
            <a:pathLst>
              <a:path w="5229225" h="920750">
                <a:moveTo>
                  <a:pt x="0" y="0"/>
                </a:moveTo>
                <a:lnTo>
                  <a:pt x="5229225" y="0"/>
                </a:lnTo>
                <a:lnTo>
                  <a:pt x="52292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Shape 18"/>
          <p:cNvSpPr/>
          <p:nvPr/>
        </p:nvSpPr>
        <p:spPr>
          <a:xfrm>
            <a:off x="546100" y="3492399"/>
            <a:ext cx="12700" cy="920750"/>
          </a:xfrm>
          <a:custGeom>
            <a:avLst/>
            <a:gdLst/>
            <a:ahLst/>
            <a:cxnLst/>
            <a:rect l="l" t="t" r="r" b="b"/>
            <a:pathLst>
              <a:path w="12700" h="920750">
                <a:moveTo>
                  <a:pt x="0" y="0"/>
                </a:moveTo>
                <a:lnTo>
                  <a:pt x="12700" y="0"/>
                </a:lnTo>
                <a:lnTo>
                  <a:pt x="12700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1" name="Shape 19"/>
          <p:cNvSpPr/>
          <p:nvPr/>
        </p:nvSpPr>
        <p:spPr>
          <a:xfrm>
            <a:off x="690364" y="3659087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07156" y="40184"/>
                </a:moveTo>
                <a:cubicBezTo>
                  <a:pt x="107156" y="67308"/>
                  <a:pt x="83158" y="89297"/>
                  <a:pt x="53578" y="89297"/>
                </a:cubicBezTo>
                <a:cubicBezTo>
                  <a:pt x="46127" y="89297"/>
                  <a:pt x="39039" y="87902"/>
                  <a:pt x="32593" y="85390"/>
                </a:cubicBezTo>
                <a:lnTo>
                  <a:pt x="9823" y="97445"/>
                </a:lnTo>
                <a:cubicBezTo>
                  <a:pt x="7227" y="98813"/>
                  <a:pt x="4046" y="98338"/>
                  <a:pt x="1953" y="96273"/>
                </a:cubicBezTo>
                <a:cubicBezTo>
                  <a:pt x="-140" y="94208"/>
                  <a:pt x="-614" y="90999"/>
                  <a:pt x="781" y="88404"/>
                </a:cubicBezTo>
                <a:lnTo>
                  <a:pt x="10716" y="69652"/>
                </a:lnTo>
                <a:cubicBezTo>
                  <a:pt x="3990" y="61447"/>
                  <a:pt x="0" y="51234"/>
                  <a:pt x="0" y="40184"/>
                </a:cubicBezTo>
                <a:cubicBezTo>
                  <a:pt x="0" y="13060"/>
                  <a:pt x="23999" y="-8930"/>
                  <a:pt x="53578" y="-8930"/>
                </a:cubicBezTo>
                <a:cubicBezTo>
                  <a:pt x="83158" y="-8930"/>
                  <a:pt x="107156" y="13060"/>
                  <a:pt x="107156" y="40184"/>
                </a:cubicBezTo>
                <a:close/>
                <a:moveTo>
                  <a:pt x="107156" y="142875"/>
                </a:moveTo>
                <a:cubicBezTo>
                  <a:pt x="80897" y="142875"/>
                  <a:pt x="59048" y="125546"/>
                  <a:pt x="54471" y="102691"/>
                </a:cubicBezTo>
                <a:cubicBezTo>
                  <a:pt x="87957" y="102273"/>
                  <a:pt x="117063" y="78442"/>
                  <a:pt x="120272" y="46127"/>
                </a:cubicBezTo>
                <a:cubicBezTo>
                  <a:pt x="143517" y="51485"/>
                  <a:pt x="160734" y="70768"/>
                  <a:pt x="160734" y="93762"/>
                </a:cubicBezTo>
                <a:cubicBezTo>
                  <a:pt x="160734" y="104812"/>
                  <a:pt x="156744" y="115026"/>
                  <a:pt x="150019" y="123230"/>
                </a:cubicBezTo>
                <a:lnTo>
                  <a:pt x="159953" y="141982"/>
                </a:lnTo>
                <a:cubicBezTo>
                  <a:pt x="161320" y="144577"/>
                  <a:pt x="160846" y="147758"/>
                  <a:pt x="158781" y="149851"/>
                </a:cubicBezTo>
                <a:cubicBezTo>
                  <a:pt x="156716" y="151944"/>
                  <a:pt x="153507" y="152419"/>
                  <a:pt x="150912" y="151023"/>
                </a:cubicBezTo>
                <a:lnTo>
                  <a:pt x="128141" y="138968"/>
                </a:lnTo>
                <a:cubicBezTo>
                  <a:pt x="121695" y="141480"/>
                  <a:pt x="114607" y="142875"/>
                  <a:pt x="107156" y="142875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2" name="Text 20"/>
          <p:cNvSpPr/>
          <p:nvPr/>
        </p:nvSpPr>
        <p:spPr>
          <a:xfrm>
            <a:off x="953294" y="3619399"/>
            <a:ext cx="142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Chatbot Application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9450" y="3905153"/>
            <a:ext cx="503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Interactive chat interface with real-time messaging, typing indicators, and conversation history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6100" y="4540153"/>
            <a:ext cx="5229225" cy="730250"/>
          </a:xfrm>
          <a:custGeom>
            <a:avLst/>
            <a:gdLst/>
            <a:ahLst/>
            <a:cxnLst/>
            <a:rect l="l" t="t" r="r" b="b"/>
            <a:pathLst>
              <a:path w="5229225" h="730250">
                <a:moveTo>
                  <a:pt x="0" y="0"/>
                </a:moveTo>
                <a:lnTo>
                  <a:pt x="5229225" y="0"/>
                </a:lnTo>
                <a:lnTo>
                  <a:pt x="52292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Shape 23"/>
          <p:cNvSpPr/>
          <p:nvPr/>
        </p:nvSpPr>
        <p:spPr>
          <a:xfrm>
            <a:off x="546100" y="4540153"/>
            <a:ext cx="12700" cy="730250"/>
          </a:xfrm>
          <a:custGeom>
            <a:avLst/>
            <a:gdLst/>
            <a:ahLst/>
            <a:cxnLst/>
            <a:rect l="l" t="t" r="r" b="b"/>
            <a:pathLst>
              <a:path w="12700" h="730250">
                <a:moveTo>
                  <a:pt x="0" y="0"/>
                </a:moveTo>
                <a:lnTo>
                  <a:pt x="12700" y="0"/>
                </a:lnTo>
                <a:lnTo>
                  <a:pt x="12700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294" y="4706841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8930" y="8930"/>
                </a:moveTo>
                <a:cubicBezTo>
                  <a:pt x="13869" y="8930"/>
                  <a:pt x="17859" y="12920"/>
                  <a:pt x="17859" y="17859"/>
                </a:cubicBezTo>
                <a:lnTo>
                  <a:pt x="17859" y="111621"/>
                </a:lnTo>
                <a:cubicBezTo>
                  <a:pt x="17859" y="114077"/>
                  <a:pt x="19869" y="116086"/>
                  <a:pt x="22324" y="116086"/>
                </a:cubicBezTo>
                <a:lnTo>
                  <a:pt x="133945" y="116086"/>
                </a:lnTo>
                <a:cubicBezTo>
                  <a:pt x="138885" y="116086"/>
                  <a:pt x="142875" y="120076"/>
                  <a:pt x="142875" y="125016"/>
                </a:cubicBezTo>
                <a:cubicBezTo>
                  <a:pt x="142875" y="129955"/>
                  <a:pt x="138885" y="133945"/>
                  <a:pt x="133945" y="133945"/>
                </a:cubicBezTo>
                <a:lnTo>
                  <a:pt x="22324" y="133945"/>
                </a:lnTo>
                <a:cubicBezTo>
                  <a:pt x="9990" y="133945"/>
                  <a:pt x="0" y="123955"/>
                  <a:pt x="0" y="111621"/>
                </a:cubicBezTo>
                <a:lnTo>
                  <a:pt x="0" y="17859"/>
                </a:lnTo>
                <a:cubicBezTo>
                  <a:pt x="0" y="12920"/>
                  <a:pt x="3990" y="8930"/>
                  <a:pt x="8930" y="8930"/>
                </a:cubicBezTo>
                <a:close/>
                <a:moveTo>
                  <a:pt x="35719" y="26789"/>
                </a:moveTo>
                <a:cubicBezTo>
                  <a:pt x="35719" y="21850"/>
                  <a:pt x="39709" y="17859"/>
                  <a:pt x="44648" y="17859"/>
                </a:cubicBezTo>
                <a:lnTo>
                  <a:pt x="98227" y="17859"/>
                </a:lnTo>
                <a:cubicBezTo>
                  <a:pt x="103166" y="17859"/>
                  <a:pt x="107156" y="21850"/>
                  <a:pt x="107156" y="26789"/>
                </a:cubicBezTo>
                <a:cubicBezTo>
                  <a:pt x="107156" y="31728"/>
                  <a:pt x="103166" y="35719"/>
                  <a:pt x="98227" y="35719"/>
                </a:cubicBezTo>
                <a:lnTo>
                  <a:pt x="44648" y="35719"/>
                </a:lnTo>
                <a:cubicBezTo>
                  <a:pt x="39709" y="35719"/>
                  <a:pt x="35719" y="31728"/>
                  <a:pt x="35719" y="26789"/>
                </a:cubicBezTo>
                <a:close/>
                <a:moveTo>
                  <a:pt x="44648" y="49113"/>
                </a:moveTo>
                <a:lnTo>
                  <a:pt x="80367" y="49113"/>
                </a:lnTo>
                <a:cubicBezTo>
                  <a:pt x="85306" y="49113"/>
                  <a:pt x="89297" y="53104"/>
                  <a:pt x="89297" y="58043"/>
                </a:cubicBezTo>
                <a:cubicBezTo>
                  <a:pt x="89297" y="62982"/>
                  <a:pt x="85306" y="66973"/>
                  <a:pt x="80367" y="66973"/>
                </a:cubicBezTo>
                <a:lnTo>
                  <a:pt x="44648" y="66973"/>
                </a:lnTo>
                <a:cubicBezTo>
                  <a:pt x="39709" y="66973"/>
                  <a:pt x="35719" y="62982"/>
                  <a:pt x="35719" y="58043"/>
                </a:cubicBezTo>
                <a:cubicBezTo>
                  <a:pt x="35719" y="53104"/>
                  <a:pt x="39709" y="49113"/>
                  <a:pt x="44648" y="49113"/>
                </a:cubicBezTo>
                <a:close/>
                <a:moveTo>
                  <a:pt x="44648" y="80367"/>
                </a:moveTo>
                <a:lnTo>
                  <a:pt x="116086" y="80367"/>
                </a:lnTo>
                <a:cubicBezTo>
                  <a:pt x="121025" y="80367"/>
                  <a:pt x="125016" y="84358"/>
                  <a:pt x="125016" y="89297"/>
                </a:cubicBezTo>
                <a:cubicBezTo>
                  <a:pt x="125016" y="94236"/>
                  <a:pt x="121025" y="98227"/>
                  <a:pt x="116086" y="98227"/>
                </a:cubicBezTo>
                <a:lnTo>
                  <a:pt x="44648" y="98227"/>
                </a:lnTo>
                <a:cubicBezTo>
                  <a:pt x="39709" y="98227"/>
                  <a:pt x="35719" y="94236"/>
                  <a:pt x="35719" y="89297"/>
                </a:cubicBezTo>
                <a:cubicBezTo>
                  <a:pt x="35719" y="84358"/>
                  <a:pt x="39709" y="80367"/>
                  <a:pt x="44648" y="80367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7" name="Text 25"/>
          <p:cNvSpPr/>
          <p:nvPr/>
        </p:nvSpPr>
        <p:spPr>
          <a:xfrm>
            <a:off x="953294" y="4667153"/>
            <a:ext cx="115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 Analysis UI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9450" y="4952903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 analytics dashboard showing conversation metrics and user engagement data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38875" y="1174750"/>
            <a:ext cx="5635625" cy="6064250"/>
          </a:xfrm>
          <a:custGeom>
            <a:avLst/>
            <a:gdLst/>
            <a:ahLst/>
            <a:cxnLst/>
            <a:rect l="l" t="t" r="r" b="b"/>
            <a:pathLst>
              <a:path w="5635625" h="6064250">
                <a:moveTo>
                  <a:pt x="0" y="0"/>
                </a:moveTo>
                <a:lnTo>
                  <a:pt x="5635625" y="0"/>
                </a:lnTo>
                <a:lnTo>
                  <a:pt x="5635625" y="6064250"/>
                </a:lnTo>
                <a:lnTo>
                  <a:pt x="0" y="606425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30" name="Shape 28"/>
          <p:cNvSpPr/>
          <p:nvPr/>
        </p:nvSpPr>
        <p:spPr>
          <a:xfrm>
            <a:off x="6238875" y="1174750"/>
            <a:ext cx="31750" cy="6064250"/>
          </a:xfrm>
          <a:custGeom>
            <a:avLst/>
            <a:gdLst/>
            <a:ahLst/>
            <a:cxnLst/>
            <a:rect l="l" t="t" r="r" b="b"/>
            <a:pathLst>
              <a:path w="31750" h="6064250">
                <a:moveTo>
                  <a:pt x="0" y="0"/>
                </a:moveTo>
                <a:lnTo>
                  <a:pt x="31750" y="0"/>
                </a:lnTo>
                <a:lnTo>
                  <a:pt x="31750" y="6064250"/>
                </a:lnTo>
                <a:lnTo>
                  <a:pt x="0" y="60642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1" name="Shape 29"/>
          <p:cNvSpPr/>
          <p:nvPr/>
        </p:nvSpPr>
        <p:spPr>
          <a:xfrm>
            <a:off x="6480969" y="139689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2" name="Text 30"/>
          <p:cNvSpPr/>
          <p:nvPr/>
        </p:nvSpPr>
        <p:spPr>
          <a:xfrm>
            <a:off x="6683375" y="1365250"/>
            <a:ext cx="5095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Database Management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51600" y="1777899"/>
            <a:ext cx="5229225" cy="920750"/>
          </a:xfrm>
          <a:custGeom>
            <a:avLst/>
            <a:gdLst/>
            <a:ahLst/>
            <a:cxnLst/>
            <a:rect l="l" t="t" r="r" b="b"/>
            <a:pathLst>
              <a:path w="5229225" h="920750">
                <a:moveTo>
                  <a:pt x="0" y="0"/>
                </a:moveTo>
                <a:lnTo>
                  <a:pt x="5229225" y="0"/>
                </a:lnTo>
                <a:lnTo>
                  <a:pt x="52292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Shape 32"/>
          <p:cNvSpPr/>
          <p:nvPr/>
        </p:nvSpPr>
        <p:spPr>
          <a:xfrm>
            <a:off x="6451600" y="1777899"/>
            <a:ext cx="12700" cy="920750"/>
          </a:xfrm>
          <a:custGeom>
            <a:avLst/>
            <a:gdLst/>
            <a:ahLst/>
            <a:cxnLst/>
            <a:rect l="l" t="t" r="r" b="b"/>
            <a:pathLst>
              <a:path w="12700" h="920750">
                <a:moveTo>
                  <a:pt x="0" y="0"/>
                </a:moveTo>
                <a:lnTo>
                  <a:pt x="12700" y="0"/>
                </a:lnTo>
                <a:lnTo>
                  <a:pt x="12700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5" name="Shape 33"/>
          <p:cNvSpPr/>
          <p:nvPr/>
        </p:nvSpPr>
        <p:spPr>
          <a:xfrm>
            <a:off x="6613724" y="1944587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7859" y="8930"/>
                </a:moveTo>
                <a:cubicBezTo>
                  <a:pt x="8009" y="8930"/>
                  <a:pt x="0" y="16939"/>
                  <a:pt x="0" y="26789"/>
                </a:cubicBezTo>
                <a:lnTo>
                  <a:pt x="0" y="44648"/>
                </a:lnTo>
                <a:cubicBezTo>
                  <a:pt x="0" y="54499"/>
                  <a:pt x="8009" y="62508"/>
                  <a:pt x="17859" y="62508"/>
                </a:cubicBezTo>
                <a:lnTo>
                  <a:pt x="107156" y="62508"/>
                </a:lnTo>
                <a:cubicBezTo>
                  <a:pt x="117007" y="62508"/>
                  <a:pt x="125016" y="54499"/>
                  <a:pt x="125016" y="44648"/>
                </a:cubicBezTo>
                <a:lnTo>
                  <a:pt x="125016" y="26789"/>
                </a:lnTo>
                <a:cubicBezTo>
                  <a:pt x="125016" y="16939"/>
                  <a:pt x="117007" y="8930"/>
                  <a:pt x="107156" y="8930"/>
                </a:cubicBezTo>
                <a:lnTo>
                  <a:pt x="17859" y="8930"/>
                </a:lnTo>
                <a:close/>
                <a:moveTo>
                  <a:pt x="78135" y="29021"/>
                </a:moveTo>
                <a:cubicBezTo>
                  <a:pt x="81831" y="29021"/>
                  <a:pt x="84832" y="32022"/>
                  <a:pt x="84832" y="35719"/>
                </a:cubicBezTo>
                <a:cubicBezTo>
                  <a:pt x="84832" y="39415"/>
                  <a:pt x="81831" y="42416"/>
                  <a:pt x="78135" y="42416"/>
                </a:cubicBezTo>
                <a:cubicBezTo>
                  <a:pt x="74438" y="42416"/>
                  <a:pt x="71438" y="39415"/>
                  <a:pt x="71438" y="35719"/>
                </a:cubicBezTo>
                <a:cubicBezTo>
                  <a:pt x="71438" y="32022"/>
                  <a:pt x="74438" y="29021"/>
                  <a:pt x="78135" y="29021"/>
                </a:cubicBezTo>
                <a:close/>
                <a:moveTo>
                  <a:pt x="93762" y="35719"/>
                </a:moveTo>
                <a:cubicBezTo>
                  <a:pt x="93762" y="32022"/>
                  <a:pt x="96763" y="29021"/>
                  <a:pt x="100459" y="29021"/>
                </a:cubicBezTo>
                <a:cubicBezTo>
                  <a:pt x="104155" y="29021"/>
                  <a:pt x="107156" y="32022"/>
                  <a:pt x="107156" y="35719"/>
                </a:cubicBezTo>
                <a:cubicBezTo>
                  <a:pt x="107156" y="39415"/>
                  <a:pt x="104155" y="42416"/>
                  <a:pt x="100459" y="42416"/>
                </a:cubicBezTo>
                <a:cubicBezTo>
                  <a:pt x="96763" y="42416"/>
                  <a:pt x="93762" y="39415"/>
                  <a:pt x="93762" y="35719"/>
                </a:cubicBezTo>
                <a:close/>
                <a:moveTo>
                  <a:pt x="17859" y="80367"/>
                </a:moveTo>
                <a:cubicBezTo>
                  <a:pt x="8009" y="80367"/>
                  <a:pt x="0" y="88376"/>
                  <a:pt x="0" y="98227"/>
                </a:cubicBezTo>
                <a:lnTo>
                  <a:pt x="0" y="116086"/>
                </a:lnTo>
                <a:cubicBezTo>
                  <a:pt x="0" y="125936"/>
                  <a:pt x="8009" y="133945"/>
                  <a:pt x="17859" y="133945"/>
                </a:cubicBezTo>
                <a:lnTo>
                  <a:pt x="107156" y="133945"/>
                </a:lnTo>
                <a:cubicBezTo>
                  <a:pt x="117007" y="133945"/>
                  <a:pt x="125016" y="125936"/>
                  <a:pt x="125016" y="116086"/>
                </a:cubicBezTo>
                <a:lnTo>
                  <a:pt x="125016" y="98227"/>
                </a:lnTo>
                <a:cubicBezTo>
                  <a:pt x="125016" y="88376"/>
                  <a:pt x="117007" y="80367"/>
                  <a:pt x="107156" y="80367"/>
                </a:cubicBezTo>
                <a:lnTo>
                  <a:pt x="17859" y="80367"/>
                </a:lnTo>
                <a:close/>
                <a:moveTo>
                  <a:pt x="78135" y="100459"/>
                </a:moveTo>
                <a:cubicBezTo>
                  <a:pt x="81831" y="100459"/>
                  <a:pt x="84832" y="103460"/>
                  <a:pt x="84832" y="107156"/>
                </a:cubicBezTo>
                <a:cubicBezTo>
                  <a:pt x="84832" y="110853"/>
                  <a:pt x="81831" y="113854"/>
                  <a:pt x="78135" y="113854"/>
                </a:cubicBezTo>
                <a:cubicBezTo>
                  <a:pt x="74438" y="113854"/>
                  <a:pt x="71438" y="110853"/>
                  <a:pt x="71438" y="107156"/>
                </a:cubicBezTo>
                <a:cubicBezTo>
                  <a:pt x="71438" y="103460"/>
                  <a:pt x="74438" y="100459"/>
                  <a:pt x="78135" y="100459"/>
                </a:cubicBezTo>
                <a:close/>
                <a:moveTo>
                  <a:pt x="93762" y="107156"/>
                </a:moveTo>
                <a:cubicBezTo>
                  <a:pt x="93762" y="103460"/>
                  <a:pt x="96763" y="100459"/>
                  <a:pt x="100459" y="100459"/>
                </a:cubicBezTo>
                <a:cubicBezTo>
                  <a:pt x="104155" y="100459"/>
                  <a:pt x="107156" y="103460"/>
                  <a:pt x="107156" y="107156"/>
                </a:cubicBezTo>
                <a:cubicBezTo>
                  <a:pt x="107156" y="110853"/>
                  <a:pt x="104155" y="113854"/>
                  <a:pt x="100459" y="113854"/>
                </a:cubicBezTo>
                <a:cubicBezTo>
                  <a:pt x="96763" y="113854"/>
                  <a:pt x="93762" y="110853"/>
                  <a:pt x="93762" y="10715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794" y="1904899"/>
            <a:ext cx="1301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SQLite Integration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84950" y="2190649"/>
            <a:ext cx="503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Lightweight serverless database for storing user data, chat history, and banking information with SQL operations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51600" y="2825649"/>
            <a:ext cx="5229225" cy="920750"/>
          </a:xfrm>
          <a:custGeom>
            <a:avLst/>
            <a:gdLst/>
            <a:ahLst/>
            <a:cxnLst/>
            <a:rect l="l" t="t" r="r" b="b"/>
            <a:pathLst>
              <a:path w="5229225" h="920750">
                <a:moveTo>
                  <a:pt x="0" y="0"/>
                </a:moveTo>
                <a:lnTo>
                  <a:pt x="5229225" y="0"/>
                </a:lnTo>
                <a:lnTo>
                  <a:pt x="52292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Shape 37"/>
          <p:cNvSpPr/>
          <p:nvPr/>
        </p:nvSpPr>
        <p:spPr>
          <a:xfrm>
            <a:off x="6451600" y="2825649"/>
            <a:ext cx="12700" cy="920750"/>
          </a:xfrm>
          <a:custGeom>
            <a:avLst/>
            <a:gdLst/>
            <a:ahLst/>
            <a:cxnLst/>
            <a:rect l="l" t="t" r="r" b="b"/>
            <a:pathLst>
              <a:path w="12700" h="920750">
                <a:moveTo>
                  <a:pt x="0" y="0"/>
                </a:moveTo>
                <a:lnTo>
                  <a:pt x="12700" y="0"/>
                </a:lnTo>
                <a:lnTo>
                  <a:pt x="12700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Shape 38"/>
          <p:cNvSpPr/>
          <p:nvPr/>
        </p:nvSpPr>
        <p:spPr>
          <a:xfrm>
            <a:off x="6586935" y="2992337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89297" y="4465"/>
                </a:moveTo>
                <a:cubicBezTo>
                  <a:pt x="105314" y="4465"/>
                  <a:pt x="118318" y="17469"/>
                  <a:pt x="118318" y="33486"/>
                </a:cubicBezTo>
                <a:cubicBezTo>
                  <a:pt x="118318" y="49504"/>
                  <a:pt x="105314" y="62508"/>
                  <a:pt x="89297" y="62508"/>
                </a:cubicBezTo>
                <a:cubicBezTo>
                  <a:pt x="73279" y="62508"/>
                  <a:pt x="60275" y="49504"/>
                  <a:pt x="60275" y="33486"/>
                </a:cubicBezTo>
                <a:cubicBezTo>
                  <a:pt x="60275" y="17469"/>
                  <a:pt x="73279" y="4465"/>
                  <a:pt x="89297" y="4465"/>
                </a:cubicBezTo>
                <a:close/>
                <a:moveTo>
                  <a:pt x="26789" y="24557"/>
                </a:moveTo>
                <a:cubicBezTo>
                  <a:pt x="37878" y="24557"/>
                  <a:pt x="46881" y="33559"/>
                  <a:pt x="46881" y="44648"/>
                </a:cubicBezTo>
                <a:cubicBezTo>
                  <a:pt x="46881" y="55737"/>
                  <a:pt x="37878" y="64740"/>
                  <a:pt x="26789" y="64740"/>
                </a:cubicBezTo>
                <a:cubicBezTo>
                  <a:pt x="15700" y="64740"/>
                  <a:pt x="6697" y="55737"/>
                  <a:pt x="6697" y="44648"/>
                </a:cubicBezTo>
                <a:cubicBezTo>
                  <a:pt x="6697" y="33559"/>
                  <a:pt x="15700" y="24557"/>
                  <a:pt x="26789" y="24557"/>
                </a:cubicBezTo>
                <a:close/>
                <a:moveTo>
                  <a:pt x="0" y="116086"/>
                </a:moveTo>
                <a:cubicBezTo>
                  <a:pt x="0" y="96357"/>
                  <a:pt x="15990" y="80367"/>
                  <a:pt x="35719" y="80367"/>
                </a:cubicBezTo>
                <a:cubicBezTo>
                  <a:pt x="39291" y="80367"/>
                  <a:pt x="42751" y="80897"/>
                  <a:pt x="46016" y="81874"/>
                </a:cubicBezTo>
                <a:cubicBezTo>
                  <a:pt x="36835" y="92143"/>
                  <a:pt x="31254" y="105705"/>
                  <a:pt x="31254" y="120551"/>
                </a:cubicBezTo>
                <a:lnTo>
                  <a:pt x="31254" y="125016"/>
                </a:lnTo>
                <a:cubicBezTo>
                  <a:pt x="31254" y="128197"/>
                  <a:pt x="31924" y="131211"/>
                  <a:pt x="33124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lnTo>
                  <a:pt x="0" y="116086"/>
                </a:lnTo>
                <a:close/>
                <a:moveTo>
                  <a:pt x="145470" y="133945"/>
                </a:moveTo>
                <a:cubicBezTo>
                  <a:pt x="146670" y="131211"/>
                  <a:pt x="147340" y="128197"/>
                  <a:pt x="147340" y="125016"/>
                </a:cubicBezTo>
                <a:lnTo>
                  <a:pt x="147340" y="120551"/>
                </a:lnTo>
                <a:cubicBezTo>
                  <a:pt x="147340" y="105705"/>
                  <a:pt x="141759" y="92143"/>
                  <a:pt x="132578" y="81874"/>
                </a:cubicBezTo>
                <a:cubicBezTo>
                  <a:pt x="135843" y="80897"/>
                  <a:pt x="139303" y="80367"/>
                  <a:pt x="142875" y="80367"/>
                </a:cubicBezTo>
                <a:cubicBezTo>
                  <a:pt x="162604" y="80367"/>
                  <a:pt x="178594" y="96357"/>
                  <a:pt x="178594" y="116086"/>
                </a:cubicBezTo>
                <a:lnTo>
                  <a:pt x="178594" y="125016"/>
                </a:lnTo>
                <a:cubicBezTo>
                  <a:pt x="178594" y="129955"/>
                  <a:pt x="174603" y="133945"/>
                  <a:pt x="169664" y="133945"/>
                </a:cubicBezTo>
                <a:lnTo>
                  <a:pt x="145470" y="133945"/>
                </a:lnTo>
                <a:close/>
                <a:moveTo>
                  <a:pt x="131713" y="44648"/>
                </a:moveTo>
                <a:cubicBezTo>
                  <a:pt x="131713" y="33559"/>
                  <a:pt x="140716" y="24557"/>
                  <a:pt x="151805" y="24557"/>
                </a:cubicBezTo>
                <a:cubicBezTo>
                  <a:pt x="162894" y="24557"/>
                  <a:pt x="171896" y="33559"/>
                  <a:pt x="171896" y="44648"/>
                </a:cubicBezTo>
                <a:cubicBezTo>
                  <a:pt x="171896" y="55737"/>
                  <a:pt x="162894" y="64740"/>
                  <a:pt x="151805" y="64740"/>
                </a:cubicBezTo>
                <a:cubicBezTo>
                  <a:pt x="140716" y="64740"/>
                  <a:pt x="131713" y="55737"/>
                  <a:pt x="131713" y="44648"/>
                </a:cubicBezTo>
                <a:close/>
                <a:moveTo>
                  <a:pt x="44648" y="120551"/>
                </a:moveTo>
                <a:cubicBezTo>
                  <a:pt x="44648" y="95883"/>
                  <a:pt x="64629" y="75902"/>
                  <a:pt x="89297" y="75902"/>
                </a:cubicBezTo>
                <a:cubicBezTo>
                  <a:pt x="113965" y="75902"/>
                  <a:pt x="133945" y="95883"/>
                  <a:pt x="133945" y="120551"/>
                </a:cubicBezTo>
                <a:lnTo>
                  <a:pt x="133945" y="125016"/>
                </a:lnTo>
                <a:cubicBezTo>
                  <a:pt x="133945" y="129955"/>
                  <a:pt x="129955" y="133945"/>
                  <a:pt x="125016" y="133945"/>
                </a:cubicBezTo>
                <a:lnTo>
                  <a:pt x="53578" y="133945"/>
                </a:lnTo>
                <a:cubicBezTo>
                  <a:pt x="48639" y="133945"/>
                  <a:pt x="44648" y="129955"/>
                  <a:pt x="44648" y="125016"/>
                </a:cubicBezTo>
                <a:lnTo>
                  <a:pt x="44648" y="12055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794" y="2952649"/>
            <a:ext cx="1658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Data Management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84950" y="3238399"/>
            <a:ext cx="503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Comprehensive user profile storage including personal details, account settings, and authentication data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51600" y="3873403"/>
            <a:ext cx="5229225" cy="920750"/>
          </a:xfrm>
          <a:custGeom>
            <a:avLst/>
            <a:gdLst/>
            <a:ahLst/>
            <a:cxnLst/>
            <a:rect l="l" t="t" r="r" b="b"/>
            <a:pathLst>
              <a:path w="5229225" h="920750">
                <a:moveTo>
                  <a:pt x="0" y="0"/>
                </a:moveTo>
                <a:lnTo>
                  <a:pt x="5229225" y="0"/>
                </a:lnTo>
                <a:lnTo>
                  <a:pt x="52292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4" name="Shape 42"/>
          <p:cNvSpPr/>
          <p:nvPr/>
        </p:nvSpPr>
        <p:spPr>
          <a:xfrm>
            <a:off x="6451600" y="3873403"/>
            <a:ext cx="12700" cy="920750"/>
          </a:xfrm>
          <a:custGeom>
            <a:avLst/>
            <a:gdLst/>
            <a:ahLst/>
            <a:cxnLst/>
            <a:rect l="l" t="t" r="r" b="b"/>
            <a:pathLst>
              <a:path w="12700" h="920750">
                <a:moveTo>
                  <a:pt x="0" y="0"/>
                </a:moveTo>
                <a:lnTo>
                  <a:pt x="12700" y="0"/>
                </a:lnTo>
                <a:lnTo>
                  <a:pt x="12700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5" name="Shape 43"/>
          <p:cNvSpPr/>
          <p:nvPr/>
        </p:nvSpPr>
        <p:spPr>
          <a:xfrm>
            <a:off x="6595864" y="4040091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0367" y="17859"/>
                </a:moveTo>
                <a:cubicBezTo>
                  <a:pt x="109947" y="17859"/>
                  <a:pt x="133945" y="41858"/>
                  <a:pt x="133945" y="71438"/>
                </a:cubicBezTo>
                <a:cubicBezTo>
                  <a:pt x="133945" y="101017"/>
                  <a:pt x="109947" y="125016"/>
                  <a:pt x="80367" y="125016"/>
                </a:cubicBezTo>
                <a:cubicBezTo>
                  <a:pt x="62173" y="125016"/>
                  <a:pt x="46072" y="115946"/>
                  <a:pt x="36388" y="102050"/>
                </a:cubicBezTo>
                <a:cubicBezTo>
                  <a:pt x="33570" y="98003"/>
                  <a:pt x="27989" y="97027"/>
                  <a:pt x="23943" y="99845"/>
                </a:cubicBezTo>
                <a:cubicBezTo>
                  <a:pt x="19896" y="102664"/>
                  <a:pt x="18920" y="108245"/>
                  <a:pt x="21738" y="112291"/>
                </a:cubicBezTo>
                <a:cubicBezTo>
                  <a:pt x="34630" y="130764"/>
                  <a:pt x="56090" y="142875"/>
                  <a:pt x="80367" y="142875"/>
                </a:cubicBezTo>
                <a:cubicBezTo>
                  <a:pt x="119825" y="142875"/>
                  <a:pt x="151805" y="110896"/>
                  <a:pt x="151805" y="71438"/>
                </a:cubicBezTo>
                <a:cubicBezTo>
                  <a:pt x="151805" y="31979"/>
                  <a:pt x="119825" y="0"/>
                  <a:pt x="80367" y="0"/>
                </a:cubicBezTo>
                <a:cubicBezTo>
                  <a:pt x="56452" y="0"/>
                  <a:pt x="35300" y="11748"/>
                  <a:pt x="22324" y="29775"/>
                </a:cubicBezTo>
                <a:lnTo>
                  <a:pt x="22324" y="22324"/>
                </a:lnTo>
                <a:cubicBezTo>
                  <a:pt x="22324" y="17385"/>
                  <a:pt x="18334" y="13395"/>
                  <a:pt x="13395" y="13395"/>
                </a:cubicBezTo>
                <a:cubicBezTo>
                  <a:pt x="8455" y="13395"/>
                  <a:pt x="4465" y="17385"/>
                  <a:pt x="4465" y="22324"/>
                </a:cubicBezTo>
                <a:lnTo>
                  <a:pt x="4465" y="53578"/>
                </a:lnTo>
                <a:cubicBezTo>
                  <a:pt x="4465" y="58517"/>
                  <a:pt x="8455" y="62508"/>
                  <a:pt x="13395" y="62508"/>
                </a:cubicBezTo>
                <a:lnTo>
                  <a:pt x="20259" y="62508"/>
                </a:lnTo>
                <a:cubicBezTo>
                  <a:pt x="20399" y="62508"/>
                  <a:pt x="20538" y="62508"/>
                  <a:pt x="20678" y="62508"/>
                </a:cubicBezTo>
                <a:lnTo>
                  <a:pt x="44676" y="62508"/>
                </a:lnTo>
                <a:cubicBezTo>
                  <a:pt x="49616" y="62508"/>
                  <a:pt x="53606" y="58517"/>
                  <a:pt x="53606" y="53578"/>
                </a:cubicBezTo>
                <a:cubicBezTo>
                  <a:pt x="53606" y="48639"/>
                  <a:pt x="49616" y="44648"/>
                  <a:pt x="44676" y="44648"/>
                </a:cubicBezTo>
                <a:lnTo>
                  <a:pt x="33989" y="44648"/>
                </a:lnTo>
                <a:cubicBezTo>
                  <a:pt x="43225" y="28631"/>
                  <a:pt x="60554" y="17859"/>
                  <a:pt x="80367" y="17859"/>
                </a:cubicBezTo>
                <a:close/>
                <a:moveTo>
                  <a:pt x="87064" y="42416"/>
                </a:moveTo>
                <a:cubicBezTo>
                  <a:pt x="87064" y="38705"/>
                  <a:pt x="84079" y="35719"/>
                  <a:pt x="80367" y="35719"/>
                </a:cubicBezTo>
                <a:cubicBezTo>
                  <a:pt x="76656" y="35719"/>
                  <a:pt x="73670" y="38705"/>
                  <a:pt x="73670" y="42416"/>
                </a:cubicBezTo>
                <a:lnTo>
                  <a:pt x="73670" y="71438"/>
                </a:lnTo>
                <a:cubicBezTo>
                  <a:pt x="73670" y="73223"/>
                  <a:pt x="74368" y="74926"/>
                  <a:pt x="75623" y="76181"/>
                </a:cubicBezTo>
                <a:lnTo>
                  <a:pt x="95715" y="96273"/>
                </a:lnTo>
                <a:cubicBezTo>
                  <a:pt x="98338" y="98896"/>
                  <a:pt x="102580" y="98896"/>
                  <a:pt x="105175" y="96273"/>
                </a:cubicBezTo>
                <a:cubicBezTo>
                  <a:pt x="107770" y="93650"/>
                  <a:pt x="107798" y="89408"/>
                  <a:pt x="105175" y="86813"/>
                </a:cubicBezTo>
                <a:lnTo>
                  <a:pt x="87037" y="68675"/>
                </a:lnTo>
                <a:lnTo>
                  <a:pt x="87037" y="4241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794" y="4000403"/>
            <a:ext cx="146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 History Storage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84950" y="4286153"/>
            <a:ext cx="503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Persistent conversation logging with timestamps, intent tracking, and message archiving for analysis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51600" y="4921153"/>
            <a:ext cx="5229225" cy="920750"/>
          </a:xfrm>
          <a:custGeom>
            <a:avLst/>
            <a:gdLst/>
            <a:ahLst/>
            <a:cxnLst/>
            <a:rect l="l" t="t" r="r" b="b"/>
            <a:pathLst>
              <a:path w="5229225" h="920750">
                <a:moveTo>
                  <a:pt x="0" y="0"/>
                </a:moveTo>
                <a:lnTo>
                  <a:pt x="5229225" y="0"/>
                </a:lnTo>
                <a:lnTo>
                  <a:pt x="52292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Shape 47"/>
          <p:cNvSpPr/>
          <p:nvPr/>
        </p:nvSpPr>
        <p:spPr>
          <a:xfrm>
            <a:off x="6451600" y="4921153"/>
            <a:ext cx="12700" cy="920750"/>
          </a:xfrm>
          <a:custGeom>
            <a:avLst/>
            <a:gdLst/>
            <a:ahLst/>
            <a:cxnLst/>
            <a:rect l="l" t="t" r="r" b="b"/>
            <a:pathLst>
              <a:path w="12700" h="920750">
                <a:moveTo>
                  <a:pt x="0" y="0"/>
                </a:moveTo>
                <a:lnTo>
                  <a:pt x="12700" y="0"/>
                </a:lnTo>
                <a:lnTo>
                  <a:pt x="12700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0" name="Shape 48"/>
          <p:cNvSpPr/>
          <p:nvPr/>
        </p:nvSpPr>
        <p:spPr>
          <a:xfrm>
            <a:off x="6586935" y="5087841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16058" y="58741"/>
                </a:moveTo>
                <a:cubicBezTo>
                  <a:pt x="119462" y="57820"/>
                  <a:pt x="123034" y="59438"/>
                  <a:pt x="124569" y="62592"/>
                </a:cubicBezTo>
                <a:lnTo>
                  <a:pt x="129760" y="73084"/>
                </a:lnTo>
                <a:cubicBezTo>
                  <a:pt x="132634" y="73475"/>
                  <a:pt x="135452" y="74256"/>
                  <a:pt x="138103" y="75344"/>
                </a:cubicBezTo>
                <a:lnTo>
                  <a:pt x="147870" y="68842"/>
                </a:lnTo>
                <a:cubicBezTo>
                  <a:pt x="150800" y="66889"/>
                  <a:pt x="154679" y="67280"/>
                  <a:pt x="157162" y="69763"/>
                </a:cubicBezTo>
                <a:lnTo>
                  <a:pt x="162520" y="75121"/>
                </a:lnTo>
                <a:cubicBezTo>
                  <a:pt x="165004" y="77605"/>
                  <a:pt x="165395" y="81511"/>
                  <a:pt x="163441" y="84413"/>
                </a:cubicBezTo>
                <a:lnTo>
                  <a:pt x="156939" y="94152"/>
                </a:lnTo>
                <a:cubicBezTo>
                  <a:pt x="157469" y="95464"/>
                  <a:pt x="157944" y="96831"/>
                  <a:pt x="158335" y="98254"/>
                </a:cubicBezTo>
                <a:cubicBezTo>
                  <a:pt x="158725" y="99678"/>
                  <a:pt x="158976" y="101073"/>
                  <a:pt x="159172" y="102496"/>
                </a:cubicBezTo>
                <a:lnTo>
                  <a:pt x="169692" y="107686"/>
                </a:lnTo>
                <a:cubicBezTo>
                  <a:pt x="172845" y="109249"/>
                  <a:pt x="174464" y="112821"/>
                  <a:pt x="173543" y="116198"/>
                </a:cubicBezTo>
                <a:lnTo>
                  <a:pt x="171590" y="123509"/>
                </a:lnTo>
                <a:cubicBezTo>
                  <a:pt x="170669" y="126885"/>
                  <a:pt x="167515" y="129174"/>
                  <a:pt x="163999" y="128950"/>
                </a:cubicBezTo>
                <a:lnTo>
                  <a:pt x="152279" y="128197"/>
                </a:lnTo>
                <a:cubicBezTo>
                  <a:pt x="150521" y="130457"/>
                  <a:pt x="148484" y="132550"/>
                  <a:pt x="146168" y="134336"/>
                </a:cubicBezTo>
                <a:lnTo>
                  <a:pt x="146921" y="146028"/>
                </a:lnTo>
                <a:cubicBezTo>
                  <a:pt x="147145" y="149544"/>
                  <a:pt x="144856" y="152726"/>
                  <a:pt x="141480" y="153619"/>
                </a:cubicBezTo>
                <a:lnTo>
                  <a:pt x="134169" y="155572"/>
                </a:lnTo>
                <a:cubicBezTo>
                  <a:pt x="130764" y="156493"/>
                  <a:pt x="127220" y="154874"/>
                  <a:pt x="125657" y="151721"/>
                </a:cubicBezTo>
                <a:lnTo>
                  <a:pt x="120467" y="141229"/>
                </a:lnTo>
                <a:cubicBezTo>
                  <a:pt x="117593" y="140838"/>
                  <a:pt x="114774" y="140057"/>
                  <a:pt x="112123" y="138968"/>
                </a:cubicBezTo>
                <a:lnTo>
                  <a:pt x="102357" y="145470"/>
                </a:lnTo>
                <a:cubicBezTo>
                  <a:pt x="99426" y="147424"/>
                  <a:pt x="95548" y="147033"/>
                  <a:pt x="93064" y="144549"/>
                </a:cubicBezTo>
                <a:lnTo>
                  <a:pt x="87706" y="139192"/>
                </a:lnTo>
                <a:cubicBezTo>
                  <a:pt x="85223" y="136708"/>
                  <a:pt x="84832" y="132829"/>
                  <a:pt x="86785" y="129899"/>
                </a:cubicBezTo>
                <a:lnTo>
                  <a:pt x="93287" y="120132"/>
                </a:lnTo>
                <a:cubicBezTo>
                  <a:pt x="92757" y="118821"/>
                  <a:pt x="92283" y="117453"/>
                  <a:pt x="91892" y="116030"/>
                </a:cubicBezTo>
                <a:cubicBezTo>
                  <a:pt x="91501" y="114607"/>
                  <a:pt x="91250" y="113184"/>
                  <a:pt x="91055" y="111789"/>
                </a:cubicBezTo>
                <a:lnTo>
                  <a:pt x="80535" y="106598"/>
                </a:lnTo>
                <a:cubicBezTo>
                  <a:pt x="77381" y="105035"/>
                  <a:pt x="75791" y="101464"/>
                  <a:pt x="76684" y="98087"/>
                </a:cubicBezTo>
                <a:lnTo>
                  <a:pt x="78637" y="90776"/>
                </a:lnTo>
                <a:cubicBezTo>
                  <a:pt x="79558" y="87399"/>
                  <a:pt x="82711" y="85111"/>
                  <a:pt x="86227" y="85334"/>
                </a:cubicBezTo>
                <a:lnTo>
                  <a:pt x="97920" y="86088"/>
                </a:lnTo>
                <a:cubicBezTo>
                  <a:pt x="99678" y="83827"/>
                  <a:pt x="101715" y="81735"/>
                  <a:pt x="104031" y="79949"/>
                </a:cubicBezTo>
                <a:lnTo>
                  <a:pt x="103277" y="68284"/>
                </a:lnTo>
                <a:cubicBezTo>
                  <a:pt x="103054" y="64768"/>
                  <a:pt x="105342" y="61587"/>
                  <a:pt x="108719" y="60694"/>
                </a:cubicBezTo>
                <a:lnTo>
                  <a:pt x="116030" y="58741"/>
                </a:lnTo>
                <a:close/>
                <a:moveTo>
                  <a:pt x="125127" y="94878"/>
                </a:moveTo>
                <a:cubicBezTo>
                  <a:pt x="118351" y="94886"/>
                  <a:pt x="112855" y="100394"/>
                  <a:pt x="112863" y="107170"/>
                </a:cubicBezTo>
                <a:cubicBezTo>
                  <a:pt x="112871" y="113947"/>
                  <a:pt x="118379" y="119442"/>
                  <a:pt x="125155" y="119435"/>
                </a:cubicBezTo>
                <a:cubicBezTo>
                  <a:pt x="131932" y="119427"/>
                  <a:pt x="137427" y="113919"/>
                  <a:pt x="137420" y="107142"/>
                </a:cubicBezTo>
                <a:cubicBezTo>
                  <a:pt x="137412" y="100366"/>
                  <a:pt x="131904" y="94870"/>
                  <a:pt x="125127" y="94878"/>
                </a:cubicBezTo>
                <a:close/>
                <a:moveTo>
                  <a:pt x="62759" y="-12697"/>
                </a:moveTo>
                <a:lnTo>
                  <a:pt x="70070" y="-10744"/>
                </a:lnTo>
                <a:cubicBezTo>
                  <a:pt x="73447" y="-9823"/>
                  <a:pt x="75735" y="-6641"/>
                  <a:pt x="75512" y="-3153"/>
                </a:cubicBezTo>
                <a:lnTo>
                  <a:pt x="74758" y="8511"/>
                </a:lnTo>
                <a:cubicBezTo>
                  <a:pt x="77074" y="10297"/>
                  <a:pt x="79111" y="12362"/>
                  <a:pt x="80869" y="14650"/>
                </a:cubicBezTo>
                <a:lnTo>
                  <a:pt x="92590" y="13897"/>
                </a:lnTo>
                <a:cubicBezTo>
                  <a:pt x="96078" y="13674"/>
                  <a:pt x="99259" y="15962"/>
                  <a:pt x="100180" y="19338"/>
                </a:cubicBezTo>
                <a:lnTo>
                  <a:pt x="102133" y="26650"/>
                </a:lnTo>
                <a:cubicBezTo>
                  <a:pt x="103026" y="30026"/>
                  <a:pt x="101436" y="33598"/>
                  <a:pt x="98282" y="35161"/>
                </a:cubicBezTo>
                <a:lnTo>
                  <a:pt x="87762" y="40351"/>
                </a:lnTo>
                <a:cubicBezTo>
                  <a:pt x="87567" y="41774"/>
                  <a:pt x="87288" y="43197"/>
                  <a:pt x="86925" y="44593"/>
                </a:cubicBezTo>
                <a:cubicBezTo>
                  <a:pt x="86562" y="45988"/>
                  <a:pt x="86060" y="47383"/>
                  <a:pt x="85530" y="48695"/>
                </a:cubicBezTo>
                <a:lnTo>
                  <a:pt x="92032" y="58462"/>
                </a:lnTo>
                <a:cubicBezTo>
                  <a:pt x="93985" y="61392"/>
                  <a:pt x="93594" y="65270"/>
                  <a:pt x="91111" y="67754"/>
                </a:cubicBezTo>
                <a:lnTo>
                  <a:pt x="85753" y="73112"/>
                </a:lnTo>
                <a:cubicBezTo>
                  <a:pt x="83269" y="75595"/>
                  <a:pt x="79391" y="75986"/>
                  <a:pt x="76460" y="74033"/>
                </a:cubicBezTo>
                <a:lnTo>
                  <a:pt x="66694" y="67531"/>
                </a:lnTo>
                <a:cubicBezTo>
                  <a:pt x="64043" y="68619"/>
                  <a:pt x="61224" y="69400"/>
                  <a:pt x="58350" y="69791"/>
                </a:cubicBezTo>
                <a:lnTo>
                  <a:pt x="53160" y="80283"/>
                </a:lnTo>
                <a:cubicBezTo>
                  <a:pt x="51597" y="83437"/>
                  <a:pt x="48025" y="85027"/>
                  <a:pt x="44648" y="84134"/>
                </a:cubicBezTo>
                <a:lnTo>
                  <a:pt x="37337" y="82181"/>
                </a:lnTo>
                <a:cubicBezTo>
                  <a:pt x="33933" y="81260"/>
                  <a:pt x="31672" y="78079"/>
                  <a:pt x="31896" y="74591"/>
                </a:cubicBezTo>
                <a:lnTo>
                  <a:pt x="32649" y="62898"/>
                </a:lnTo>
                <a:cubicBezTo>
                  <a:pt x="30333" y="61113"/>
                  <a:pt x="28296" y="59048"/>
                  <a:pt x="26538" y="56759"/>
                </a:cubicBezTo>
                <a:lnTo>
                  <a:pt x="14818" y="57513"/>
                </a:lnTo>
                <a:cubicBezTo>
                  <a:pt x="11330" y="57736"/>
                  <a:pt x="8148" y="55448"/>
                  <a:pt x="7227" y="52071"/>
                </a:cubicBezTo>
                <a:lnTo>
                  <a:pt x="5274" y="44760"/>
                </a:lnTo>
                <a:cubicBezTo>
                  <a:pt x="4381" y="41384"/>
                  <a:pt x="5972" y="37812"/>
                  <a:pt x="9125" y="36249"/>
                </a:cubicBezTo>
                <a:lnTo>
                  <a:pt x="19645" y="31059"/>
                </a:lnTo>
                <a:cubicBezTo>
                  <a:pt x="19841" y="29635"/>
                  <a:pt x="20120" y="28240"/>
                  <a:pt x="20482" y="26817"/>
                </a:cubicBezTo>
                <a:cubicBezTo>
                  <a:pt x="20873" y="25394"/>
                  <a:pt x="21320" y="24026"/>
                  <a:pt x="21878" y="22715"/>
                </a:cubicBezTo>
                <a:lnTo>
                  <a:pt x="15376" y="12976"/>
                </a:lnTo>
                <a:cubicBezTo>
                  <a:pt x="13422" y="10046"/>
                  <a:pt x="13813" y="6167"/>
                  <a:pt x="16297" y="3683"/>
                </a:cubicBezTo>
                <a:lnTo>
                  <a:pt x="21654" y="-1674"/>
                </a:lnTo>
                <a:cubicBezTo>
                  <a:pt x="24138" y="-4158"/>
                  <a:pt x="28017" y="-4549"/>
                  <a:pt x="30947" y="-2595"/>
                </a:cubicBezTo>
                <a:lnTo>
                  <a:pt x="40714" y="3907"/>
                </a:lnTo>
                <a:cubicBezTo>
                  <a:pt x="43365" y="2818"/>
                  <a:pt x="46183" y="2037"/>
                  <a:pt x="49057" y="1646"/>
                </a:cubicBezTo>
                <a:lnTo>
                  <a:pt x="54248" y="-8846"/>
                </a:lnTo>
                <a:cubicBezTo>
                  <a:pt x="55811" y="-11999"/>
                  <a:pt x="59355" y="-13590"/>
                  <a:pt x="62759" y="-12697"/>
                </a:cubicBezTo>
                <a:close/>
                <a:moveTo>
                  <a:pt x="53690" y="23440"/>
                </a:moveTo>
                <a:cubicBezTo>
                  <a:pt x="46913" y="23440"/>
                  <a:pt x="41411" y="28942"/>
                  <a:pt x="41411" y="35719"/>
                </a:cubicBezTo>
                <a:cubicBezTo>
                  <a:pt x="41411" y="42495"/>
                  <a:pt x="46913" y="47997"/>
                  <a:pt x="53690" y="47997"/>
                </a:cubicBezTo>
                <a:cubicBezTo>
                  <a:pt x="60466" y="47997"/>
                  <a:pt x="65968" y="42495"/>
                  <a:pt x="65968" y="35719"/>
                </a:cubicBezTo>
                <a:cubicBezTo>
                  <a:pt x="65968" y="28942"/>
                  <a:pt x="60466" y="23440"/>
                  <a:pt x="53690" y="2344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1" name="Text 49"/>
          <p:cNvSpPr/>
          <p:nvPr/>
        </p:nvSpPr>
        <p:spPr>
          <a:xfrm>
            <a:off x="6858794" y="5048153"/>
            <a:ext cx="1246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CRUD Operations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84950" y="5333903"/>
            <a:ext cx="5032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Create, Read, Update, Delete operations for user management, data modification, and system maintenance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20675" y="7432671"/>
            <a:ext cx="11547475" cy="1371600"/>
          </a:xfrm>
          <a:custGeom>
            <a:avLst/>
            <a:gdLst/>
            <a:ahLst/>
            <a:cxnLst/>
            <a:rect l="l" t="t" r="r" b="b"/>
            <a:pathLst>
              <a:path w="11547475" h="1371600">
                <a:moveTo>
                  <a:pt x="0" y="0"/>
                </a:moveTo>
                <a:lnTo>
                  <a:pt x="11547475" y="0"/>
                </a:lnTo>
                <a:lnTo>
                  <a:pt x="1154747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444" y="762635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9531" y="19844"/>
                </a:moveTo>
                <a:cubicBezTo>
                  <a:pt x="59531" y="14356"/>
                  <a:pt x="63965" y="9922"/>
                  <a:pt x="69453" y="9922"/>
                </a:cubicBezTo>
                <a:lnTo>
                  <a:pt x="89297" y="9922"/>
                </a:lnTo>
                <a:cubicBezTo>
                  <a:pt x="94785" y="9922"/>
                  <a:pt x="99219" y="14356"/>
                  <a:pt x="99219" y="19844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86816" y="49609"/>
                </a:lnTo>
                <a:lnTo>
                  <a:pt x="86816" y="69453"/>
                </a:lnTo>
                <a:lnTo>
                  <a:pt x="124023" y="69453"/>
                </a:lnTo>
                <a:cubicBezTo>
                  <a:pt x="136364" y="69453"/>
                  <a:pt x="146348" y="79437"/>
                  <a:pt x="146348" y="91777"/>
                </a:cubicBezTo>
                <a:lnTo>
                  <a:pt x="146348" y="109141"/>
                </a:lnTo>
                <a:lnTo>
                  <a:pt x="148828" y="109141"/>
                </a:lnTo>
                <a:cubicBezTo>
                  <a:pt x="154316" y="109141"/>
                  <a:pt x="158750" y="113574"/>
                  <a:pt x="158750" y="119062"/>
                </a:cubicBezTo>
                <a:lnTo>
                  <a:pt x="158750" y="138906"/>
                </a:lnTo>
                <a:cubicBezTo>
                  <a:pt x="158750" y="144394"/>
                  <a:pt x="154316" y="148828"/>
                  <a:pt x="148828" y="148828"/>
                </a:cubicBezTo>
                <a:lnTo>
                  <a:pt x="128984" y="148828"/>
                </a:lnTo>
                <a:cubicBezTo>
                  <a:pt x="123496" y="148828"/>
                  <a:pt x="119062" y="144394"/>
                  <a:pt x="119062" y="138906"/>
                </a:cubicBezTo>
                <a:lnTo>
                  <a:pt x="119062" y="119062"/>
                </a:lnTo>
                <a:cubicBezTo>
                  <a:pt x="119062" y="113574"/>
                  <a:pt x="123496" y="109141"/>
                  <a:pt x="128984" y="109141"/>
                </a:cubicBezTo>
                <a:lnTo>
                  <a:pt x="131465" y="109141"/>
                </a:lnTo>
                <a:lnTo>
                  <a:pt x="131465" y="91777"/>
                </a:lnTo>
                <a:cubicBezTo>
                  <a:pt x="131465" y="87654"/>
                  <a:pt x="128147" y="84336"/>
                  <a:pt x="124023" y="84336"/>
                </a:cubicBezTo>
                <a:lnTo>
                  <a:pt x="86816" y="84336"/>
                </a:lnTo>
                <a:lnTo>
                  <a:pt x="86816" y="109141"/>
                </a:lnTo>
                <a:lnTo>
                  <a:pt x="89297" y="109141"/>
                </a:lnTo>
                <a:cubicBezTo>
                  <a:pt x="94785" y="109141"/>
                  <a:pt x="99219" y="113574"/>
                  <a:pt x="99219" y="119062"/>
                </a:cubicBezTo>
                <a:lnTo>
                  <a:pt x="99219" y="138906"/>
                </a:lnTo>
                <a:cubicBezTo>
                  <a:pt x="99219" y="144394"/>
                  <a:pt x="94785" y="148828"/>
                  <a:pt x="89297" y="148828"/>
                </a:cubicBezTo>
                <a:lnTo>
                  <a:pt x="69453" y="148828"/>
                </a:lnTo>
                <a:cubicBezTo>
                  <a:pt x="63965" y="148828"/>
                  <a:pt x="59531" y="144394"/>
                  <a:pt x="59531" y="138906"/>
                </a:cubicBezTo>
                <a:lnTo>
                  <a:pt x="59531" y="119062"/>
                </a:lnTo>
                <a:cubicBezTo>
                  <a:pt x="59531" y="113574"/>
                  <a:pt x="63965" y="109141"/>
                  <a:pt x="69453" y="109141"/>
                </a:cubicBezTo>
                <a:lnTo>
                  <a:pt x="71934" y="109141"/>
                </a:lnTo>
                <a:lnTo>
                  <a:pt x="71934" y="84336"/>
                </a:lnTo>
                <a:lnTo>
                  <a:pt x="34727" y="84336"/>
                </a:lnTo>
                <a:cubicBezTo>
                  <a:pt x="30603" y="84336"/>
                  <a:pt x="27285" y="87654"/>
                  <a:pt x="27285" y="91777"/>
                </a:cubicBezTo>
                <a:lnTo>
                  <a:pt x="27285" y="109141"/>
                </a:lnTo>
                <a:lnTo>
                  <a:pt x="29766" y="109141"/>
                </a:lnTo>
                <a:cubicBezTo>
                  <a:pt x="35254" y="109141"/>
                  <a:pt x="39688" y="113574"/>
                  <a:pt x="39688" y="119062"/>
                </a:cubicBezTo>
                <a:lnTo>
                  <a:pt x="39688" y="138906"/>
                </a:lnTo>
                <a:cubicBezTo>
                  <a:pt x="39688" y="144394"/>
                  <a:pt x="35254" y="148828"/>
                  <a:pt x="29766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19062"/>
                </a:lnTo>
                <a:cubicBezTo>
                  <a:pt x="0" y="113574"/>
                  <a:pt x="4434" y="109141"/>
                  <a:pt x="9922" y="109141"/>
                </a:cubicBezTo>
                <a:lnTo>
                  <a:pt x="12402" y="109141"/>
                </a:lnTo>
                <a:lnTo>
                  <a:pt x="12402" y="91777"/>
                </a:lnTo>
                <a:cubicBezTo>
                  <a:pt x="12402" y="79437"/>
                  <a:pt x="22386" y="69453"/>
                  <a:pt x="34727" y="69453"/>
                </a:cubicBezTo>
                <a:lnTo>
                  <a:pt x="71934" y="69453"/>
                </a:lnTo>
                <a:lnTo>
                  <a:pt x="71934" y="49609"/>
                </a:lnTo>
                <a:lnTo>
                  <a:pt x="69453" y="49609"/>
                </a:lnTo>
                <a:cubicBezTo>
                  <a:pt x="63965" y="49609"/>
                  <a:pt x="59531" y="45176"/>
                  <a:pt x="59531" y="39688"/>
                </a:cubicBezTo>
                <a:lnTo>
                  <a:pt x="59531" y="19844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5" name="Text 53"/>
          <p:cNvSpPr/>
          <p:nvPr/>
        </p:nvSpPr>
        <p:spPr>
          <a:xfrm>
            <a:off x="681037" y="7594602"/>
            <a:ext cx="1110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Milestone 2 Pipeline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78445" y="794385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7" name="Shape 55"/>
          <p:cNvSpPr/>
          <p:nvPr/>
        </p:nvSpPr>
        <p:spPr>
          <a:xfrm>
            <a:off x="721320" y="808672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6970" y="84646"/>
                </a:moveTo>
                <a:cubicBezTo>
                  <a:pt x="109885" y="81731"/>
                  <a:pt x="109885" y="77019"/>
                  <a:pt x="106970" y="74135"/>
                </a:cubicBezTo>
                <a:lnTo>
                  <a:pt x="62322" y="29456"/>
                </a:lnTo>
                <a:cubicBezTo>
                  <a:pt x="60182" y="27316"/>
                  <a:pt x="56989" y="26696"/>
                  <a:pt x="54198" y="27843"/>
                </a:cubicBezTo>
                <a:cubicBezTo>
                  <a:pt x="51408" y="28990"/>
                  <a:pt x="49609" y="31719"/>
                  <a:pt x="49609" y="34727"/>
                </a:cubicBezTo>
                <a:lnTo>
                  <a:pt x="49609" y="59531"/>
                </a:lnTo>
                <a:lnTo>
                  <a:pt x="14883" y="59531"/>
                </a:lnTo>
                <a:cubicBezTo>
                  <a:pt x="6666" y="59531"/>
                  <a:pt x="0" y="66198"/>
                  <a:pt x="0" y="74414"/>
                </a:cubicBezTo>
                <a:lnTo>
                  <a:pt x="0" y="84336"/>
                </a:lnTo>
                <a:cubicBezTo>
                  <a:pt x="0" y="92552"/>
                  <a:pt x="6666" y="99219"/>
                  <a:pt x="14883" y="99219"/>
                </a:cubicBezTo>
                <a:lnTo>
                  <a:pt x="49609" y="99219"/>
                </a:lnTo>
                <a:lnTo>
                  <a:pt x="49609" y="124023"/>
                </a:lnTo>
                <a:cubicBezTo>
                  <a:pt x="49609" y="127031"/>
                  <a:pt x="51408" y="129760"/>
                  <a:pt x="54198" y="130907"/>
                </a:cubicBezTo>
                <a:cubicBezTo>
                  <a:pt x="56989" y="132054"/>
                  <a:pt x="60182" y="131434"/>
                  <a:pt x="62322" y="129294"/>
                </a:cubicBezTo>
                <a:lnTo>
                  <a:pt x="106970" y="84646"/>
                </a:lnTo>
                <a:close/>
                <a:moveTo>
                  <a:pt x="109141" y="128984"/>
                </a:moveTo>
                <a:cubicBezTo>
                  <a:pt x="103653" y="128984"/>
                  <a:pt x="99219" y="133418"/>
                  <a:pt x="99219" y="138906"/>
                </a:cubicBezTo>
                <a:cubicBezTo>
                  <a:pt x="99219" y="144394"/>
                  <a:pt x="103653" y="148828"/>
                  <a:pt x="109141" y="148828"/>
                </a:cubicBezTo>
                <a:lnTo>
                  <a:pt x="128984" y="148828"/>
                </a:lnTo>
                <a:cubicBezTo>
                  <a:pt x="145417" y="148828"/>
                  <a:pt x="158750" y="135496"/>
                  <a:pt x="158750" y="119062"/>
                </a:cubicBezTo>
                <a:lnTo>
                  <a:pt x="158750" y="39688"/>
                </a:lnTo>
                <a:cubicBezTo>
                  <a:pt x="158750" y="23254"/>
                  <a:pt x="145417" y="9922"/>
                  <a:pt x="128984" y="9922"/>
                </a:cubicBezTo>
                <a:lnTo>
                  <a:pt x="109141" y="9922"/>
                </a:lnTo>
                <a:cubicBezTo>
                  <a:pt x="103653" y="9922"/>
                  <a:pt x="99219" y="14356"/>
                  <a:pt x="99219" y="19844"/>
                </a:cubicBezTo>
                <a:cubicBezTo>
                  <a:pt x="99219" y="25332"/>
                  <a:pt x="103653" y="29766"/>
                  <a:pt x="109141" y="29766"/>
                </a:cubicBezTo>
                <a:lnTo>
                  <a:pt x="128984" y="29766"/>
                </a:lnTo>
                <a:cubicBezTo>
                  <a:pt x="134472" y="29766"/>
                  <a:pt x="138906" y="34199"/>
                  <a:pt x="138906" y="39688"/>
                </a:cubicBezTo>
                <a:lnTo>
                  <a:pt x="138906" y="119062"/>
                </a:lnTo>
                <a:cubicBezTo>
                  <a:pt x="138906" y="124551"/>
                  <a:pt x="134472" y="128984"/>
                  <a:pt x="128984" y="128984"/>
                </a:cubicBezTo>
                <a:lnTo>
                  <a:pt x="109141" y="12898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8" name="Text 56"/>
          <p:cNvSpPr/>
          <p:nvPr/>
        </p:nvSpPr>
        <p:spPr>
          <a:xfrm>
            <a:off x="450850" y="8451852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Login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2417167" y="81978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60" name="Shape 58"/>
          <p:cNvSpPr/>
          <p:nvPr/>
        </p:nvSpPr>
        <p:spPr>
          <a:xfrm>
            <a:off x="4094956" y="794385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1" name="Shape 59"/>
          <p:cNvSpPr/>
          <p:nvPr/>
        </p:nvSpPr>
        <p:spPr>
          <a:xfrm>
            <a:off x="4247753" y="8086727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2" name="Text 60"/>
          <p:cNvSpPr/>
          <p:nvPr/>
        </p:nvSpPr>
        <p:spPr>
          <a:xfrm>
            <a:off x="3874294" y="8451852"/>
            <a:ext cx="88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DB Validation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026746" y="81978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4" name="Shape 62"/>
          <p:cNvSpPr/>
          <p:nvPr/>
        </p:nvSpPr>
        <p:spPr>
          <a:xfrm>
            <a:off x="7713861" y="794385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65" name="Shape 63"/>
          <p:cNvSpPr/>
          <p:nvPr/>
        </p:nvSpPr>
        <p:spPr>
          <a:xfrm>
            <a:off x="7846814" y="8086727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19062" y="44648"/>
                </a:moveTo>
                <a:cubicBezTo>
                  <a:pt x="119062" y="74786"/>
                  <a:pt x="92397" y="99219"/>
                  <a:pt x="59531" y="99219"/>
                </a:cubicBezTo>
                <a:cubicBezTo>
                  <a:pt x="51253" y="99219"/>
                  <a:pt x="43377" y="97668"/>
                  <a:pt x="36215" y="94878"/>
                </a:cubicBezTo>
                <a:lnTo>
                  <a:pt x="10914" y="108272"/>
                </a:lnTo>
                <a:cubicBezTo>
                  <a:pt x="8031" y="109792"/>
                  <a:pt x="4496" y="109265"/>
                  <a:pt x="2170" y="106970"/>
                </a:cubicBezTo>
                <a:cubicBezTo>
                  <a:pt x="-155" y="104676"/>
                  <a:pt x="-682" y="101110"/>
                  <a:pt x="868" y="98227"/>
                </a:cubicBezTo>
                <a:lnTo>
                  <a:pt x="11906" y="77391"/>
                </a:lnTo>
                <a:cubicBezTo>
                  <a:pt x="4434" y="68275"/>
                  <a:pt x="0" y="56927"/>
                  <a:pt x="0" y="44648"/>
                </a:cubicBezTo>
                <a:cubicBezTo>
                  <a:pt x="0" y="14511"/>
                  <a:pt x="26665" y="-9922"/>
                  <a:pt x="59531" y="-9922"/>
                </a:cubicBezTo>
                <a:cubicBezTo>
                  <a:pt x="92397" y="-9922"/>
                  <a:pt x="119062" y="14511"/>
                  <a:pt x="119062" y="44648"/>
                </a:cubicBezTo>
                <a:close/>
                <a:moveTo>
                  <a:pt x="119062" y="158750"/>
                </a:moveTo>
                <a:cubicBezTo>
                  <a:pt x="89886" y="158750"/>
                  <a:pt x="65608" y="139495"/>
                  <a:pt x="60523" y="114102"/>
                </a:cubicBezTo>
                <a:cubicBezTo>
                  <a:pt x="97730" y="113636"/>
                  <a:pt x="130070" y="87157"/>
                  <a:pt x="133635" y="51253"/>
                </a:cubicBezTo>
                <a:cubicBezTo>
                  <a:pt x="159463" y="57206"/>
                  <a:pt x="178594" y="78631"/>
                  <a:pt x="178594" y="104180"/>
                </a:cubicBezTo>
                <a:cubicBezTo>
                  <a:pt x="178594" y="116458"/>
                  <a:pt x="174160" y="127806"/>
                  <a:pt x="166688" y="136922"/>
                </a:cubicBezTo>
                <a:lnTo>
                  <a:pt x="177726" y="157758"/>
                </a:lnTo>
                <a:cubicBezTo>
                  <a:pt x="179245" y="160641"/>
                  <a:pt x="178718" y="164176"/>
                  <a:pt x="176423" y="166501"/>
                </a:cubicBezTo>
                <a:cubicBezTo>
                  <a:pt x="174129" y="168827"/>
                  <a:pt x="170563" y="169354"/>
                  <a:pt x="167680" y="167804"/>
                </a:cubicBezTo>
                <a:lnTo>
                  <a:pt x="142379" y="154409"/>
                </a:lnTo>
                <a:cubicBezTo>
                  <a:pt x="135217" y="157200"/>
                  <a:pt x="127341" y="158750"/>
                  <a:pt x="119062" y="1587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6" name="Text 64"/>
          <p:cNvSpPr/>
          <p:nvPr/>
        </p:nvSpPr>
        <p:spPr>
          <a:xfrm>
            <a:off x="7483872" y="8451852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 Interface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654977" y="81978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68" name="Shape 66"/>
          <p:cNvSpPr/>
          <p:nvPr/>
        </p:nvSpPr>
        <p:spPr>
          <a:xfrm>
            <a:off x="11204277" y="794385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9" name="Shape 67"/>
          <p:cNvSpPr/>
          <p:nvPr/>
        </p:nvSpPr>
        <p:spPr>
          <a:xfrm>
            <a:off x="11347152" y="808672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3314" y="5705"/>
                </a:moveTo>
                <a:cubicBezTo>
                  <a:pt x="67035" y="7255"/>
                  <a:pt x="69453" y="10852"/>
                  <a:pt x="69453" y="14883"/>
                </a:cubicBezTo>
                <a:lnTo>
                  <a:pt x="69453" y="39688"/>
                </a:lnTo>
                <a:lnTo>
                  <a:pt x="104180" y="39688"/>
                </a:lnTo>
                <a:cubicBezTo>
                  <a:pt x="134317" y="39688"/>
                  <a:pt x="158750" y="64120"/>
                  <a:pt x="158750" y="94258"/>
                </a:cubicBezTo>
                <a:cubicBezTo>
                  <a:pt x="158750" y="129387"/>
                  <a:pt x="133480" y="145076"/>
                  <a:pt x="127682" y="148239"/>
                </a:cubicBezTo>
                <a:cubicBezTo>
                  <a:pt x="126907" y="148673"/>
                  <a:pt x="126039" y="148828"/>
                  <a:pt x="125171" y="148828"/>
                </a:cubicBezTo>
                <a:cubicBezTo>
                  <a:pt x="121791" y="148828"/>
                  <a:pt x="119062" y="146069"/>
                  <a:pt x="119062" y="142720"/>
                </a:cubicBezTo>
                <a:cubicBezTo>
                  <a:pt x="119062" y="140395"/>
                  <a:pt x="120396" y="138255"/>
                  <a:pt x="122101" y="136674"/>
                </a:cubicBezTo>
                <a:cubicBezTo>
                  <a:pt x="125016" y="133945"/>
                  <a:pt x="128984" y="128488"/>
                  <a:pt x="128984" y="119094"/>
                </a:cubicBezTo>
                <a:cubicBezTo>
                  <a:pt x="128984" y="102660"/>
                  <a:pt x="115652" y="89328"/>
                  <a:pt x="99219" y="89328"/>
                </a:cubicBezTo>
                <a:lnTo>
                  <a:pt x="69453" y="89328"/>
                </a:lnTo>
                <a:lnTo>
                  <a:pt x="69453" y="114133"/>
                </a:lnTo>
                <a:cubicBezTo>
                  <a:pt x="69453" y="118132"/>
                  <a:pt x="67035" y="121760"/>
                  <a:pt x="63314" y="123310"/>
                </a:cubicBezTo>
                <a:cubicBezTo>
                  <a:pt x="59593" y="124861"/>
                  <a:pt x="55345" y="123992"/>
                  <a:pt x="52493" y="121171"/>
                </a:cubicBezTo>
                <a:lnTo>
                  <a:pt x="2884" y="71562"/>
                </a:lnTo>
                <a:cubicBezTo>
                  <a:pt x="-992" y="67686"/>
                  <a:pt x="-992" y="61392"/>
                  <a:pt x="2884" y="57516"/>
                </a:cubicBezTo>
                <a:lnTo>
                  <a:pt x="52493" y="7906"/>
                </a:lnTo>
                <a:cubicBezTo>
                  <a:pt x="55345" y="5054"/>
                  <a:pt x="59593" y="4217"/>
                  <a:pt x="63314" y="576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0" name="Text 68"/>
          <p:cNvSpPr/>
          <p:nvPr/>
        </p:nvSpPr>
        <p:spPr>
          <a:xfrm>
            <a:off x="11112104" y="8451852"/>
            <a:ext cx="62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757" y="364757"/>
            <a:ext cx="11526319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spc="251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MILESTONE 2: USER EXPERIENCE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757" y="620087"/>
            <a:ext cx="11681340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7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ChatBot Interface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4757" y="1130746"/>
            <a:ext cx="11553675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Seamless conversational banking experience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757" y="1495503"/>
            <a:ext cx="729514" cy="36476"/>
          </a:xfrm>
          <a:custGeom>
            <a:avLst/>
            <a:gdLst/>
            <a:ahLst/>
            <a:cxnLst/>
            <a:rect l="l" t="t" r="r" b="b"/>
            <a:pathLst>
              <a:path w="729514" h="36476">
                <a:moveTo>
                  <a:pt x="0" y="0"/>
                </a:moveTo>
                <a:lnTo>
                  <a:pt x="729514" y="0"/>
                </a:lnTo>
                <a:lnTo>
                  <a:pt x="729514" y="36476"/>
                </a:lnTo>
                <a:lnTo>
                  <a:pt x="0" y="36476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6" name="Shape 4"/>
          <p:cNvSpPr/>
          <p:nvPr/>
        </p:nvSpPr>
        <p:spPr>
          <a:xfrm>
            <a:off x="364757" y="1677882"/>
            <a:ext cx="7340733" cy="5179548"/>
          </a:xfrm>
          <a:custGeom>
            <a:avLst/>
            <a:gdLst/>
            <a:ahLst/>
            <a:cxnLst/>
            <a:rect l="l" t="t" r="r" b="b"/>
            <a:pathLst>
              <a:path w="7340733" h="5179548">
                <a:moveTo>
                  <a:pt x="72928" y="0"/>
                </a:moveTo>
                <a:lnTo>
                  <a:pt x="7267805" y="0"/>
                </a:lnTo>
                <a:cubicBezTo>
                  <a:pt x="7308082" y="0"/>
                  <a:pt x="7340733" y="32651"/>
                  <a:pt x="7340733" y="72928"/>
                </a:cubicBezTo>
                <a:lnTo>
                  <a:pt x="7340733" y="5106620"/>
                </a:lnTo>
                <a:cubicBezTo>
                  <a:pt x="7340733" y="5146897"/>
                  <a:pt x="7308082" y="5179548"/>
                  <a:pt x="7267805" y="5179548"/>
                </a:cubicBezTo>
                <a:lnTo>
                  <a:pt x="72928" y="5179548"/>
                </a:lnTo>
                <a:cubicBezTo>
                  <a:pt x="32651" y="5179548"/>
                  <a:pt x="0" y="5146897"/>
                  <a:pt x="0" y="5106620"/>
                </a:cubicBezTo>
                <a:lnTo>
                  <a:pt x="0" y="72928"/>
                </a:lnTo>
                <a:cubicBezTo>
                  <a:pt x="0" y="32678"/>
                  <a:pt x="32678" y="0"/>
                  <a:pt x="72928" y="0"/>
                </a:cubicBez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7" name="Shape 5"/>
          <p:cNvSpPr/>
          <p:nvPr/>
        </p:nvSpPr>
        <p:spPr>
          <a:xfrm>
            <a:off x="610968" y="1933096"/>
            <a:ext cx="218854" cy="218854"/>
          </a:xfrm>
          <a:custGeom>
            <a:avLst/>
            <a:gdLst/>
            <a:ahLst/>
            <a:cxnLst/>
            <a:rect l="l" t="t" r="r" b="b"/>
            <a:pathLst>
              <a:path w="218854" h="218854">
                <a:moveTo>
                  <a:pt x="118745" y="3676"/>
                </a:moveTo>
                <a:cubicBezTo>
                  <a:pt x="113488" y="-1197"/>
                  <a:pt x="105366" y="-1197"/>
                  <a:pt x="100151" y="3676"/>
                </a:cubicBezTo>
                <a:lnTo>
                  <a:pt x="4403" y="92586"/>
                </a:lnTo>
                <a:cubicBezTo>
                  <a:pt x="299" y="96433"/>
                  <a:pt x="-1069" y="102374"/>
                  <a:pt x="983" y="107589"/>
                </a:cubicBezTo>
                <a:cubicBezTo>
                  <a:pt x="3035" y="112804"/>
                  <a:pt x="8036" y="116266"/>
                  <a:pt x="13678" y="116266"/>
                </a:cubicBezTo>
                <a:lnTo>
                  <a:pt x="20518" y="116266"/>
                </a:lnTo>
                <a:lnTo>
                  <a:pt x="20518" y="191497"/>
                </a:lnTo>
                <a:cubicBezTo>
                  <a:pt x="20518" y="206586"/>
                  <a:pt x="32785" y="218854"/>
                  <a:pt x="47874" y="218854"/>
                </a:cubicBezTo>
                <a:lnTo>
                  <a:pt x="170980" y="218854"/>
                </a:lnTo>
                <a:cubicBezTo>
                  <a:pt x="186069" y="218854"/>
                  <a:pt x="198337" y="206586"/>
                  <a:pt x="198337" y="191497"/>
                </a:cubicBezTo>
                <a:lnTo>
                  <a:pt x="198337" y="116266"/>
                </a:lnTo>
                <a:lnTo>
                  <a:pt x="205176" y="116266"/>
                </a:lnTo>
                <a:cubicBezTo>
                  <a:pt x="210818" y="116266"/>
                  <a:pt x="215862" y="112804"/>
                  <a:pt x="217914" y="107589"/>
                </a:cubicBezTo>
                <a:cubicBezTo>
                  <a:pt x="219966" y="102374"/>
                  <a:pt x="218598" y="96390"/>
                  <a:pt x="214494" y="92586"/>
                </a:cubicBezTo>
                <a:lnTo>
                  <a:pt x="118745" y="3676"/>
                </a:lnTo>
                <a:close/>
                <a:moveTo>
                  <a:pt x="102588" y="136784"/>
                </a:moveTo>
                <a:lnTo>
                  <a:pt x="116266" y="136784"/>
                </a:lnTo>
                <a:cubicBezTo>
                  <a:pt x="127594" y="136784"/>
                  <a:pt x="136784" y="145974"/>
                  <a:pt x="136784" y="157301"/>
                </a:cubicBezTo>
                <a:lnTo>
                  <a:pt x="136784" y="198337"/>
                </a:lnTo>
                <a:lnTo>
                  <a:pt x="82070" y="198337"/>
                </a:lnTo>
                <a:lnTo>
                  <a:pt x="82070" y="157301"/>
                </a:lnTo>
                <a:cubicBezTo>
                  <a:pt x="82070" y="145974"/>
                  <a:pt x="91260" y="136784"/>
                  <a:pt x="102588" y="13678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857179" y="1896736"/>
            <a:ext cx="6738884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ChatBot Home Page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3611" y="2334329"/>
            <a:ext cx="6903025" cy="4304132"/>
          </a:xfrm>
          <a:custGeom>
            <a:avLst/>
            <a:gdLst/>
            <a:ahLst/>
            <a:cxnLst/>
            <a:rect l="l" t="t" r="r" b="b"/>
            <a:pathLst>
              <a:path w="6903025" h="4304132">
                <a:moveTo>
                  <a:pt x="72955" y="0"/>
                </a:moveTo>
                <a:lnTo>
                  <a:pt x="6830070" y="0"/>
                </a:lnTo>
                <a:cubicBezTo>
                  <a:pt x="6870362" y="0"/>
                  <a:pt x="6903025" y="32663"/>
                  <a:pt x="6903025" y="72955"/>
                </a:cubicBezTo>
                <a:lnTo>
                  <a:pt x="6903025" y="4231177"/>
                </a:lnTo>
                <a:cubicBezTo>
                  <a:pt x="6903025" y="4271469"/>
                  <a:pt x="6870362" y="4304132"/>
                  <a:pt x="6830070" y="4304132"/>
                </a:cubicBezTo>
                <a:lnTo>
                  <a:pt x="72955" y="4304132"/>
                </a:lnTo>
                <a:cubicBezTo>
                  <a:pt x="32663" y="4304132"/>
                  <a:pt x="0" y="4271469"/>
                  <a:pt x="0" y="4231177"/>
                </a:cubicBezTo>
                <a:lnTo>
                  <a:pt x="0" y="72955"/>
                </a:lnTo>
                <a:cubicBezTo>
                  <a:pt x="0" y="32663"/>
                  <a:pt x="32663" y="0"/>
                  <a:pt x="7295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Shape 8"/>
          <p:cNvSpPr/>
          <p:nvPr/>
        </p:nvSpPr>
        <p:spPr>
          <a:xfrm>
            <a:off x="802465" y="2553183"/>
            <a:ext cx="6465316" cy="838941"/>
          </a:xfrm>
          <a:custGeom>
            <a:avLst/>
            <a:gdLst/>
            <a:ahLst/>
            <a:cxnLst/>
            <a:rect l="l" t="t" r="r" b="b"/>
            <a:pathLst>
              <a:path w="6465316" h="838941">
                <a:moveTo>
                  <a:pt x="36477" y="0"/>
                </a:moveTo>
                <a:lnTo>
                  <a:pt x="6428839" y="0"/>
                </a:lnTo>
                <a:cubicBezTo>
                  <a:pt x="6448985" y="0"/>
                  <a:pt x="6465316" y="16331"/>
                  <a:pt x="6465316" y="36477"/>
                </a:cubicBezTo>
                <a:lnTo>
                  <a:pt x="6465316" y="802464"/>
                </a:lnTo>
                <a:cubicBezTo>
                  <a:pt x="6465316" y="822610"/>
                  <a:pt x="6448985" y="838941"/>
                  <a:pt x="6428839" y="838941"/>
                </a:cubicBezTo>
                <a:lnTo>
                  <a:pt x="36477" y="838941"/>
                </a:lnTo>
                <a:cubicBezTo>
                  <a:pt x="16331" y="838941"/>
                  <a:pt x="0" y="822610"/>
                  <a:pt x="0" y="802464"/>
                </a:cubicBezTo>
                <a:lnTo>
                  <a:pt x="0" y="36477"/>
                </a:lnTo>
                <a:cubicBezTo>
                  <a:pt x="0" y="16345"/>
                  <a:pt x="16345" y="0"/>
                  <a:pt x="36477" y="0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1" name="Shape 9"/>
          <p:cNvSpPr/>
          <p:nvPr/>
        </p:nvSpPr>
        <p:spPr>
          <a:xfrm>
            <a:off x="948368" y="2717323"/>
            <a:ext cx="273568" cy="218854"/>
          </a:xfrm>
          <a:custGeom>
            <a:avLst/>
            <a:gdLst/>
            <a:ahLst/>
            <a:cxnLst/>
            <a:rect l="l" t="t" r="r" b="b"/>
            <a:pathLst>
              <a:path w="273568" h="218854">
                <a:moveTo>
                  <a:pt x="150462" y="0"/>
                </a:moveTo>
                <a:cubicBezTo>
                  <a:pt x="150462" y="-7566"/>
                  <a:pt x="144350" y="-13678"/>
                  <a:pt x="136784" y="-13678"/>
                </a:cubicBezTo>
                <a:cubicBezTo>
                  <a:pt x="129218" y="-13678"/>
                  <a:pt x="123105" y="-7566"/>
                  <a:pt x="123105" y="0"/>
                </a:cubicBezTo>
                <a:lnTo>
                  <a:pt x="123105" y="27357"/>
                </a:lnTo>
                <a:lnTo>
                  <a:pt x="82070" y="27357"/>
                </a:lnTo>
                <a:cubicBezTo>
                  <a:pt x="59415" y="27357"/>
                  <a:pt x="41035" y="45737"/>
                  <a:pt x="41035" y="68392"/>
                </a:cubicBezTo>
                <a:lnTo>
                  <a:pt x="41035" y="164141"/>
                </a:lnTo>
                <a:cubicBezTo>
                  <a:pt x="41035" y="186795"/>
                  <a:pt x="59415" y="205176"/>
                  <a:pt x="82070" y="205176"/>
                </a:cubicBezTo>
                <a:lnTo>
                  <a:pt x="191497" y="205176"/>
                </a:lnTo>
                <a:cubicBezTo>
                  <a:pt x="214152" y="205176"/>
                  <a:pt x="232533" y="186795"/>
                  <a:pt x="232533" y="164141"/>
                </a:cubicBezTo>
                <a:lnTo>
                  <a:pt x="232533" y="68392"/>
                </a:lnTo>
                <a:cubicBezTo>
                  <a:pt x="232533" y="45737"/>
                  <a:pt x="214152" y="27357"/>
                  <a:pt x="191497" y="27357"/>
                </a:cubicBezTo>
                <a:lnTo>
                  <a:pt x="150462" y="27357"/>
                </a:lnTo>
                <a:lnTo>
                  <a:pt x="150462" y="0"/>
                </a:lnTo>
                <a:close/>
                <a:moveTo>
                  <a:pt x="68392" y="157301"/>
                </a:moveTo>
                <a:cubicBezTo>
                  <a:pt x="68392" y="151616"/>
                  <a:pt x="72966" y="147043"/>
                  <a:pt x="78651" y="147043"/>
                </a:cubicBezTo>
                <a:lnTo>
                  <a:pt x="92329" y="147043"/>
                </a:lnTo>
                <a:cubicBezTo>
                  <a:pt x="98014" y="147043"/>
                  <a:pt x="102588" y="151616"/>
                  <a:pt x="102588" y="157301"/>
                </a:cubicBezTo>
                <a:cubicBezTo>
                  <a:pt x="102588" y="162986"/>
                  <a:pt x="98014" y="167560"/>
                  <a:pt x="92329" y="167560"/>
                </a:cubicBezTo>
                <a:lnTo>
                  <a:pt x="78651" y="167560"/>
                </a:lnTo>
                <a:cubicBezTo>
                  <a:pt x="72966" y="167560"/>
                  <a:pt x="68392" y="162986"/>
                  <a:pt x="68392" y="157301"/>
                </a:cubicBezTo>
                <a:close/>
                <a:moveTo>
                  <a:pt x="119686" y="157301"/>
                </a:moveTo>
                <a:cubicBezTo>
                  <a:pt x="119686" y="151616"/>
                  <a:pt x="124260" y="147043"/>
                  <a:pt x="129945" y="147043"/>
                </a:cubicBezTo>
                <a:lnTo>
                  <a:pt x="143623" y="147043"/>
                </a:lnTo>
                <a:cubicBezTo>
                  <a:pt x="149308" y="147043"/>
                  <a:pt x="153882" y="151616"/>
                  <a:pt x="153882" y="157301"/>
                </a:cubicBezTo>
                <a:cubicBezTo>
                  <a:pt x="153882" y="162986"/>
                  <a:pt x="149308" y="167560"/>
                  <a:pt x="143623" y="167560"/>
                </a:cubicBezTo>
                <a:lnTo>
                  <a:pt x="129945" y="167560"/>
                </a:lnTo>
                <a:cubicBezTo>
                  <a:pt x="124260" y="167560"/>
                  <a:pt x="119686" y="162986"/>
                  <a:pt x="119686" y="157301"/>
                </a:cubicBezTo>
                <a:close/>
                <a:moveTo>
                  <a:pt x="170980" y="157301"/>
                </a:moveTo>
                <a:cubicBezTo>
                  <a:pt x="170980" y="151616"/>
                  <a:pt x="175554" y="147043"/>
                  <a:pt x="181239" y="147043"/>
                </a:cubicBezTo>
                <a:lnTo>
                  <a:pt x="194917" y="147043"/>
                </a:lnTo>
                <a:cubicBezTo>
                  <a:pt x="200602" y="147043"/>
                  <a:pt x="205176" y="151616"/>
                  <a:pt x="205176" y="157301"/>
                </a:cubicBezTo>
                <a:cubicBezTo>
                  <a:pt x="205176" y="162986"/>
                  <a:pt x="200602" y="167560"/>
                  <a:pt x="194917" y="167560"/>
                </a:cubicBezTo>
                <a:lnTo>
                  <a:pt x="181239" y="167560"/>
                </a:lnTo>
                <a:cubicBezTo>
                  <a:pt x="175554" y="167560"/>
                  <a:pt x="170980" y="162986"/>
                  <a:pt x="170980" y="157301"/>
                </a:cubicBezTo>
                <a:close/>
                <a:moveTo>
                  <a:pt x="95749" y="75231"/>
                </a:moveTo>
                <a:cubicBezTo>
                  <a:pt x="107073" y="75231"/>
                  <a:pt x="116266" y="84425"/>
                  <a:pt x="116266" y="95749"/>
                </a:cubicBezTo>
                <a:cubicBezTo>
                  <a:pt x="116266" y="107073"/>
                  <a:pt x="107073" y="116266"/>
                  <a:pt x="95749" y="116266"/>
                </a:cubicBezTo>
                <a:cubicBezTo>
                  <a:pt x="84425" y="116266"/>
                  <a:pt x="75231" y="107073"/>
                  <a:pt x="75231" y="95749"/>
                </a:cubicBezTo>
                <a:cubicBezTo>
                  <a:pt x="75231" y="84425"/>
                  <a:pt x="84425" y="75231"/>
                  <a:pt x="95749" y="75231"/>
                </a:cubicBezTo>
                <a:close/>
                <a:moveTo>
                  <a:pt x="157301" y="95749"/>
                </a:moveTo>
                <a:cubicBezTo>
                  <a:pt x="157301" y="84425"/>
                  <a:pt x="166495" y="75231"/>
                  <a:pt x="177819" y="75231"/>
                </a:cubicBezTo>
                <a:cubicBezTo>
                  <a:pt x="189143" y="75231"/>
                  <a:pt x="198337" y="84425"/>
                  <a:pt x="198337" y="95749"/>
                </a:cubicBezTo>
                <a:cubicBezTo>
                  <a:pt x="198337" y="107073"/>
                  <a:pt x="189143" y="116266"/>
                  <a:pt x="177819" y="116266"/>
                </a:cubicBezTo>
                <a:cubicBezTo>
                  <a:pt x="166495" y="116266"/>
                  <a:pt x="157301" y="107073"/>
                  <a:pt x="157301" y="95749"/>
                </a:cubicBezTo>
                <a:close/>
                <a:moveTo>
                  <a:pt x="27357" y="95749"/>
                </a:moveTo>
                <a:cubicBezTo>
                  <a:pt x="27357" y="88183"/>
                  <a:pt x="21244" y="82070"/>
                  <a:pt x="13678" y="82070"/>
                </a:cubicBezTo>
                <a:cubicBezTo>
                  <a:pt x="6113" y="82070"/>
                  <a:pt x="0" y="88183"/>
                  <a:pt x="0" y="95749"/>
                </a:cubicBezTo>
                <a:lnTo>
                  <a:pt x="0" y="136784"/>
                </a:lnTo>
                <a:cubicBezTo>
                  <a:pt x="0" y="144350"/>
                  <a:pt x="6113" y="150462"/>
                  <a:pt x="13678" y="150462"/>
                </a:cubicBezTo>
                <a:cubicBezTo>
                  <a:pt x="21244" y="150462"/>
                  <a:pt x="27357" y="144350"/>
                  <a:pt x="27357" y="136784"/>
                </a:cubicBezTo>
                <a:lnTo>
                  <a:pt x="27357" y="95749"/>
                </a:lnTo>
                <a:close/>
                <a:moveTo>
                  <a:pt x="259889" y="82070"/>
                </a:moveTo>
                <a:cubicBezTo>
                  <a:pt x="252323" y="82070"/>
                  <a:pt x="246211" y="88183"/>
                  <a:pt x="246211" y="95749"/>
                </a:cubicBezTo>
                <a:lnTo>
                  <a:pt x="246211" y="136784"/>
                </a:lnTo>
                <a:cubicBezTo>
                  <a:pt x="246211" y="144350"/>
                  <a:pt x="252323" y="150462"/>
                  <a:pt x="259889" y="150462"/>
                </a:cubicBezTo>
                <a:cubicBezTo>
                  <a:pt x="267455" y="150462"/>
                  <a:pt x="273568" y="144350"/>
                  <a:pt x="273568" y="136784"/>
                </a:cubicBezTo>
                <a:lnTo>
                  <a:pt x="273568" y="95749"/>
                </a:lnTo>
                <a:cubicBezTo>
                  <a:pt x="273568" y="88183"/>
                  <a:pt x="267455" y="82070"/>
                  <a:pt x="259889" y="8207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1331363" y="2699085"/>
            <a:ext cx="1057795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1A1D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BankBot AI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8368" y="3027367"/>
            <a:ext cx="624646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Your intelligent banking assistant - ready to help you 24/7 with all your banking needs.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2465" y="3538026"/>
            <a:ext cx="6465316" cy="729514"/>
          </a:xfrm>
          <a:custGeom>
            <a:avLst/>
            <a:gdLst/>
            <a:ahLst/>
            <a:cxnLst/>
            <a:rect l="l" t="t" r="r" b="b"/>
            <a:pathLst>
              <a:path w="6465316" h="729514">
                <a:moveTo>
                  <a:pt x="36476" y="0"/>
                </a:moveTo>
                <a:lnTo>
                  <a:pt x="6428841" y="0"/>
                </a:lnTo>
                <a:cubicBezTo>
                  <a:pt x="6448986" y="0"/>
                  <a:pt x="6465316" y="16331"/>
                  <a:pt x="6465316" y="36476"/>
                </a:cubicBezTo>
                <a:lnTo>
                  <a:pt x="6465316" y="693038"/>
                </a:lnTo>
                <a:cubicBezTo>
                  <a:pt x="6465316" y="713183"/>
                  <a:pt x="6448986" y="729514"/>
                  <a:pt x="6428841" y="729514"/>
                </a:cubicBezTo>
                <a:lnTo>
                  <a:pt x="36476" y="729514"/>
                </a:lnTo>
                <a:cubicBezTo>
                  <a:pt x="16331" y="729514"/>
                  <a:pt x="0" y="713183"/>
                  <a:pt x="0" y="693038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15" name="Shape 13"/>
          <p:cNvSpPr/>
          <p:nvPr/>
        </p:nvSpPr>
        <p:spPr>
          <a:xfrm>
            <a:off x="948368" y="3683929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145903" y="0"/>
                </a:moveTo>
                <a:lnTo>
                  <a:pt x="145903" y="0"/>
                </a:lnTo>
                <a:cubicBezTo>
                  <a:pt x="226483" y="0"/>
                  <a:pt x="291806" y="65323"/>
                  <a:pt x="291806" y="145903"/>
                </a:cubicBezTo>
                <a:lnTo>
                  <a:pt x="291806" y="145903"/>
                </a:lnTo>
                <a:cubicBezTo>
                  <a:pt x="291806" y="226483"/>
                  <a:pt x="226483" y="291806"/>
                  <a:pt x="145903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0697" y="3765999"/>
            <a:ext cx="111707" cy="127665"/>
          </a:xfrm>
          <a:custGeom>
            <a:avLst/>
            <a:gdLst/>
            <a:ahLst/>
            <a:cxnLst/>
            <a:rect l="l" t="t" r="r" b="b"/>
            <a:pathLst>
              <a:path w="111707" h="127665">
                <a:moveTo>
                  <a:pt x="55853" y="61838"/>
                </a:moveTo>
                <a:cubicBezTo>
                  <a:pt x="72368" y="61838"/>
                  <a:pt x="85775" y="48430"/>
                  <a:pt x="85775" y="31916"/>
                </a:cubicBezTo>
                <a:cubicBezTo>
                  <a:pt x="85775" y="15402"/>
                  <a:pt x="72368" y="1995"/>
                  <a:pt x="55853" y="1995"/>
                </a:cubicBezTo>
                <a:cubicBezTo>
                  <a:pt x="39339" y="1995"/>
                  <a:pt x="25932" y="15402"/>
                  <a:pt x="25932" y="31916"/>
                </a:cubicBezTo>
                <a:cubicBezTo>
                  <a:pt x="25932" y="48430"/>
                  <a:pt x="39339" y="61838"/>
                  <a:pt x="55853" y="61838"/>
                </a:cubicBezTo>
                <a:close/>
                <a:moveTo>
                  <a:pt x="48448" y="75801"/>
                </a:moveTo>
                <a:cubicBezTo>
                  <a:pt x="23887" y="75801"/>
                  <a:pt x="3990" y="95699"/>
                  <a:pt x="3990" y="120259"/>
                </a:cubicBezTo>
                <a:cubicBezTo>
                  <a:pt x="3990" y="124349"/>
                  <a:pt x="7306" y="127665"/>
                  <a:pt x="11395" y="127665"/>
                </a:cubicBezTo>
                <a:lnTo>
                  <a:pt x="100312" y="127665"/>
                </a:lnTo>
                <a:cubicBezTo>
                  <a:pt x="104401" y="127665"/>
                  <a:pt x="107717" y="124349"/>
                  <a:pt x="107717" y="120259"/>
                </a:cubicBezTo>
                <a:cubicBezTo>
                  <a:pt x="107717" y="95699"/>
                  <a:pt x="87820" y="75801"/>
                  <a:pt x="63259" y="75801"/>
                </a:cubicBezTo>
                <a:lnTo>
                  <a:pt x="48448" y="7580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1349601" y="3683929"/>
            <a:ext cx="1887617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9601" y="3902783"/>
            <a:ext cx="189673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What's my account balance?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2465" y="4376967"/>
            <a:ext cx="6465316" cy="948368"/>
          </a:xfrm>
          <a:custGeom>
            <a:avLst/>
            <a:gdLst/>
            <a:ahLst/>
            <a:cxnLst/>
            <a:rect l="l" t="t" r="r" b="b"/>
            <a:pathLst>
              <a:path w="6465316" h="948368">
                <a:moveTo>
                  <a:pt x="36474" y="0"/>
                </a:moveTo>
                <a:lnTo>
                  <a:pt x="6428842" y="0"/>
                </a:lnTo>
                <a:cubicBezTo>
                  <a:pt x="6448973" y="0"/>
                  <a:pt x="6465316" y="16344"/>
                  <a:pt x="6465316" y="36474"/>
                </a:cubicBezTo>
                <a:lnTo>
                  <a:pt x="6465316" y="911894"/>
                </a:lnTo>
                <a:cubicBezTo>
                  <a:pt x="6465316" y="932024"/>
                  <a:pt x="6448973" y="948368"/>
                  <a:pt x="6428842" y="948368"/>
                </a:cubicBezTo>
                <a:lnTo>
                  <a:pt x="36474" y="948368"/>
                </a:lnTo>
                <a:cubicBezTo>
                  <a:pt x="16344" y="948368"/>
                  <a:pt x="0" y="932024"/>
                  <a:pt x="0" y="911894"/>
                </a:cubicBezTo>
                <a:lnTo>
                  <a:pt x="0" y="36474"/>
                </a:lnTo>
                <a:cubicBezTo>
                  <a:pt x="0" y="16344"/>
                  <a:pt x="16344" y="0"/>
                  <a:pt x="36474" y="0"/>
                </a:cubicBez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20" name="Shape 18"/>
          <p:cNvSpPr/>
          <p:nvPr/>
        </p:nvSpPr>
        <p:spPr>
          <a:xfrm>
            <a:off x="948368" y="4522870"/>
            <a:ext cx="291806" cy="291806"/>
          </a:xfrm>
          <a:custGeom>
            <a:avLst/>
            <a:gdLst/>
            <a:ahLst/>
            <a:cxnLst/>
            <a:rect l="l" t="t" r="r" b="b"/>
            <a:pathLst>
              <a:path w="291806" h="291806">
                <a:moveTo>
                  <a:pt x="145903" y="0"/>
                </a:moveTo>
                <a:lnTo>
                  <a:pt x="145903" y="0"/>
                </a:lnTo>
                <a:cubicBezTo>
                  <a:pt x="226483" y="0"/>
                  <a:pt x="291806" y="65323"/>
                  <a:pt x="291806" y="145903"/>
                </a:cubicBezTo>
                <a:lnTo>
                  <a:pt x="291806" y="145903"/>
                </a:lnTo>
                <a:cubicBezTo>
                  <a:pt x="291806" y="226483"/>
                  <a:pt x="226483" y="291806"/>
                  <a:pt x="145903" y="291806"/>
                </a:cubicBezTo>
                <a:lnTo>
                  <a:pt x="145903" y="291806"/>
                </a:lnTo>
                <a:cubicBezTo>
                  <a:pt x="65323" y="291806"/>
                  <a:pt x="0" y="226483"/>
                  <a:pt x="0" y="145903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6760" y="4604940"/>
            <a:ext cx="159581" cy="127665"/>
          </a:xfrm>
          <a:custGeom>
            <a:avLst/>
            <a:gdLst/>
            <a:ahLst/>
            <a:cxnLst/>
            <a:rect l="l" t="t" r="r" b="b"/>
            <a:pathLst>
              <a:path w="159581" h="127665">
                <a:moveTo>
                  <a:pt x="87770" y="0"/>
                </a:moveTo>
                <a:cubicBezTo>
                  <a:pt x="87770" y="-4413"/>
                  <a:pt x="84204" y="-7979"/>
                  <a:pt x="79791" y="-7979"/>
                </a:cubicBezTo>
                <a:cubicBezTo>
                  <a:pt x="75377" y="-7979"/>
                  <a:pt x="71812" y="-4413"/>
                  <a:pt x="71812" y="0"/>
                </a:cubicBezTo>
                <a:lnTo>
                  <a:pt x="71812" y="15958"/>
                </a:lnTo>
                <a:lnTo>
                  <a:pt x="47874" y="15958"/>
                </a:lnTo>
                <a:cubicBezTo>
                  <a:pt x="34659" y="15958"/>
                  <a:pt x="23937" y="26680"/>
                  <a:pt x="23937" y="39895"/>
                </a:cubicBezTo>
                <a:lnTo>
                  <a:pt x="23937" y="95749"/>
                </a:lnTo>
                <a:cubicBezTo>
                  <a:pt x="23937" y="108964"/>
                  <a:pt x="34659" y="119686"/>
                  <a:pt x="47874" y="119686"/>
                </a:cubicBezTo>
                <a:lnTo>
                  <a:pt x="111707" y="119686"/>
                </a:lnTo>
                <a:cubicBezTo>
                  <a:pt x="124922" y="119686"/>
                  <a:pt x="135644" y="108964"/>
                  <a:pt x="135644" y="95749"/>
                </a:cubicBezTo>
                <a:lnTo>
                  <a:pt x="135644" y="39895"/>
                </a:lnTo>
                <a:cubicBezTo>
                  <a:pt x="135644" y="26680"/>
                  <a:pt x="124922" y="15958"/>
                  <a:pt x="111707" y="15958"/>
                </a:cubicBezTo>
                <a:lnTo>
                  <a:pt x="87770" y="15958"/>
                </a:lnTo>
                <a:lnTo>
                  <a:pt x="87770" y="0"/>
                </a:lnTo>
                <a:close/>
                <a:moveTo>
                  <a:pt x="39895" y="91759"/>
                </a:moveTo>
                <a:cubicBezTo>
                  <a:pt x="39895" y="88443"/>
                  <a:pt x="42563" y="85775"/>
                  <a:pt x="45880" y="85775"/>
                </a:cubicBezTo>
                <a:lnTo>
                  <a:pt x="53859" y="85775"/>
                </a:lnTo>
                <a:cubicBezTo>
                  <a:pt x="57175" y="85775"/>
                  <a:pt x="59843" y="88443"/>
                  <a:pt x="59843" y="91759"/>
                </a:cubicBezTo>
                <a:cubicBezTo>
                  <a:pt x="59843" y="95075"/>
                  <a:pt x="57175" y="97743"/>
                  <a:pt x="53859" y="97743"/>
                </a:cubicBezTo>
                <a:lnTo>
                  <a:pt x="45880" y="97743"/>
                </a:lnTo>
                <a:cubicBezTo>
                  <a:pt x="42563" y="97743"/>
                  <a:pt x="39895" y="95075"/>
                  <a:pt x="39895" y="91759"/>
                </a:cubicBezTo>
                <a:close/>
                <a:moveTo>
                  <a:pt x="69817" y="91759"/>
                </a:moveTo>
                <a:cubicBezTo>
                  <a:pt x="69817" y="88443"/>
                  <a:pt x="72485" y="85775"/>
                  <a:pt x="75801" y="85775"/>
                </a:cubicBezTo>
                <a:lnTo>
                  <a:pt x="83780" y="85775"/>
                </a:lnTo>
                <a:cubicBezTo>
                  <a:pt x="87096" y="85775"/>
                  <a:pt x="89764" y="88443"/>
                  <a:pt x="89764" y="91759"/>
                </a:cubicBezTo>
                <a:cubicBezTo>
                  <a:pt x="89764" y="95075"/>
                  <a:pt x="87096" y="97743"/>
                  <a:pt x="83780" y="97743"/>
                </a:cubicBezTo>
                <a:lnTo>
                  <a:pt x="75801" y="97743"/>
                </a:lnTo>
                <a:cubicBezTo>
                  <a:pt x="72485" y="97743"/>
                  <a:pt x="69817" y="95075"/>
                  <a:pt x="69817" y="91759"/>
                </a:cubicBezTo>
                <a:close/>
                <a:moveTo>
                  <a:pt x="99738" y="91759"/>
                </a:moveTo>
                <a:cubicBezTo>
                  <a:pt x="99738" y="88443"/>
                  <a:pt x="102406" y="85775"/>
                  <a:pt x="105723" y="85775"/>
                </a:cubicBezTo>
                <a:lnTo>
                  <a:pt x="113702" y="85775"/>
                </a:lnTo>
                <a:cubicBezTo>
                  <a:pt x="117018" y="85775"/>
                  <a:pt x="119686" y="88443"/>
                  <a:pt x="119686" y="91759"/>
                </a:cubicBezTo>
                <a:cubicBezTo>
                  <a:pt x="119686" y="95075"/>
                  <a:pt x="117018" y="97743"/>
                  <a:pt x="113702" y="97743"/>
                </a:cubicBezTo>
                <a:lnTo>
                  <a:pt x="105723" y="97743"/>
                </a:lnTo>
                <a:cubicBezTo>
                  <a:pt x="102406" y="97743"/>
                  <a:pt x="99738" y="95075"/>
                  <a:pt x="99738" y="91759"/>
                </a:cubicBezTo>
                <a:close/>
                <a:moveTo>
                  <a:pt x="55853" y="43885"/>
                </a:moveTo>
                <a:cubicBezTo>
                  <a:pt x="62459" y="43885"/>
                  <a:pt x="67822" y="49248"/>
                  <a:pt x="67822" y="55853"/>
                </a:cubicBezTo>
                <a:cubicBezTo>
                  <a:pt x="67822" y="62459"/>
                  <a:pt x="62459" y="67822"/>
                  <a:pt x="55853" y="67822"/>
                </a:cubicBezTo>
                <a:cubicBezTo>
                  <a:pt x="49248" y="67822"/>
                  <a:pt x="43885" y="62459"/>
                  <a:pt x="43885" y="55853"/>
                </a:cubicBezTo>
                <a:cubicBezTo>
                  <a:pt x="43885" y="49248"/>
                  <a:pt x="49248" y="43885"/>
                  <a:pt x="55853" y="43885"/>
                </a:cubicBezTo>
                <a:close/>
                <a:moveTo>
                  <a:pt x="91759" y="55853"/>
                </a:moveTo>
                <a:cubicBezTo>
                  <a:pt x="91759" y="49248"/>
                  <a:pt x="97122" y="43885"/>
                  <a:pt x="103728" y="43885"/>
                </a:cubicBezTo>
                <a:cubicBezTo>
                  <a:pt x="110333" y="43885"/>
                  <a:pt x="115696" y="49248"/>
                  <a:pt x="115696" y="55853"/>
                </a:cubicBezTo>
                <a:cubicBezTo>
                  <a:pt x="115696" y="62459"/>
                  <a:pt x="110333" y="67822"/>
                  <a:pt x="103728" y="67822"/>
                </a:cubicBezTo>
                <a:cubicBezTo>
                  <a:pt x="97122" y="67822"/>
                  <a:pt x="91759" y="62459"/>
                  <a:pt x="91759" y="55853"/>
                </a:cubicBezTo>
                <a:close/>
                <a:moveTo>
                  <a:pt x="15958" y="55853"/>
                </a:moveTo>
                <a:cubicBezTo>
                  <a:pt x="15958" y="51440"/>
                  <a:pt x="12392" y="47874"/>
                  <a:pt x="7979" y="47874"/>
                </a:cubicBezTo>
                <a:cubicBezTo>
                  <a:pt x="3566" y="47874"/>
                  <a:pt x="0" y="51440"/>
                  <a:pt x="0" y="55853"/>
                </a:cubicBezTo>
                <a:lnTo>
                  <a:pt x="0" y="79791"/>
                </a:lnTo>
                <a:cubicBezTo>
                  <a:pt x="0" y="84204"/>
                  <a:pt x="3566" y="87770"/>
                  <a:pt x="7979" y="87770"/>
                </a:cubicBezTo>
                <a:cubicBezTo>
                  <a:pt x="12392" y="87770"/>
                  <a:pt x="15958" y="84204"/>
                  <a:pt x="15958" y="79791"/>
                </a:cubicBezTo>
                <a:lnTo>
                  <a:pt x="15958" y="55853"/>
                </a:lnTo>
                <a:close/>
                <a:moveTo>
                  <a:pt x="151602" y="47874"/>
                </a:moveTo>
                <a:cubicBezTo>
                  <a:pt x="147189" y="47874"/>
                  <a:pt x="143623" y="51440"/>
                  <a:pt x="143623" y="55853"/>
                </a:cubicBezTo>
                <a:lnTo>
                  <a:pt x="143623" y="79791"/>
                </a:lnTo>
                <a:cubicBezTo>
                  <a:pt x="143623" y="84204"/>
                  <a:pt x="147189" y="87770"/>
                  <a:pt x="151602" y="87770"/>
                </a:cubicBezTo>
                <a:cubicBezTo>
                  <a:pt x="156016" y="87770"/>
                  <a:pt x="159581" y="84204"/>
                  <a:pt x="159581" y="79791"/>
                </a:cubicBezTo>
                <a:lnTo>
                  <a:pt x="159581" y="55853"/>
                </a:lnTo>
                <a:cubicBezTo>
                  <a:pt x="159581" y="51440"/>
                  <a:pt x="156016" y="47874"/>
                  <a:pt x="151602" y="4787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1349601" y="4522870"/>
            <a:ext cx="5836111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BankBot 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49601" y="4741724"/>
            <a:ext cx="5845230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Your current account balance is $12,450.00. Is there anything else I can help you with today?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2465" y="5890821"/>
            <a:ext cx="6465316" cy="7295"/>
          </a:xfrm>
          <a:custGeom>
            <a:avLst/>
            <a:gdLst/>
            <a:ahLst/>
            <a:cxnLst/>
            <a:rect l="l" t="t" r="r" b="b"/>
            <a:pathLst>
              <a:path w="6465316" h="7295">
                <a:moveTo>
                  <a:pt x="0" y="0"/>
                </a:moveTo>
                <a:lnTo>
                  <a:pt x="6465316" y="0"/>
                </a:lnTo>
                <a:lnTo>
                  <a:pt x="6465316" y="7295"/>
                </a:lnTo>
                <a:lnTo>
                  <a:pt x="0" y="7295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3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06113" y="6044017"/>
            <a:ext cx="5907238" cy="372052"/>
          </a:xfrm>
          <a:custGeom>
            <a:avLst/>
            <a:gdLst/>
            <a:ahLst/>
            <a:cxnLst/>
            <a:rect l="l" t="t" r="r" b="b"/>
            <a:pathLst>
              <a:path w="5907238" h="372052">
                <a:moveTo>
                  <a:pt x="36476" y="0"/>
                </a:moveTo>
                <a:lnTo>
                  <a:pt x="5870762" y="0"/>
                </a:lnTo>
                <a:cubicBezTo>
                  <a:pt x="5890907" y="0"/>
                  <a:pt x="5907238" y="16331"/>
                  <a:pt x="5907238" y="36476"/>
                </a:cubicBezTo>
                <a:lnTo>
                  <a:pt x="5907238" y="335576"/>
                </a:lnTo>
                <a:cubicBezTo>
                  <a:pt x="5907238" y="355721"/>
                  <a:pt x="5890907" y="372052"/>
                  <a:pt x="5870762" y="372052"/>
                </a:cubicBezTo>
                <a:lnTo>
                  <a:pt x="36476" y="372052"/>
                </a:lnTo>
                <a:cubicBezTo>
                  <a:pt x="16331" y="372052"/>
                  <a:pt x="0" y="355721"/>
                  <a:pt x="0" y="335576"/>
                </a:cubicBezTo>
                <a:lnTo>
                  <a:pt x="0" y="36476"/>
                </a:lnTo>
                <a:cubicBezTo>
                  <a:pt x="0" y="16344"/>
                  <a:pt x="16344" y="0"/>
                  <a:pt x="36476" y="0"/>
                </a:cubicBezTo>
                <a:close/>
              </a:path>
            </a:pathLst>
          </a:custGeom>
          <a:solidFill>
            <a:srgbClr val="1A1D21"/>
          </a:solidFill>
          <a:ln w="10160">
            <a:solidFill>
              <a:srgbClr val="6C8EA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92572" y="6047671"/>
            <a:ext cx="474184" cy="364757"/>
          </a:xfrm>
          <a:custGeom>
            <a:avLst/>
            <a:gdLst/>
            <a:ahLst/>
            <a:cxnLst/>
            <a:rect l="l" t="t" r="r" b="b"/>
            <a:pathLst>
              <a:path w="474184" h="364757">
                <a:moveTo>
                  <a:pt x="36476" y="0"/>
                </a:moveTo>
                <a:lnTo>
                  <a:pt x="437708" y="0"/>
                </a:lnTo>
                <a:cubicBezTo>
                  <a:pt x="457853" y="0"/>
                  <a:pt x="474184" y="16331"/>
                  <a:pt x="474184" y="36476"/>
                </a:cubicBezTo>
                <a:lnTo>
                  <a:pt x="474184" y="328281"/>
                </a:lnTo>
                <a:cubicBezTo>
                  <a:pt x="474184" y="348426"/>
                  <a:pt x="457853" y="364757"/>
                  <a:pt x="437708" y="364757"/>
                </a:cubicBezTo>
                <a:lnTo>
                  <a:pt x="36476" y="364757"/>
                </a:lnTo>
                <a:cubicBezTo>
                  <a:pt x="16331" y="364757"/>
                  <a:pt x="0" y="348426"/>
                  <a:pt x="0" y="328281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7" name="Shape 25"/>
          <p:cNvSpPr/>
          <p:nvPr/>
        </p:nvSpPr>
        <p:spPr>
          <a:xfrm>
            <a:off x="6947594" y="6164392"/>
            <a:ext cx="164141" cy="145903"/>
          </a:xfrm>
          <a:custGeom>
            <a:avLst/>
            <a:gdLst/>
            <a:ahLst/>
            <a:cxnLst/>
            <a:rect l="l" t="t" r="r" b="b"/>
            <a:pathLst>
              <a:path w="164141" h="145903">
                <a:moveTo>
                  <a:pt x="152856" y="-7495"/>
                </a:moveTo>
                <a:cubicBezTo>
                  <a:pt x="155649" y="-8492"/>
                  <a:pt x="158726" y="-7780"/>
                  <a:pt x="160835" y="-5699"/>
                </a:cubicBezTo>
                <a:cubicBezTo>
                  <a:pt x="162944" y="-3619"/>
                  <a:pt x="163628" y="-513"/>
                  <a:pt x="162630" y="2280"/>
                </a:cubicBezTo>
                <a:lnTo>
                  <a:pt x="111906" y="143880"/>
                </a:lnTo>
                <a:cubicBezTo>
                  <a:pt x="110481" y="147841"/>
                  <a:pt x="106748" y="150462"/>
                  <a:pt x="102559" y="150462"/>
                </a:cubicBezTo>
                <a:cubicBezTo>
                  <a:pt x="98513" y="150462"/>
                  <a:pt x="94865" y="148012"/>
                  <a:pt x="93355" y="144278"/>
                </a:cubicBezTo>
                <a:lnTo>
                  <a:pt x="75060" y="99254"/>
                </a:lnTo>
                <a:cubicBezTo>
                  <a:pt x="73778" y="96119"/>
                  <a:pt x="74348" y="92529"/>
                  <a:pt x="76542" y="89964"/>
                </a:cubicBezTo>
                <a:lnTo>
                  <a:pt x="103471" y="57934"/>
                </a:lnTo>
                <a:cubicBezTo>
                  <a:pt x="104925" y="56195"/>
                  <a:pt x="104811" y="53659"/>
                  <a:pt x="103215" y="52063"/>
                </a:cubicBezTo>
                <a:cubicBezTo>
                  <a:pt x="101619" y="50468"/>
                  <a:pt x="99054" y="50354"/>
                  <a:pt x="97345" y="51807"/>
                </a:cubicBezTo>
                <a:lnTo>
                  <a:pt x="65314" y="78679"/>
                </a:lnTo>
                <a:cubicBezTo>
                  <a:pt x="62721" y="80845"/>
                  <a:pt x="59159" y="81415"/>
                  <a:pt x="56024" y="80161"/>
                </a:cubicBezTo>
                <a:lnTo>
                  <a:pt x="10857" y="61781"/>
                </a:lnTo>
                <a:cubicBezTo>
                  <a:pt x="7124" y="60270"/>
                  <a:pt x="4673" y="56623"/>
                  <a:pt x="4673" y="52576"/>
                </a:cubicBezTo>
                <a:cubicBezTo>
                  <a:pt x="4673" y="48387"/>
                  <a:pt x="7295" y="44654"/>
                  <a:pt x="11256" y="43229"/>
                </a:cubicBezTo>
                <a:lnTo>
                  <a:pt x="152856" y="-749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Shape 26"/>
          <p:cNvSpPr/>
          <p:nvPr/>
        </p:nvSpPr>
        <p:spPr>
          <a:xfrm>
            <a:off x="8014508" y="1677882"/>
            <a:ext cx="3811710" cy="2845104"/>
          </a:xfrm>
          <a:custGeom>
            <a:avLst/>
            <a:gdLst/>
            <a:ahLst/>
            <a:cxnLst/>
            <a:rect l="l" t="t" r="r" b="b"/>
            <a:pathLst>
              <a:path w="3811710" h="2845104">
                <a:moveTo>
                  <a:pt x="0" y="0"/>
                </a:moveTo>
                <a:lnTo>
                  <a:pt x="3811710" y="0"/>
                </a:lnTo>
                <a:lnTo>
                  <a:pt x="3811710" y="2845104"/>
                </a:lnTo>
                <a:lnTo>
                  <a:pt x="0" y="2845104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29" name="Shape 27"/>
          <p:cNvSpPr/>
          <p:nvPr/>
        </p:nvSpPr>
        <p:spPr>
          <a:xfrm>
            <a:off x="8014508" y="1677882"/>
            <a:ext cx="36476" cy="2845104"/>
          </a:xfrm>
          <a:custGeom>
            <a:avLst/>
            <a:gdLst/>
            <a:ahLst/>
            <a:cxnLst/>
            <a:rect l="l" t="t" r="r" b="b"/>
            <a:pathLst>
              <a:path w="36476" h="2845104">
                <a:moveTo>
                  <a:pt x="0" y="0"/>
                </a:moveTo>
                <a:lnTo>
                  <a:pt x="36476" y="0"/>
                </a:lnTo>
                <a:lnTo>
                  <a:pt x="36476" y="2845104"/>
                </a:lnTo>
                <a:lnTo>
                  <a:pt x="0" y="2845104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6522" y="1896736"/>
            <a:ext cx="205176" cy="182378"/>
          </a:xfrm>
          <a:custGeom>
            <a:avLst/>
            <a:gdLst/>
            <a:ahLst/>
            <a:cxnLst/>
            <a:rect l="l" t="t" r="r" b="b"/>
            <a:pathLst>
              <a:path w="205176" h="182378">
                <a:moveTo>
                  <a:pt x="110246" y="-6732"/>
                </a:moveTo>
                <a:cubicBezTo>
                  <a:pt x="108786" y="-9582"/>
                  <a:pt x="105829" y="-11399"/>
                  <a:pt x="102624" y="-11399"/>
                </a:cubicBezTo>
                <a:cubicBezTo>
                  <a:pt x="99418" y="-11399"/>
                  <a:pt x="96461" y="-9582"/>
                  <a:pt x="95001" y="-6732"/>
                </a:cubicBezTo>
                <a:lnTo>
                  <a:pt x="68784" y="44633"/>
                </a:lnTo>
                <a:lnTo>
                  <a:pt x="11826" y="53681"/>
                </a:lnTo>
                <a:cubicBezTo>
                  <a:pt x="8656" y="54179"/>
                  <a:pt x="6020" y="56423"/>
                  <a:pt x="5023" y="59487"/>
                </a:cubicBezTo>
                <a:cubicBezTo>
                  <a:pt x="4025" y="62550"/>
                  <a:pt x="4844" y="65898"/>
                  <a:pt x="7089" y="68178"/>
                </a:cubicBezTo>
                <a:lnTo>
                  <a:pt x="47839" y="108964"/>
                </a:lnTo>
                <a:lnTo>
                  <a:pt x="38862" y="165922"/>
                </a:lnTo>
                <a:cubicBezTo>
                  <a:pt x="38364" y="169092"/>
                  <a:pt x="39682" y="172298"/>
                  <a:pt x="42282" y="174186"/>
                </a:cubicBezTo>
                <a:cubicBezTo>
                  <a:pt x="44882" y="176074"/>
                  <a:pt x="48302" y="176359"/>
                  <a:pt x="51187" y="174898"/>
                </a:cubicBezTo>
                <a:lnTo>
                  <a:pt x="102624" y="148752"/>
                </a:lnTo>
                <a:lnTo>
                  <a:pt x="154024" y="174898"/>
                </a:lnTo>
                <a:cubicBezTo>
                  <a:pt x="156874" y="176359"/>
                  <a:pt x="160329" y="176074"/>
                  <a:pt x="162930" y="174186"/>
                </a:cubicBezTo>
                <a:cubicBezTo>
                  <a:pt x="165530" y="172298"/>
                  <a:pt x="166848" y="169128"/>
                  <a:pt x="166349" y="165922"/>
                </a:cubicBezTo>
                <a:lnTo>
                  <a:pt x="157337" y="108964"/>
                </a:lnTo>
                <a:lnTo>
                  <a:pt x="198087" y="68178"/>
                </a:lnTo>
                <a:cubicBezTo>
                  <a:pt x="200367" y="65898"/>
                  <a:pt x="201151" y="62550"/>
                  <a:pt x="200153" y="59487"/>
                </a:cubicBezTo>
                <a:cubicBezTo>
                  <a:pt x="199156" y="56423"/>
                  <a:pt x="196556" y="54179"/>
                  <a:pt x="193350" y="53681"/>
                </a:cubicBezTo>
                <a:lnTo>
                  <a:pt x="136428" y="44633"/>
                </a:lnTo>
                <a:lnTo>
                  <a:pt x="110246" y="-6732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1" name="Text 29"/>
          <p:cNvSpPr/>
          <p:nvPr/>
        </p:nvSpPr>
        <p:spPr>
          <a:xfrm>
            <a:off x="8443097" y="1860260"/>
            <a:ext cx="3291931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15124" y="2334444"/>
            <a:ext cx="72951" cy="72951"/>
          </a:xfrm>
          <a:custGeom>
            <a:avLst/>
            <a:gdLst/>
            <a:ahLst/>
            <a:cxnLst/>
            <a:rect l="l" t="t" r="r" b="b"/>
            <a:pathLst>
              <a:path w="72951" h="72951">
                <a:moveTo>
                  <a:pt x="0" y="0"/>
                </a:moveTo>
                <a:lnTo>
                  <a:pt x="72951" y="0"/>
                </a:lnTo>
                <a:lnTo>
                  <a:pt x="72951" y="72951"/>
                </a:lnTo>
                <a:lnTo>
                  <a:pt x="0" y="7295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3" name="Text 31"/>
          <p:cNvSpPr/>
          <p:nvPr/>
        </p:nvSpPr>
        <p:spPr>
          <a:xfrm>
            <a:off x="8397502" y="2261493"/>
            <a:ext cx="2899818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Messaging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97502" y="2516823"/>
            <a:ext cx="2890699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Instant response generation with typing indicators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15124" y="2881580"/>
            <a:ext cx="72951" cy="72951"/>
          </a:xfrm>
          <a:custGeom>
            <a:avLst/>
            <a:gdLst/>
            <a:ahLst/>
            <a:cxnLst/>
            <a:rect l="l" t="t" r="r" b="b"/>
            <a:pathLst>
              <a:path w="72951" h="72951">
                <a:moveTo>
                  <a:pt x="0" y="0"/>
                </a:moveTo>
                <a:lnTo>
                  <a:pt x="72951" y="0"/>
                </a:lnTo>
                <a:lnTo>
                  <a:pt x="72951" y="72951"/>
                </a:lnTo>
                <a:lnTo>
                  <a:pt x="0" y="7295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6" name="Text 34"/>
          <p:cNvSpPr/>
          <p:nvPr/>
        </p:nvSpPr>
        <p:spPr>
          <a:xfrm>
            <a:off x="8397502" y="2808628"/>
            <a:ext cx="212470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Conversation History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97502" y="3063958"/>
            <a:ext cx="2115590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Persistent chat logs with timestamps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15124" y="3428715"/>
            <a:ext cx="72951" cy="72951"/>
          </a:xfrm>
          <a:custGeom>
            <a:avLst/>
            <a:gdLst/>
            <a:ahLst/>
            <a:cxnLst/>
            <a:rect l="l" t="t" r="r" b="b"/>
            <a:pathLst>
              <a:path w="72951" h="72951">
                <a:moveTo>
                  <a:pt x="0" y="0"/>
                </a:moveTo>
                <a:lnTo>
                  <a:pt x="72951" y="0"/>
                </a:lnTo>
                <a:lnTo>
                  <a:pt x="72951" y="72951"/>
                </a:lnTo>
                <a:lnTo>
                  <a:pt x="0" y="7295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7"/>
          <p:cNvSpPr/>
          <p:nvPr/>
        </p:nvSpPr>
        <p:spPr>
          <a:xfrm>
            <a:off x="8397502" y="3355764"/>
            <a:ext cx="2270612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97502" y="3611093"/>
            <a:ext cx="2261493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Mobile-friendly interface for all devices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15124" y="3975850"/>
            <a:ext cx="72951" cy="72951"/>
          </a:xfrm>
          <a:custGeom>
            <a:avLst/>
            <a:gdLst/>
            <a:ahLst/>
            <a:cxnLst/>
            <a:rect l="l" t="t" r="r" b="b"/>
            <a:pathLst>
              <a:path w="72951" h="72951">
                <a:moveTo>
                  <a:pt x="0" y="0"/>
                </a:moveTo>
                <a:lnTo>
                  <a:pt x="72951" y="0"/>
                </a:lnTo>
                <a:lnTo>
                  <a:pt x="72951" y="72951"/>
                </a:lnTo>
                <a:lnTo>
                  <a:pt x="0" y="7295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2" name="Text 40"/>
          <p:cNvSpPr/>
          <p:nvPr/>
        </p:nvSpPr>
        <p:spPr>
          <a:xfrm>
            <a:off x="8397502" y="3902899"/>
            <a:ext cx="1942331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User-Friendly Navigation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97502" y="4158229"/>
            <a:ext cx="193321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Intuitive layout with clear options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014508" y="4668889"/>
            <a:ext cx="3811710" cy="2188542"/>
          </a:xfrm>
          <a:custGeom>
            <a:avLst/>
            <a:gdLst/>
            <a:ahLst/>
            <a:cxnLst/>
            <a:rect l="l" t="t" r="r" b="b"/>
            <a:pathLst>
              <a:path w="3811710" h="2188542">
                <a:moveTo>
                  <a:pt x="0" y="0"/>
                </a:moveTo>
                <a:lnTo>
                  <a:pt x="3811710" y="0"/>
                </a:lnTo>
                <a:lnTo>
                  <a:pt x="3811710" y="2188542"/>
                </a:lnTo>
                <a:lnTo>
                  <a:pt x="0" y="2188542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45" name="Shape 43"/>
          <p:cNvSpPr/>
          <p:nvPr/>
        </p:nvSpPr>
        <p:spPr>
          <a:xfrm>
            <a:off x="8014508" y="4668889"/>
            <a:ext cx="36476" cy="2188542"/>
          </a:xfrm>
          <a:custGeom>
            <a:avLst/>
            <a:gdLst/>
            <a:ahLst/>
            <a:cxnLst/>
            <a:rect l="l" t="t" r="r" b="b"/>
            <a:pathLst>
              <a:path w="36476" h="2188542">
                <a:moveTo>
                  <a:pt x="0" y="0"/>
                </a:moveTo>
                <a:lnTo>
                  <a:pt x="36476" y="0"/>
                </a:lnTo>
                <a:lnTo>
                  <a:pt x="36476" y="2188542"/>
                </a:lnTo>
                <a:lnTo>
                  <a:pt x="0" y="218854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6" name="Shape 44"/>
          <p:cNvSpPr/>
          <p:nvPr/>
        </p:nvSpPr>
        <p:spPr>
          <a:xfrm>
            <a:off x="8226522" y="4887743"/>
            <a:ext cx="205176" cy="182378"/>
          </a:xfrm>
          <a:custGeom>
            <a:avLst/>
            <a:gdLst/>
            <a:ahLst/>
            <a:cxnLst/>
            <a:rect l="l" t="t" r="r" b="b"/>
            <a:pathLst>
              <a:path w="205176" h="182378">
                <a:moveTo>
                  <a:pt x="102588" y="22797"/>
                </a:moveTo>
                <a:cubicBezTo>
                  <a:pt x="140346" y="22797"/>
                  <a:pt x="170980" y="53431"/>
                  <a:pt x="170980" y="91189"/>
                </a:cubicBezTo>
                <a:cubicBezTo>
                  <a:pt x="170980" y="128947"/>
                  <a:pt x="140346" y="159581"/>
                  <a:pt x="102588" y="159581"/>
                </a:cubicBezTo>
                <a:cubicBezTo>
                  <a:pt x="79363" y="159581"/>
                  <a:pt x="58810" y="148004"/>
                  <a:pt x="46450" y="130265"/>
                </a:cubicBezTo>
                <a:cubicBezTo>
                  <a:pt x="42852" y="125100"/>
                  <a:pt x="35728" y="123853"/>
                  <a:pt x="30563" y="127451"/>
                </a:cubicBezTo>
                <a:cubicBezTo>
                  <a:pt x="25398" y="131049"/>
                  <a:pt x="24151" y="138173"/>
                  <a:pt x="27749" y="143338"/>
                </a:cubicBezTo>
                <a:cubicBezTo>
                  <a:pt x="44205" y="166919"/>
                  <a:pt x="71598" y="182378"/>
                  <a:pt x="102588" y="182378"/>
                </a:cubicBezTo>
                <a:cubicBezTo>
                  <a:pt x="152956" y="182378"/>
                  <a:pt x="193777" y="141557"/>
                  <a:pt x="193777" y="91189"/>
                </a:cubicBezTo>
                <a:cubicBezTo>
                  <a:pt x="193777" y="40821"/>
                  <a:pt x="152956" y="0"/>
                  <a:pt x="102588" y="0"/>
                </a:cubicBezTo>
                <a:cubicBezTo>
                  <a:pt x="72061" y="0"/>
                  <a:pt x="45060" y="14996"/>
                  <a:pt x="28497" y="38007"/>
                </a:cubicBezTo>
                <a:lnTo>
                  <a:pt x="28497" y="28497"/>
                </a:lnTo>
                <a:cubicBezTo>
                  <a:pt x="28497" y="22192"/>
                  <a:pt x="23403" y="17098"/>
                  <a:pt x="17098" y="17098"/>
                </a:cubicBezTo>
                <a:cubicBezTo>
                  <a:pt x="10793" y="17098"/>
                  <a:pt x="5699" y="22192"/>
                  <a:pt x="5699" y="28497"/>
                </a:cubicBezTo>
                <a:lnTo>
                  <a:pt x="5699" y="68392"/>
                </a:lnTo>
                <a:cubicBezTo>
                  <a:pt x="5699" y="74697"/>
                  <a:pt x="10793" y="79791"/>
                  <a:pt x="17098" y="79791"/>
                </a:cubicBezTo>
                <a:lnTo>
                  <a:pt x="25861" y="79791"/>
                </a:lnTo>
                <a:cubicBezTo>
                  <a:pt x="26039" y="79791"/>
                  <a:pt x="26217" y="79791"/>
                  <a:pt x="26395" y="79791"/>
                </a:cubicBezTo>
                <a:lnTo>
                  <a:pt x="57029" y="79791"/>
                </a:lnTo>
                <a:cubicBezTo>
                  <a:pt x="63334" y="79791"/>
                  <a:pt x="68428" y="74697"/>
                  <a:pt x="68428" y="68392"/>
                </a:cubicBezTo>
                <a:cubicBezTo>
                  <a:pt x="68428" y="62087"/>
                  <a:pt x="63334" y="56993"/>
                  <a:pt x="57029" y="56993"/>
                </a:cubicBezTo>
                <a:lnTo>
                  <a:pt x="43386" y="56993"/>
                </a:lnTo>
                <a:cubicBezTo>
                  <a:pt x="55177" y="36547"/>
                  <a:pt x="77297" y="22797"/>
                  <a:pt x="102588" y="22797"/>
                </a:cubicBezTo>
                <a:close/>
                <a:moveTo>
                  <a:pt x="111137" y="54144"/>
                </a:moveTo>
                <a:cubicBezTo>
                  <a:pt x="111137" y="49406"/>
                  <a:pt x="107325" y="45595"/>
                  <a:pt x="102588" y="45595"/>
                </a:cubicBezTo>
                <a:cubicBezTo>
                  <a:pt x="97850" y="45595"/>
                  <a:pt x="94039" y="49406"/>
                  <a:pt x="94039" y="54144"/>
                </a:cubicBezTo>
                <a:lnTo>
                  <a:pt x="94039" y="91189"/>
                </a:lnTo>
                <a:cubicBezTo>
                  <a:pt x="94039" y="93469"/>
                  <a:pt x="94929" y="95642"/>
                  <a:pt x="96532" y="97245"/>
                </a:cubicBezTo>
                <a:lnTo>
                  <a:pt x="122179" y="122892"/>
                </a:lnTo>
                <a:cubicBezTo>
                  <a:pt x="125528" y="126240"/>
                  <a:pt x="130942" y="126240"/>
                  <a:pt x="134255" y="122892"/>
                </a:cubicBezTo>
                <a:cubicBezTo>
                  <a:pt x="137568" y="119543"/>
                  <a:pt x="137603" y="114129"/>
                  <a:pt x="134255" y="110816"/>
                </a:cubicBezTo>
                <a:lnTo>
                  <a:pt x="111101" y="87663"/>
                </a:lnTo>
                <a:lnTo>
                  <a:pt x="111101" y="54144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7" name="Text 45"/>
          <p:cNvSpPr/>
          <p:nvPr/>
        </p:nvSpPr>
        <p:spPr>
          <a:xfrm>
            <a:off x="8443097" y="4851267"/>
            <a:ext cx="3291931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Additional Functionality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15124" y="5252500"/>
            <a:ext cx="3428715" cy="656562"/>
          </a:xfrm>
          <a:custGeom>
            <a:avLst/>
            <a:gdLst/>
            <a:ahLst/>
            <a:cxnLst/>
            <a:rect l="l" t="t" r="r" b="b"/>
            <a:pathLst>
              <a:path w="3428715" h="656562">
                <a:moveTo>
                  <a:pt x="0" y="0"/>
                </a:moveTo>
                <a:lnTo>
                  <a:pt x="3428715" y="0"/>
                </a:lnTo>
                <a:lnTo>
                  <a:pt x="3428715" y="656562"/>
                </a:lnTo>
                <a:lnTo>
                  <a:pt x="0" y="65656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Shape 47"/>
          <p:cNvSpPr/>
          <p:nvPr/>
        </p:nvSpPr>
        <p:spPr>
          <a:xfrm>
            <a:off x="8342789" y="5398402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72951" y="145903"/>
                </a:moveTo>
                <a:cubicBezTo>
                  <a:pt x="113214" y="145903"/>
                  <a:pt x="145903" y="113214"/>
                  <a:pt x="145903" y="72951"/>
                </a:cubicBezTo>
                <a:cubicBezTo>
                  <a:pt x="145903" y="32688"/>
                  <a:pt x="113214" y="0"/>
                  <a:pt x="72951" y="0"/>
                </a:cubicBezTo>
                <a:cubicBezTo>
                  <a:pt x="32688" y="0"/>
                  <a:pt x="0" y="32688"/>
                  <a:pt x="0" y="72951"/>
                </a:cubicBezTo>
                <a:cubicBezTo>
                  <a:pt x="0" y="113214"/>
                  <a:pt x="32688" y="145903"/>
                  <a:pt x="72951" y="145903"/>
                </a:cubicBezTo>
                <a:close/>
                <a:moveTo>
                  <a:pt x="72951" y="50154"/>
                </a:moveTo>
                <a:cubicBezTo>
                  <a:pt x="67907" y="50154"/>
                  <a:pt x="63832" y="54229"/>
                  <a:pt x="63832" y="59273"/>
                </a:cubicBezTo>
                <a:cubicBezTo>
                  <a:pt x="63832" y="63063"/>
                  <a:pt x="60783" y="66112"/>
                  <a:pt x="56993" y="66112"/>
                </a:cubicBezTo>
                <a:cubicBezTo>
                  <a:pt x="53203" y="66112"/>
                  <a:pt x="50154" y="63063"/>
                  <a:pt x="50154" y="59273"/>
                </a:cubicBezTo>
                <a:cubicBezTo>
                  <a:pt x="50154" y="46677"/>
                  <a:pt x="60356" y="36476"/>
                  <a:pt x="72951" y="36476"/>
                </a:cubicBezTo>
                <a:cubicBezTo>
                  <a:pt x="85547" y="36476"/>
                  <a:pt x="95749" y="46677"/>
                  <a:pt x="95749" y="59273"/>
                </a:cubicBezTo>
                <a:cubicBezTo>
                  <a:pt x="95749" y="72723"/>
                  <a:pt x="85490" y="78423"/>
                  <a:pt x="79791" y="80503"/>
                </a:cubicBezTo>
                <a:lnTo>
                  <a:pt x="79791" y="81586"/>
                </a:lnTo>
                <a:cubicBezTo>
                  <a:pt x="79791" y="85376"/>
                  <a:pt x="76741" y="88425"/>
                  <a:pt x="72951" y="88425"/>
                </a:cubicBezTo>
                <a:cubicBezTo>
                  <a:pt x="69161" y="88425"/>
                  <a:pt x="66112" y="85376"/>
                  <a:pt x="66112" y="81586"/>
                </a:cubicBezTo>
                <a:lnTo>
                  <a:pt x="66112" y="79278"/>
                </a:lnTo>
                <a:cubicBezTo>
                  <a:pt x="66112" y="73436"/>
                  <a:pt x="70330" y="69247"/>
                  <a:pt x="74690" y="67822"/>
                </a:cubicBezTo>
                <a:cubicBezTo>
                  <a:pt x="76513" y="67224"/>
                  <a:pt x="78451" y="66255"/>
                  <a:pt x="79876" y="64887"/>
                </a:cubicBezTo>
                <a:cubicBezTo>
                  <a:pt x="81101" y="63690"/>
                  <a:pt x="82070" y="62037"/>
                  <a:pt x="82070" y="59301"/>
                </a:cubicBezTo>
                <a:cubicBezTo>
                  <a:pt x="82070" y="54258"/>
                  <a:pt x="77995" y="50183"/>
                  <a:pt x="72951" y="50183"/>
                </a:cubicBezTo>
                <a:close/>
                <a:moveTo>
                  <a:pt x="63832" y="104868"/>
                </a:moveTo>
                <a:cubicBezTo>
                  <a:pt x="63832" y="99835"/>
                  <a:pt x="67919" y="95749"/>
                  <a:pt x="72951" y="95749"/>
                </a:cubicBezTo>
                <a:cubicBezTo>
                  <a:pt x="77984" y="95749"/>
                  <a:pt x="82070" y="99835"/>
                  <a:pt x="82070" y="104868"/>
                </a:cubicBezTo>
                <a:cubicBezTo>
                  <a:pt x="82070" y="109900"/>
                  <a:pt x="77984" y="113987"/>
                  <a:pt x="72951" y="113987"/>
                </a:cubicBezTo>
                <a:cubicBezTo>
                  <a:pt x="67919" y="113987"/>
                  <a:pt x="63832" y="109900"/>
                  <a:pt x="63832" y="104868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0" name="Text 48"/>
          <p:cNvSpPr/>
          <p:nvPr/>
        </p:nvSpPr>
        <p:spPr>
          <a:xfrm>
            <a:off x="8579881" y="5361927"/>
            <a:ext cx="1158103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Help &amp; Support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24551" y="5617257"/>
            <a:ext cx="3273693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Comprehensive help system with usage guides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15124" y="6018489"/>
            <a:ext cx="3428715" cy="656562"/>
          </a:xfrm>
          <a:custGeom>
            <a:avLst/>
            <a:gdLst/>
            <a:ahLst/>
            <a:cxnLst/>
            <a:rect l="l" t="t" r="r" b="b"/>
            <a:pathLst>
              <a:path w="3428715" h="656562">
                <a:moveTo>
                  <a:pt x="0" y="0"/>
                </a:moveTo>
                <a:lnTo>
                  <a:pt x="3428715" y="0"/>
                </a:lnTo>
                <a:lnTo>
                  <a:pt x="3428715" y="656562"/>
                </a:lnTo>
                <a:lnTo>
                  <a:pt x="0" y="65656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3" name="Shape 51"/>
          <p:cNvSpPr/>
          <p:nvPr/>
        </p:nvSpPr>
        <p:spPr>
          <a:xfrm>
            <a:off x="8342789" y="6164392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18238" y="18238"/>
                </a:moveTo>
                <a:cubicBezTo>
                  <a:pt x="18238" y="13194"/>
                  <a:pt x="14163" y="9119"/>
                  <a:pt x="9119" y="9119"/>
                </a:cubicBezTo>
                <a:cubicBezTo>
                  <a:pt x="4075" y="9119"/>
                  <a:pt x="0" y="13194"/>
                  <a:pt x="0" y="18238"/>
                </a:cubicBezTo>
                <a:lnTo>
                  <a:pt x="0" y="113987"/>
                </a:lnTo>
                <a:cubicBezTo>
                  <a:pt x="0" y="126582"/>
                  <a:pt x="10202" y="136784"/>
                  <a:pt x="22797" y="136784"/>
                </a:cubicBezTo>
                <a:lnTo>
                  <a:pt x="136784" y="136784"/>
                </a:lnTo>
                <a:cubicBezTo>
                  <a:pt x="141828" y="136784"/>
                  <a:pt x="145903" y="132709"/>
                  <a:pt x="145903" y="127665"/>
                </a:cubicBezTo>
                <a:cubicBezTo>
                  <a:pt x="145903" y="122621"/>
                  <a:pt x="141828" y="118546"/>
                  <a:pt x="136784" y="118546"/>
                </a:cubicBezTo>
                <a:lnTo>
                  <a:pt x="22797" y="118546"/>
                </a:lnTo>
                <a:cubicBezTo>
                  <a:pt x="20290" y="118546"/>
                  <a:pt x="18238" y="116494"/>
                  <a:pt x="18238" y="113987"/>
                </a:cubicBezTo>
                <a:lnTo>
                  <a:pt x="18238" y="18238"/>
                </a:lnTo>
                <a:close/>
                <a:moveTo>
                  <a:pt x="134105" y="42916"/>
                </a:moveTo>
                <a:cubicBezTo>
                  <a:pt x="137667" y="39354"/>
                  <a:pt x="137667" y="33569"/>
                  <a:pt x="134105" y="30007"/>
                </a:cubicBezTo>
                <a:cubicBezTo>
                  <a:pt x="130543" y="26445"/>
                  <a:pt x="124758" y="26445"/>
                  <a:pt x="121196" y="30007"/>
                </a:cubicBezTo>
                <a:lnTo>
                  <a:pt x="91189" y="60042"/>
                </a:lnTo>
                <a:lnTo>
                  <a:pt x="74832" y="43714"/>
                </a:lnTo>
                <a:cubicBezTo>
                  <a:pt x="71270" y="40152"/>
                  <a:pt x="65485" y="40152"/>
                  <a:pt x="61923" y="43714"/>
                </a:cubicBezTo>
                <a:lnTo>
                  <a:pt x="34566" y="71071"/>
                </a:lnTo>
                <a:cubicBezTo>
                  <a:pt x="31004" y="74633"/>
                  <a:pt x="31004" y="80418"/>
                  <a:pt x="34566" y="83980"/>
                </a:cubicBezTo>
                <a:cubicBezTo>
                  <a:pt x="38128" y="87542"/>
                  <a:pt x="43913" y="87542"/>
                  <a:pt x="47475" y="83980"/>
                </a:cubicBezTo>
                <a:lnTo>
                  <a:pt x="68392" y="63063"/>
                </a:lnTo>
                <a:lnTo>
                  <a:pt x="84749" y="79420"/>
                </a:lnTo>
                <a:cubicBezTo>
                  <a:pt x="88311" y="82982"/>
                  <a:pt x="94096" y="82982"/>
                  <a:pt x="97658" y="79420"/>
                </a:cubicBezTo>
                <a:lnTo>
                  <a:pt x="134134" y="42944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4" name="Text 52"/>
          <p:cNvSpPr/>
          <p:nvPr/>
        </p:nvSpPr>
        <p:spPr>
          <a:xfrm>
            <a:off x="8579881" y="6127916"/>
            <a:ext cx="984844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 Analysis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24551" y="6383246"/>
            <a:ext cx="3273693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Analytics dashboard for conversation insights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tearnsfs.com/2c5c0b166a039977cf9c24257435530651141ed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6329" r="6329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8620" y="213840"/>
            <a:ext cx="834390" cy="586740"/>
          </a:xfrm>
          <a:custGeom>
            <a:avLst/>
            <a:gdLst/>
            <a:ahLst/>
            <a:cxnLst/>
            <a:rect l="l" t="t" r="r" b="b"/>
            <a:pathLst>
              <a:path w="834390" h="586740">
                <a:moveTo>
                  <a:pt x="0" y="0"/>
                </a:moveTo>
                <a:lnTo>
                  <a:pt x="834390" y="0"/>
                </a:lnTo>
                <a:lnTo>
                  <a:pt x="834390" y="586740"/>
                </a:lnTo>
                <a:lnTo>
                  <a:pt x="0" y="586740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20000"/>
            </a:srgbClr>
          </a:solidFill>
          <a:ln w="20320">
            <a:solidFill>
              <a:srgbClr val="6C8EA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4840" y="320520"/>
            <a:ext cx="500182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13002"/>
            <a:ext cx="8724900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7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Milestone 3:</a:t>
            </a:r>
            <a:endParaRPr lang="en-US" sz="1600" dirty="0"/>
          </a:p>
          <a:p>
            <a:pPr>
              <a:lnSpc>
                <a:spcPct val="7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Banking Operations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06372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406620"/>
            <a:ext cx="84105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Enabling Secure Banking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Transactions with AI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810" y="4720117"/>
            <a:ext cx="3112770" cy="883920"/>
          </a:xfrm>
          <a:custGeom>
            <a:avLst/>
            <a:gdLst/>
            <a:ahLst/>
            <a:cxnLst/>
            <a:rect l="l" t="t" r="r" b="b"/>
            <a:pathLst>
              <a:path w="3112770" h="883920">
                <a:moveTo>
                  <a:pt x="0" y="0"/>
                </a:moveTo>
                <a:lnTo>
                  <a:pt x="3112770" y="0"/>
                </a:lnTo>
                <a:lnTo>
                  <a:pt x="3112770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6C8EAD">
                <a:alpha val="5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5795" y="48763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" y="5181126"/>
            <a:ext cx="273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 Money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661410" y="4720117"/>
            <a:ext cx="3112770" cy="883920"/>
          </a:xfrm>
          <a:custGeom>
            <a:avLst/>
            <a:gdLst/>
            <a:ahLst/>
            <a:cxnLst/>
            <a:rect l="l" t="t" r="r" b="b"/>
            <a:pathLst>
              <a:path w="3112770" h="883920">
                <a:moveTo>
                  <a:pt x="0" y="0"/>
                </a:moveTo>
                <a:lnTo>
                  <a:pt x="3112770" y="0"/>
                </a:lnTo>
                <a:lnTo>
                  <a:pt x="3112770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6C8EAD">
                <a:alpha val="5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50970" y="4876326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4" name="Text 11"/>
          <p:cNvSpPr/>
          <p:nvPr/>
        </p:nvSpPr>
        <p:spPr>
          <a:xfrm>
            <a:off x="3893820" y="5181126"/>
            <a:ext cx="273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Find ATM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4810" y="5764054"/>
            <a:ext cx="3112770" cy="883920"/>
          </a:xfrm>
          <a:custGeom>
            <a:avLst/>
            <a:gdLst/>
            <a:ahLst/>
            <a:cxnLst/>
            <a:rect l="l" t="t" r="r" b="b"/>
            <a:pathLst>
              <a:path w="3112770" h="883920">
                <a:moveTo>
                  <a:pt x="0" y="0"/>
                </a:moveTo>
                <a:lnTo>
                  <a:pt x="3112770" y="0"/>
                </a:lnTo>
                <a:lnTo>
                  <a:pt x="3112770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6C8EAD">
                <a:alpha val="5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1508" y="592026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-7144"/>
                </a:moveTo>
                <a:cubicBezTo>
                  <a:pt x="122649" y="-7144"/>
                  <a:pt x="117872" y="-2366"/>
                  <a:pt x="117872" y="3572"/>
                </a:cubicBezTo>
                <a:lnTo>
                  <a:pt x="117872" y="8930"/>
                </a:lnTo>
                <a:lnTo>
                  <a:pt x="117068" y="8930"/>
                </a:lnTo>
                <a:cubicBezTo>
                  <a:pt x="100727" y="8930"/>
                  <a:pt x="87511" y="22190"/>
                  <a:pt x="87511" y="38487"/>
                </a:cubicBezTo>
                <a:cubicBezTo>
                  <a:pt x="87511" y="53400"/>
                  <a:pt x="98628" y="65990"/>
                  <a:pt x="113407" y="67821"/>
                </a:cubicBezTo>
                <a:lnTo>
                  <a:pt x="140643" y="71214"/>
                </a:lnTo>
                <a:cubicBezTo>
                  <a:pt x="142920" y="71482"/>
                  <a:pt x="144661" y="73447"/>
                  <a:pt x="144661" y="75768"/>
                </a:cubicBezTo>
                <a:cubicBezTo>
                  <a:pt x="144661" y="78313"/>
                  <a:pt x="142607" y="80323"/>
                  <a:pt x="140107" y="80323"/>
                </a:cubicBezTo>
                <a:lnTo>
                  <a:pt x="107156" y="80367"/>
                </a:lnTo>
                <a:cubicBezTo>
                  <a:pt x="100236" y="80367"/>
                  <a:pt x="94655" y="85948"/>
                  <a:pt x="94655" y="92869"/>
                </a:cubicBezTo>
                <a:cubicBezTo>
                  <a:pt x="94655" y="99789"/>
                  <a:pt x="100236" y="105370"/>
                  <a:pt x="107156" y="105370"/>
                </a:cubicBezTo>
                <a:lnTo>
                  <a:pt x="117872" y="105370"/>
                </a:lnTo>
                <a:lnTo>
                  <a:pt x="117872" y="110728"/>
                </a:lnTo>
                <a:cubicBezTo>
                  <a:pt x="117872" y="116666"/>
                  <a:pt x="122649" y="121444"/>
                  <a:pt x="128588" y="121444"/>
                </a:cubicBezTo>
                <a:cubicBezTo>
                  <a:pt x="134526" y="121444"/>
                  <a:pt x="139303" y="116666"/>
                  <a:pt x="139303" y="110728"/>
                </a:cubicBezTo>
                <a:lnTo>
                  <a:pt x="139303" y="105370"/>
                </a:lnTo>
                <a:lnTo>
                  <a:pt x="140107" y="105370"/>
                </a:lnTo>
                <a:cubicBezTo>
                  <a:pt x="156448" y="105370"/>
                  <a:pt x="169664" y="92110"/>
                  <a:pt x="169664" y="75813"/>
                </a:cubicBezTo>
                <a:cubicBezTo>
                  <a:pt x="169664" y="60900"/>
                  <a:pt x="158547" y="48310"/>
                  <a:pt x="143768" y="46479"/>
                </a:cubicBezTo>
                <a:lnTo>
                  <a:pt x="116532" y="43086"/>
                </a:lnTo>
                <a:cubicBezTo>
                  <a:pt x="114255" y="42818"/>
                  <a:pt x="112514" y="40853"/>
                  <a:pt x="112514" y="38532"/>
                </a:cubicBezTo>
                <a:cubicBezTo>
                  <a:pt x="112514" y="35987"/>
                  <a:pt x="114568" y="33977"/>
                  <a:pt x="117068" y="33977"/>
                </a:cubicBezTo>
                <a:lnTo>
                  <a:pt x="146447" y="33933"/>
                </a:lnTo>
                <a:cubicBezTo>
                  <a:pt x="153367" y="33933"/>
                  <a:pt x="158948" y="28352"/>
                  <a:pt x="158948" y="21431"/>
                </a:cubicBezTo>
                <a:cubicBezTo>
                  <a:pt x="158948" y="14511"/>
                  <a:pt x="153367" y="8930"/>
                  <a:pt x="146447" y="8930"/>
                </a:cubicBezTo>
                <a:lnTo>
                  <a:pt x="139303" y="8930"/>
                </a:lnTo>
                <a:lnTo>
                  <a:pt x="139303" y="3572"/>
                </a:lnTo>
                <a:cubicBezTo>
                  <a:pt x="139303" y="-2366"/>
                  <a:pt x="134526" y="-7144"/>
                  <a:pt x="128588" y="-7144"/>
                </a:cubicBezTo>
                <a:close/>
                <a:moveTo>
                  <a:pt x="48801" y="152474"/>
                </a:moveTo>
                <a:lnTo>
                  <a:pt x="29781" y="171450"/>
                </a:lnTo>
                <a:lnTo>
                  <a:pt x="14288" y="171450"/>
                </a:lnTo>
                <a:cubicBezTo>
                  <a:pt x="6385" y="171450"/>
                  <a:pt x="0" y="177835"/>
                  <a:pt x="0" y="185738"/>
                </a:cubicBez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lnTo>
                  <a:pt x="157386" y="228600"/>
                </a:lnTo>
                <a:cubicBezTo>
                  <a:pt x="170334" y="228600"/>
                  <a:pt x="182969" y="224448"/>
                  <a:pt x="193417" y="216768"/>
                </a:cubicBezTo>
                <a:lnTo>
                  <a:pt x="249942" y="175111"/>
                </a:lnTo>
                <a:cubicBezTo>
                  <a:pt x="257889" y="169262"/>
                  <a:pt x="259586" y="158100"/>
                  <a:pt x="253737" y="150153"/>
                </a:cubicBezTo>
                <a:cubicBezTo>
                  <a:pt x="247888" y="142205"/>
                  <a:pt x="236726" y="140509"/>
                  <a:pt x="228779" y="146358"/>
                </a:cubicBezTo>
                <a:lnTo>
                  <a:pt x="175290" y="185738"/>
                </a:lnTo>
                <a:lnTo>
                  <a:pt x="125016" y="185738"/>
                </a:lnTo>
                <a:cubicBezTo>
                  <a:pt x="119077" y="185738"/>
                  <a:pt x="114300" y="180960"/>
                  <a:pt x="114300" y="175022"/>
                </a:cubicBezTo>
                <a:cubicBezTo>
                  <a:pt x="114300" y="169084"/>
                  <a:pt x="119077" y="164306"/>
                  <a:pt x="125016" y="164306"/>
                </a:cubicBezTo>
                <a:lnTo>
                  <a:pt x="157163" y="164306"/>
                </a:lnTo>
                <a:cubicBezTo>
                  <a:pt x="165065" y="164306"/>
                  <a:pt x="171450" y="157922"/>
                  <a:pt x="171450" y="150019"/>
                </a:cubicBezTo>
                <a:cubicBezTo>
                  <a:pt x="171450" y="142116"/>
                  <a:pt x="165065" y="135731"/>
                  <a:pt x="157163" y="135731"/>
                </a:cubicBezTo>
                <a:lnTo>
                  <a:pt x="89208" y="135731"/>
                </a:lnTo>
                <a:cubicBezTo>
                  <a:pt x="74072" y="135731"/>
                  <a:pt x="59516" y="141759"/>
                  <a:pt x="48801" y="152474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" y="6225062"/>
            <a:ext cx="273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Loan Details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661410" y="5764054"/>
            <a:ext cx="3112770" cy="883920"/>
          </a:xfrm>
          <a:custGeom>
            <a:avLst/>
            <a:gdLst/>
            <a:ahLst/>
            <a:cxnLst/>
            <a:rect l="l" t="t" r="r" b="b"/>
            <a:pathLst>
              <a:path w="3112770" h="883920">
                <a:moveTo>
                  <a:pt x="0" y="0"/>
                </a:moveTo>
                <a:lnTo>
                  <a:pt x="3112770" y="0"/>
                </a:lnTo>
                <a:lnTo>
                  <a:pt x="3112770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6C8EAD">
                <a:alpha val="5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950970" y="592026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57150" y="42863"/>
                </a:moveTo>
                <a:lnTo>
                  <a:pt x="57150" y="71438"/>
                </a:lnTo>
                <a:lnTo>
                  <a:pt x="114300" y="71438"/>
                </a:lnTo>
                <a:lnTo>
                  <a:pt x="114300" y="42863"/>
                </a:lnTo>
                <a:cubicBezTo>
                  <a:pt x="114300" y="27102"/>
                  <a:pt x="101486" y="14288"/>
                  <a:pt x="85725" y="14288"/>
                </a:cubicBezTo>
                <a:cubicBezTo>
                  <a:pt x="69964" y="14288"/>
                  <a:pt x="57150" y="27102"/>
                  <a:pt x="57150" y="42863"/>
                </a:cubicBezTo>
                <a:close/>
                <a:moveTo>
                  <a:pt x="28575" y="71438"/>
                </a:moveTo>
                <a:lnTo>
                  <a:pt x="28575" y="42863"/>
                </a:lnTo>
                <a:cubicBezTo>
                  <a:pt x="28575" y="11296"/>
                  <a:pt x="54159" y="-14287"/>
                  <a:pt x="85725" y="-14287"/>
                </a:cubicBezTo>
                <a:cubicBezTo>
                  <a:pt x="117291" y="-14287"/>
                  <a:pt x="142875" y="11296"/>
                  <a:pt x="142875" y="42863"/>
                </a:cubicBezTo>
                <a:lnTo>
                  <a:pt x="142875" y="71438"/>
                </a:lnTo>
                <a:cubicBezTo>
                  <a:pt x="158636" y="71438"/>
                  <a:pt x="171450" y="84252"/>
                  <a:pt x="171450" y="10001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00013"/>
                </a:lnTo>
                <a:cubicBezTo>
                  <a:pt x="0" y="84252"/>
                  <a:pt x="12814" y="71438"/>
                  <a:pt x="28575" y="71438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0" name="Text 17"/>
          <p:cNvSpPr/>
          <p:nvPr/>
        </p:nvSpPr>
        <p:spPr>
          <a:xfrm>
            <a:off x="3893820" y="6225062"/>
            <a:ext cx="273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Card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3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MILESTONE 3: IMPLEMENTATION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Core Features &amp;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09700"/>
            <a:ext cx="2143125" cy="3219450"/>
          </a:xfrm>
          <a:custGeom>
            <a:avLst/>
            <a:gdLst/>
            <a:ahLst/>
            <a:cxnLst/>
            <a:rect l="l" t="t" r="r" b="b"/>
            <a:pathLst>
              <a:path w="2143125" h="3219450">
                <a:moveTo>
                  <a:pt x="0" y="0"/>
                </a:moveTo>
                <a:lnTo>
                  <a:pt x="2143125" y="0"/>
                </a:lnTo>
                <a:lnTo>
                  <a:pt x="21431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09700"/>
            <a:ext cx="38100" cy="3219450"/>
          </a:xfrm>
          <a:custGeom>
            <a:avLst/>
            <a:gdLst/>
            <a:ahLst/>
            <a:cxnLst/>
            <a:rect l="l" t="t" r="r" b="b"/>
            <a:pathLst>
              <a:path w="38100" h="3219450">
                <a:moveTo>
                  <a:pt x="0" y="0"/>
                </a:moveTo>
                <a:lnTo>
                  <a:pt x="38100" y="0"/>
                </a:lnTo>
                <a:lnTo>
                  <a:pt x="381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8" name="Shape 6"/>
          <p:cNvSpPr/>
          <p:nvPr/>
        </p:nvSpPr>
        <p:spPr>
          <a:xfrm>
            <a:off x="704850" y="1733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562100"/>
            <a:ext cx="133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 Money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209800"/>
            <a:ext cx="18954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Secure fund transfers between accounts with recipient validation and amount verification.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16530" y="1409700"/>
            <a:ext cx="2143125" cy="3219450"/>
          </a:xfrm>
          <a:custGeom>
            <a:avLst/>
            <a:gdLst/>
            <a:ahLst/>
            <a:cxnLst/>
            <a:rect l="l" t="t" r="r" b="b"/>
            <a:pathLst>
              <a:path w="2143125" h="3219450">
                <a:moveTo>
                  <a:pt x="0" y="0"/>
                </a:moveTo>
                <a:lnTo>
                  <a:pt x="2143125" y="0"/>
                </a:lnTo>
                <a:lnTo>
                  <a:pt x="21431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12" name="Shape 10"/>
          <p:cNvSpPr/>
          <p:nvPr/>
        </p:nvSpPr>
        <p:spPr>
          <a:xfrm>
            <a:off x="2716530" y="1409700"/>
            <a:ext cx="38100" cy="3219450"/>
          </a:xfrm>
          <a:custGeom>
            <a:avLst/>
            <a:gdLst/>
            <a:ahLst/>
            <a:cxnLst/>
            <a:rect l="l" t="t" r="r" b="b"/>
            <a:pathLst>
              <a:path w="38100" h="3219450">
                <a:moveTo>
                  <a:pt x="0" y="0"/>
                </a:moveTo>
                <a:lnTo>
                  <a:pt x="38100" y="0"/>
                </a:lnTo>
                <a:lnTo>
                  <a:pt x="381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3" name="Shape 11"/>
          <p:cNvSpPr/>
          <p:nvPr/>
        </p:nvSpPr>
        <p:spPr>
          <a:xfrm>
            <a:off x="288798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Shape 12"/>
          <p:cNvSpPr/>
          <p:nvPr/>
        </p:nvSpPr>
        <p:spPr>
          <a:xfrm>
            <a:off x="3021330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1438"/>
                </a:lnTo>
                <a:cubicBezTo>
                  <a:pt x="190500" y="58303"/>
                  <a:pt x="179822" y="47625"/>
                  <a:pt x="166688" y="47625"/>
                </a:cubicBezTo>
                <a:lnTo>
                  <a:pt x="26789" y="47625"/>
                </a:lnTo>
                <a:cubicBezTo>
                  <a:pt x="21841" y="47625"/>
                  <a:pt x="17859" y="43644"/>
                  <a:pt x="17859" y="38695"/>
                </a:cubicBezTo>
                <a:cubicBezTo>
                  <a:pt x="17859" y="33747"/>
                  <a:pt x="21841" y="29766"/>
                  <a:pt x="26789" y="29766"/>
                </a:cubicBezTo>
                <a:lnTo>
                  <a:pt x="169664" y="29766"/>
                </a:lnTo>
                <a:cubicBezTo>
                  <a:pt x="174613" y="29766"/>
                  <a:pt x="178594" y="25784"/>
                  <a:pt x="178594" y="20836"/>
                </a:cubicBezTo>
                <a:cubicBezTo>
                  <a:pt x="178594" y="15887"/>
                  <a:pt x="174613" y="11906"/>
                  <a:pt x="169664" y="11906"/>
                </a:cubicBezTo>
                <a:lnTo>
                  <a:pt x="23812" y="11906"/>
                </a:lnTo>
                <a:close/>
                <a:moveTo>
                  <a:pt x="154781" y="95250"/>
                </a:moveTo>
                <a:cubicBezTo>
                  <a:pt x="161352" y="95250"/>
                  <a:pt x="166688" y="100585"/>
                  <a:pt x="166688" y="107156"/>
                </a:cubicBezTo>
                <a:cubicBezTo>
                  <a:pt x="166688" y="113727"/>
                  <a:pt x="161352" y="119063"/>
                  <a:pt x="154781" y="119063"/>
                </a:cubicBezTo>
                <a:cubicBezTo>
                  <a:pt x="148210" y="119063"/>
                  <a:pt x="142875" y="113727"/>
                  <a:pt x="142875" y="107156"/>
                </a:cubicBezTo>
                <a:cubicBezTo>
                  <a:pt x="142875" y="100585"/>
                  <a:pt x="148210" y="95250"/>
                  <a:pt x="154781" y="952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3459480" y="165735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 Balance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87980" y="2133600"/>
            <a:ext cx="18954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account balance retrieval across multiple account types (savings, checking).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33010" y="1409700"/>
            <a:ext cx="2143125" cy="3219450"/>
          </a:xfrm>
          <a:custGeom>
            <a:avLst/>
            <a:gdLst/>
            <a:ahLst/>
            <a:cxnLst/>
            <a:rect l="l" t="t" r="r" b="b"/>
            <a:pathLst>
              <a:path w="2143125" h="3219450">
                <a:moveTo>
                  <a:pt x="0" y="0"/>
                </a:moveTo>
                <a:lnTo>
                  <a:pt x="2143125" y="0"/>
                </a:lnTo>
                <a:lnTo>
                  <a:pt x="21431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18" name="Shape 16"/>
          <p:cNvSpPr/>
          <p:nvPr/>
        </p:nvSpPr>
        <p:spPr>
          <a:xfrm>
            <a:off x="5033010" y="1409700"/>
            <a:ext cx="38100" cy="3219450"/>
          </a:xfrm>
          <a:custGeom>
            <a:avLst/>
            <a:gdLst/>
            <a:ahLst/>
            <a:cxnLst/>
            <a:rect l="l" t="t" r="r" b="b"/>
            <a:pathLst>
              <a:path w="38100" h="3219450">
                <a:moveTo>
                  <a:pt x="0" y="0"/>
                </a:moveTo>
                <a:lnTo>
                  <a:pt x="38100" y="0"/>
                </a:lnTo>
                <a:lnTo>
                  <a:pt x="381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9" name="Shape 17"/>
          <p:cNvSpPr/>
          <p:nvPr/>
        </p:nvSpPr>
        <p:spPr>
          <a:xfrm>
            <a:off x="520446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0" name="Shape 18"/>
          <p:cNvSpPr/>
          <p:nvPr/>
        </p:nvSpPr>
        <p:spPr>
          <a:xfrm>
            <a:off x="5361623" y="16954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70172"/>
                </a:moveTo>
                <a:cubicBezTo>
                  <a:pt x="0" y="31403"/>
                  <a:pt x="31998" y="0"/>
                  <a:pt x="71438" y="0"/>
                </a:cubicBezTo>
                <a:cubicBezTo>
                  <a:pt x="110877" y="0"/>
                  <a:pt x="142875" y="31403"/>
                  <a:pt x="142875" y="70172"/>
                </a:cubicBezTo>
                <a:cubicBezTo>
                  <a:pt x="142875" y="114560"/>
                  <a:pt x="98152" y="167767"/>
                  <a:pt x="79474" y="188044"/>
                </a:cubicBezTo>
                <a:cubicBezTo>
                  <a:pt x="75084" y="192807"/>
                  <a:pt x="67754" y="192807"/>
                  <a:pt x="63364" y="188044"/>
                </a:cubicBezTo>
                <a:cubicBezTo>
                  <a:pt x="44686" y="167767"/>
                  <a:pt x="-37" y="114560"/>
                  <a:pt x="-37" y="70172"/>
                </a:cubicBezTo>
                <a:close/>
                <a:moveTo>
                  <a:pt x="71438" y="95250"/>
                </a:moveTo>
                <a:cubicBezTo>
                  <a:pt x="84580" y="95250"/>
                  <a:pt x="95250" y="84580"/>
                  <a:pt x="95250" y="71438"/>
                </a:cubicBezTo>
                <a:cubicBezTo>
                  <a:pt x="95250" y="58295"/>
                  <a:pt x="84580" y="47625"/>
                  <a:pt x="71438" y="47625"/>
                </a:cubicBezTo>
                <a:cubicBezTo>
                  <a:pt x="58295" y="47625"/>
                  <a:pt x="47625" y="58295"/>
                  <a:pt x="47625" y="71438"/>
                </a:cubicBezTo>
                <a:cubicBezTo>
                  <a:pt x="47625" y="84580"/>
                  <a:pt x="58295" y="95250"/>
                  <a:pt x="71438" y="952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1" name="Text 19"/>
          <p:cNvSpPr/>
          <p:nvPr/>
        </p:nvSpPr>
        <p:spPr>
          <a:xfrm>
            <a:off x="5775960" y="1657350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Find ATM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04460" y="2133600"/>
            <a:ext cx="18954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Location-based ATM finder with nearest branch suggestions and navigation.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49490" y="1409700"/>
            <a:ext cx="2143125" cy="3219450"/>
          </a:xfrm>
          <a:custGeom>
            <a:avLst/>
            <a:gdLst/>
            <a:ahLst/>
            <a:cxnLst/>
            <a:rect l="l" t="t" r="r" b="b"/>
            <a:pathLst>
              <a:path w="2143125" h="3219450">
                <a:moveTo>
                  <a:pt x="0" y="0"/>
                </a:moveTo>
                <a:lnTo>
                  <a:pt x="2143125" y="0"/>
                </a:lnTo>
                <a:lnTo>
                  <a:pt x="21431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24" name="Shape 22"/>
          <p:cNvSpPr/>
          <p:nvPr/>
        </p:nvSpPr>
        <p:spPr>
          <a:xfrm>
            <a:off x="7349490" y="1409700"/>
            <a:ext cx="38100" cy="3219450"/>
          </a:xfrm>
          <a:custGeom>
            <a:avLst/>
            <a:gdLst/>
            <a:ahLst/>
            <a:cxnLst/>
            <a:rect l="l" t="t" r="r" b="b"/>
            <a:pathLst>
              <a:path w="38100" h="3219450">
                <a:moveTo>
                  <a:pt x="0" y="0"/>
                </a:moveTo>
                <a:lnTo>
                  <a:pt x="38100" y="0"/>
                </a:lnTo>
                <a:lnTo>
                  <a:pt x="381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Shape 23"/>
          <p:cNvSpPr/>
          <p:nvPr/>
        </p:nvSpPr>
        <p:spPr>
          <a:xfrm>
            <a:off x="752094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Shape 24"/>
          <p:cNvSpPr/>
          <p:nvPr/>
        </p:nvSpPr>
        <p:spPr>
          <a:xfrm>
            <a:off x="7642384" y="16954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-5953"/>
                </a:moveTo>
                <a:cubicBezTo>
                  <a:pt x="102208" y="-5953"/>
                  <a:pt x="98227" y="-1972"/>
                  <a:pt x="98227" y="2977"/>
                </a:cubicBezTo>
                <a:lnTo>
                  <a:pt x="98227" y="7441"/>
                </a:lnTo>
                <a:lnTo>
                  <a:pt x="97557" y="7441"/>
                </a:lnTo>
                <a:cubicBezTo>
                  <a:pt x="83939" y="7441"/>
                  <a:pt x="72926" y="18492"/>
                  <a:pt x="72926" y="32072"/>
                </a:cubicBezTo>
                <a:cubicBezTo>
                  <a:pt x="72926" y="44500"/>
                  <a:pt x="82190" y="54992"/>
                  <a:pt x="94506" y="56517"/>
                </a:cubicBezTo>
                <a:lnTo>
                  <a:pt x="117202" y="59345"/>
                </a:lnTo>
                <a:cubicBezTo>
                  <a:pt x="119100" y="59568"/>
                  <a:pt x="120551" y="61206"/>
                  <a:pt x="120551" y="63140"/>
                </a:cubicBezTo>
                <a:cubicBezTo>
                  <a:pt x="120551" y="65261"/>
                  <a:pt x="118839" y="66935"/>
                  <a:pt x="116756" y="66935"/>
                </a:cubicBezTo>
                <a:lnTo>
                  <a:pt x="89297" y="66973"/>
                </a:lnTo>
                <a:cubicBezTo>
                  <a:pt x="83530" y="66973"/>
                  <a:pt x="78879" y="71624"/>
                  <a:pt x="78879" y="77391"/>
                </a:cubicBezTo>
                <a:cubicBezTo>
                  <a:pt x="78879" y="83158"/>
                  <a:pt x="83530" y="87809"/>
                  <a:pt x="89297" y="87809"/>
                </a:cubicBezTo>
                <a:lnTo>
                  <a:pt x="98227" y="87809"/>
                </a:lnTo>
                <a:lnTo>
                  <a:pt x="98227" y="92273"/>
                </a:lnTo>
                <a:cubicBezTo>
                  <a:pt x="98227" y="97222"/>
                  <a:pt x="102208" y="101203"/>
                  <a:pt x="107156" y="101203"/>
                </a:cubicBezTo>
                <a:cubicBezTo>
                  <a:pt x="112105" y="101203"/>
                  <a:pt x="116086" y="97222"/>
                  <a:pt x="116086" y="92273"/>
                </a:cubicBezTo>
                <a:lnTo>
                  <a:pt x="116086" y="87809"/>
                </a:lnTo>
                <a:lnTo>
                  <a:pt x="116756" y="87809"/>
                </a:lnTo>
                <a:cubicBezTo>
                  <a:pt x="130373" y="87809"/>
                  <a:pt x="141387" y="76758"/>
                  <a:pt x="141387" y="63178"/>
                </a:cubicBezTo>
                <a:cubicBezTo>
                  <a:pt x="141387" y="50750"/>
                  <a:pt x="132122" y="40258"/>
                  <a:pt x="119807" y="38733"/>
                </a:cubicBezTo>
                <a:lnTo>
                  <a:pt x="97110" y="35905"/>
                </a:lnTo>
                <a:cubicBezTo>
                  <a:pt x="95213" y="35682"/>
                  <a:pt x="93762" y="34044"/>
                  <a:pt x="93762" y="32110"/>
                </a:cubicBezTo>
                <a:cubicBezTo>
                  <a:pt x="93762" y="29989"/>
                  <a:pt x="95473" y="28315"/>
                  <a:pt x="97557" y="28315"/>
                </a:cubicBezTo>
                <a:lnTo>
                  <a:pt x="122039" y="28277"/>
                </a:lnTo>
                <a:cubicBezTo>
                  <a:pt x="127806" y="28277"/>
                  <a:pt x="132457" y="23626"/>
                  <a:pt x="132457" y="17859"/>
                </a:cubicBezTo>
                <a:cubicBezTo>
                  <a:pt x="132457" y="12092"/>
                  <a:pt x="127806" y="7441"/>
                  <a:pt x="122039" y="7441"/>
                </a:cubicBezTo>
                <a:lnTo>
                  <a:pt x="116086" y="7441"/>
                </a:lnTo>
                <a:lnTo>
                  <a:pt x="116086" y="2977"/>
                </a:lnTo>
                <a:cubicBezTo>
                  <a:pt x="116086" y="-1972"/>
                  <a:pt x="112105" y="-5953"/>
                  <a:pt x="107156" y="-5953"/>
                </a:cubicBezTo>
                <a:close/>
                <a:moveTo>
                  <a:pt x="40667" y="127062"/>
                </a:moveTo>
                <a:lnTo>
                  <a:pt x="24817" y="142875"/>
                </a:lnTo>
                <a:lnTo>
                  <a:pt x="11906" y="142875"/>
                </a:lnTo>
                <a:cubicBezTo>
                  <a:pt x="5321" y="142875"/>
                  <a:pt x="0" y="148196"/>
                  <a:pt x="0" y="154781"/>
                </a:cubicBezTo>
                <a:lnTo>
                  <a:pt x="0" y="178594"/>
                </a:lnTo>
                <a:cubicBezTo>
                  <a:pt x="0" y="185179"/>
                  <a:pt x="5321" y="190500"/>
                  <a:pt x="11906" y="190500"/>
                </a:cubicBezTo>
                <a:lnTo>
                  <a:pt x="131155" y="190500"/>
                </a:lnTo>
                <a:cubicBezTo>
                  <a:pt x="141945" y="190500"/>
                  <a:pt x="152474" y="187040"/>
                  <a:pt x="161181" y="180640"/>
                </a:cubicBezTo>
                <a:lnTo>
                  <a:pt x="208285" y="145926"/>
                </a:lnTo>
                <a:cubicBezTo>
                  <a:pt x="214908" y="141052"/>
                  <a:pt x="216322" y="131750"/>
                  <a:pt x="211448" y="125127"/>
                </a:cubicBezTo>
                <a:cubicBezTo>
                  <a:pt x="206573" y="118504"/>
                  <a:pt x="197272" y="117091"/>
                  <a:pt x="190649" y="121965"/>
                </a:cubicBezTo>
                <a:lnTo>
                  <a:pt x="146075" y="154781"/>
                </a:lnTo>
                <a:lnTo>
                  <a:pt x="104180" y="154781"/>
                </a:lnTo>
                <a:cubicBezTo>
                  <a:pt x="99231" y="154781"/>
                  <a:pt x="95250" y="150800"/>
                  <a:pt x="95250" y="145852"/>
                </a:cubicBezTo>
                <a:cubicBezTo>
                  <a:pt x="95250" y="140903"/>
                  <a:pt x="99231" y="136922"/>
                  <a:pt x="104180" y="136922"/>
                </a:cubicBezTo>
                <a:lnTo>
                  <a:pt x="130969" y="136922"/>
                </a:lnTo>
                <a:cubicBezTo>
                  <a:pt x="137554" y="136922"/>
                  <a:pt x="142875" y="131601"/>
                  <a:pt x="142875" y="125016"/>
                </a:cubicBezTo>
                <a:cubicBezTo>
                  <a:pt x="142875" y="118430"/>
                  <a:pt x="137554" y="113109"/>
                  <a:pt x="130969" y="113109"/>
                </a:cubicBezTo>
                <a:lnTo>
                  <a:pt x="74340" y="113109"/>
                </a:lnTo>
                <a:cubicBezTo>
                  <a:pt x="61726" y="113109"/>
                  <a:pt x="49597" y="118132"/>
                  <a:pt x="40667" y="12706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1657350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Loan Details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20940" y="2133600"/>
            <a:ext cx="18954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Comprehensive loan information including eligibility, interest rates, and repayment.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65970" y="1409700"/>
            <a:ext cx="2143125" cy="3219450"/>
          </a:xfrm>
          <a:custGeom>
            <a:avLst/>
            <a:gdLst/>
            <a:ahLst/>
            <a:cxnLst/>
            <a:rect l="l" t="t" r="r" b="b"/>
            <a:pathLst>
              <a:path w="2143125" h="3219450">
                <a:moveTo>
                  <a:pt x="0" y="0"/>
                </a:moveTo>
                <a:lnTo>
                  <a:pt x="2143125" y="0"/>
                </a:lnTo>
                <a:lnTo>
                  <a:pt x="21431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30" name="Shape 28"/>
          <p:cNvSpPr/>
          <p:nvPr/>
        </p:nvSpPr>
        <p:spPr>
          <a:xfrm>
            <a:off x="9665970" y="1409700"/>
            <a:ext cx="38100" cy="3219450"/>
          </a:xfrm>
          <a:custGeom>
            <a:avLst/>
            <a:gdLst/>
            <a:ahLst/>
            <a:cxnLst/>
            <a:rect l="l" t="t" r="r" b="b"/>
            <a:pathLst>
              <a:path w="38100" h="3219450">
                <a:moveTo>
                  <a:pt x="0" y="0"/>
                </a:moveTo>
                <a:lnTo>
                  <a:pt x="38100" y="0"/>
                </a:lnTo>
                <a:lnTo>
                  <a:pt x="381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1" name="Shape 29"/>
          <p:cNvSpPr/>
          <p:nvPr/>
        </p:nvSpPr>
        <p:spPr>
          <a:xfrm>
            <a:off x="983742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2" name="Shape 30"/>
          <p:cNvSpPr/>
          <p:nvPr/>
        </p:nvSpPr>
        <p:spPr>
          <a:xfrm>
            <a:off x="9994583" y="16954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10408920" y="1657350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Card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37420" y="2133600"/>
            <a:ext cx="18954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Instant card blocking functionality for lost or stolen cards with fraud prevention.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4810" y="4789295"/>
            <a:ext cx="11418570" cy="1684020"/>
          </a:xfrm>
          <a:custGeom>
            <a:avLst/>
            <a:gdLst/>
            <a:ahLst/>
            <a:cxnLst/>
            <a:rect l="l" t="t" r="r" b="b"/>
            <a:pathLst>
              <a:path w="11418570" h="1684020">
                <a:moveTo>
                  <a:pt x="0" y="0"/>
                </a:moveTo>
                <a:lnTo>
                  <a:pt x="11418570" y="0"/>
                </a:lnTo>
                <a:lnTo>
                  <a:pt x="11418570" y="1684020"/>
                </a:lnTo>
                <a:lnTo>
                  <a:pt x="0" y="16840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 w="10160">
            <a:solidFill>
              <a:srgbClr val="6C8EAD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7695" y="50215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7" name="Text 35"/>
          <p:cNvSpPr/>
          <p:nvPr/>
        </p:nvSpPr>
        <p:spPr>
          <a:xfrm>
            <a:off x="864870" y="4983603"/>
            <a:ext cx="1085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Milestone 3 Pipeline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10089" y="544068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9" name="Text 37"/>
          <p:cNvSpPr/>
          <p:nvPr/>
        </p:nvSpPr>
        <p:spPr>
          <a:xfrm>
            <a:off x="884515" y="5574032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1020" y="6050282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Query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874520" y="57454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2" name="Shape 40"/>
          <p:cNvSpPr/>
          <p:nvPr/>
        </p:nvSpPr>
        <p:spPr>
          <a:xfrm>
            <a:off x="2603183" y="544068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3" name="Text 41"/>
          <p:cNvSpPr/>
          <p:nvPr/>
        </p:nvSpPr>
        <p:spPr>
          <a:xfrm>
            <a:off x="2777609" y="5574032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2565083" y="6050282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Intent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636645" y="57454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6" name="Shape 44"/>
          <p:cNvSpPr/>
          <p:nvPr/>
        </p:nvSpPr>
        <p:spPr>
          <a:xfrm>
            <a:off x="4692372" y="544068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7" name="Text 45"/>
          <p:cNvSpPr/>
          <p:nvPr/>
        </p:nvSpPr>
        <p:spPr>
          <a:xfrm>
            <a:off x="4866799" y="5574032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327208" y="6050282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Entity Extraction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053018" y="57454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0" name="Shape 48"/>
          <p:cNvSpPr/>
          <p:nvPr/>
        </p:nvSpPr>
        <p:spPr>
          <a:xfrm>
            <a:off x="7031474" y="544068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1" name="Text 49"/>
          <p:cNvSpPr/>
          <p:nvPr/>
        </p:nvSpPr>
        <p:spPr>
          <a:xfrm>
            <a:off x="7205901" y="5574032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743581" y="6050282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Logic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14730" y="57454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4" name="Shape 52"/>
          <p:cNvSpPr/>
          <p:nvPr/>
        </p:nvSpPr>
        <p:spPr>
          <a:xfrm>
            <a:off x="9107567" y="544068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5" name="Text 53"/>
          <p:cNvSpPr/>
          <p:nvPr/>
        </p:nvSpPr>
        <p:spPr>
          <a:xfrm>
            <a:off x="9281993" y="5574032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005292" y="6050282"/>
            <a:ext cx="73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Database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205204" y="57454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8" name="Shape 56"/>
          <p:cNvSpPr/>
          <p:nvPr/>
        </p:nvSpPr>
        <p:spPr>
          <a:xfrm>
            <a:off x="11006376" y="544068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9" name="Text 57"/>
          <p:cNvSpPr/>
          <p:nvPr/>
        </p:nvSpPr>
        <p:spPr>
          <a:xfrm>
            <a:off x="11180802" y="5574032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895766" y="6050282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54" y="342954"/>
            <a:ext cx="1156611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spc="236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MILESTONE 3: AI INTEGRATION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54" y="583021"/>
            <a:ext cx="11711865" cy="411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1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Advanced Banking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2954" y="1063156"/>
            <a:ext cx="1159183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Powered by Grok LLM API for intelligent conversations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2954" y="1406110"/>
            <a:ext cx="685907" cy="34295"/>
          </a:xfrm>
          <a:custGeom>
            <a:avLst/>
            <a:gdLst/>
            <a:ahLst/>
            <a:cxnLst/>
            <a:rect l="l" t="t" r="r" b="b"/>
            <a:pathLst>
              <a:path w="685907" h="34295">
                <a:moveTo>
                  <a:pt x="0" y="0"/>
                </a:moveTo>
                <a:lnTo>
                  <a:pt x="685907" y="0"/>
                </a:lnTo>
                <a:lnTo>
                  <a:pt x="685907" y="34295"/>
                </a:lnTo>
                <a:lnTo>
                  <a:pt x="0" y="34295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6" name="Shape 4"/>
          <p:cNvSpPr/>
          <p:nvPr/>
        </p:nvSpPr>
        <p:spPr>
          <a:xfrm>
            <a:off x="360101" y="1577586"/>
            <a:ext cx="5633013" cy="1526143"/>
          </a:xfrm>
          <a:custGeom>
            <a:avLst/>
            <a:gdLst/>
            <a:ahLst/>
            <a:cxnLst/>
            <a:rect l="l" t="t" r="r" b="b"/>
            <a:pathLst>
              <a:path w="5633013" h="1526143">
                <a:moveTo>
                  <a:pt x="0" y="0"/>
                </a:moveTo>
                <a:lnTo>
                  <a:pt x="5633013" y="0"/>
                </a:lnTo>
                <a:lnTo>
                  <a:pt x="5633013" y="1526143"/>
                </a:lnTo>
                <a:lnTo>
                  <a:pt x="0" y="1526143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7" name="Shape 5"/>
          <p:cNvSpPr/>
          <p:nvPr/>
        </p:nvSpPr>
        <p:spPr>
          <a:xfrm>
            <a:off x="360101" y="1577586"/>
            <a:ext cx="34295" cy="1526143"/>
          </a:xfrm>
          <a:custGeom>
            <a:avLst/>
            <a:gdLst/>
            <a:ahLst/>
            <a:cxnLst/>
            <a:rect l="l" t="t" r="r" b="b"/>
            <a:pathLst>
              <a:path w="34295" h="1526143">
                <a:moveTo>
                  <a:pt x="0" y="0"/>
                </a:moveTo>
                <a:lnTo>
                  <a:pt x="34295" y="0"/>
                </a:lnTo>
                <a:lnTo>
                  <a:pt x="34295" y="1526143"/>
                </a:lnTo>
                <a:lnTo>
                  <a:pt x="0" y="1526143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8" name="Shape 6"/>
          <p:cNvSpPr/>
          <p:nvPr/>
        </p:nvSpPr>
        <p:spPr>
          <a:xfrm>
            <a:off x="548726" y="1749063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0" y="0"/>
                </a:moveTo>
                <a:lnTo>
                  <a:pt x="411544" y="0"/>
                </a:lnTo>
                <a:lnTo>
                  <a:pt x="411544" y="411544"/>
                </a:lnTo>
                <a:lnTo>
                  <a:pt x="0" y="411544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51612" y="1851949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48228" y="22506"/>
                </a:moveTo>
                <a:cubicBezTo>
                  <a:pt x="48228" y="10088"/>
                  <a:pt x="58316" y="0"/>
                  <a:pt x="70734" y="0"/>
                </a:cubicBezTo>
                <a:lnTo>
                  <a:pt x="80380" y="0"/>
                </a:lnTo>
                <a:cubicBezTo>
                  <a:pt x="87493" y="0"/>
                  <a:pt x="93241" y="5747"/>
                  <a:pt x="93241" y="12861"/>
                </a:cubicBezTo>
                <a:lnTo>
                  <a:pt x="93241" y="192911"/>
                </a:lnTo>
                <a:cubicBezTo>
                  <a:pt x="93241" y="200025"/>
                  <a:pt x="87493" y="205772"/>
                  <a:pt x="80380" y="205772"/>
                </a:cubicBezTo>
                <a:lnTo>
                  <a:pt x="67519" y="205772"/>
                </a:lnTo>
                <a:cubicBezTo>
                  <a:pt x="55542" y="205772"/>
                  <a:pt x="45455" y="197573"/>
                  <a:pt x="42601" y="186481"/>
                </a:cubicBezTo>
                <a:cubicBezTo>
                  <a:pt x="42320" y="186481"/>
                  <a:pt x="42079" y="186481"/>
                  <a:pt x="41797" y="186481"/>
                </a:cubicBezTo>
                <a:cubicBezTo>
                  <a:pt x="24034" y="186481"/>
                  <a:pt x="9646" y="172093"/>
                  <a:pt x="9646" y="154329"/>
                </a:cubicBezTo>
                <a:cubicBezTo>
                  <a:pt x="9646" y="147095"/>
                  <a:pt x="12057" y="140423"/>
                  <a:pt x="16076" y="135038"/>
                </a:cubicBezTo>
                <a:cubicBezTo>
                  <a:pt x="8279" y="129170"/>
                  <a:pt x="3215" y="119846"/>
                  <a:pt x="3215" y="109316"/>
                </a:cubicBezTo>
                <a:cubicBezTo>
                  <a:pt x="3215" y="96898"/>
                  <a:pt x="10289" y="86087"/>
                  <a:pt x="20577" y="80741"/>
                </a:cubicBezTo>
                <a:cubicBezTo>
                  <a:pt x="17724" y="75919"/>
                  <a:pt x="16076" y="70292"/>
                  <a:pt x="16076" y="64304"/>
                </a:cubicBezTo>
                <a:cubicBezTo>
                  <a:pt x="16076" y="46540"/>
                  <a:pt x="30464" y="32152"/>
                  <a:pt x="48228" y="32152"/>
                </a:cubicBezTo>
                <a:lnTo>
                  <a:pt x="48228" y="22506"/>
                </a:lnTo>
                <a:close/>
                <a:moveTo>
                  <a:pt x="157544" y="22506"/>
                </a:moveTo>
                <a:lnTo>
                  <a:pt x="157544" y="32152"/>
                </a:lnTo>
                <a:cubicBezTo>
                  <a:pt x="175308" y="32152"/>
                  <a:pt x="189696" y="46540"/>
                  <a:pt x="189696" y="64304"/>
                </a:cubicBezTo>
                <a:cubicBezTo>
                  <a:pt x="189696" y="70332"/>
                  <a:pt x="188048" y="75959"/>
                  <a:pt x="185195" y="80741"/>
                </a:cubicBezTo>
                <a:cubicBezTo>
                  <a:pt x="195524" y="86087"/>
                  <a:pt x="202557" y="96858"/>
                  <a:pt x="202557" y="109316"/>
                </a:cubicBezTo>
                <a:cubicBezTo>
                  <a:pt x="202557" y="119846"/>
                  <a:pt x="197493" y="129170"/>
                  <a:pt x="189696" y="135038"/>
                </a:cubicBezTo>
                <a:cubicBezTo>
                  <a:pt x="193715" y="140423"/>
                  <a:pt x="196127" y="147095"/>
                  <a:pt x="196127" y="154329"/>
                </a:cubicBezTo>
                <a:cubicBezTo>
                  <a:pt x="196127" y="172093"/>
                  <a:pt x="181739" y="186481"/>
                  <a:pt x="163975" y="186481"/>
                </a:cubicBezTo>
                <a:cubicBezTo>
                  <a:pt x="163693" y="186481"/>
                  <a:pt x="163452" y="186481"/>
                  <a:pt x="163171" y="186481"/>
                </a:cubicBezTo>
                <a:cubicBezTo>
                  <a:pt x="160317" y="197573"/>
                  <a:pt x="150230" y="205772"/>
                  <a:pt x="138253" y="205772"/>
                </a:cubicBezTo>
                <a:lnTo>
                  <a:pt x="125392" y="205772"/>
                </a:lnTo>
                <a:cubicBezTo>
                  <a:pt x="118279" y="205772"/>
                  <a:pt x="112532" y="200025"/>
                  <a:pt x="112532" y="192911"/>
                </a:cubicBezTo>
                <a:lnTo>
                  <a:pt x="112532" y="12861"/>
                </a:lnTo>
                <a:cubicBezTo>
                  <a:pt x="112532" y="5747"/>
                  <a:pt x="118279" y="0"/>
                  <a:pt x="125392" y="0"/>
                </a:cubicBezTo>
                <a:lnTo>
                  <a:pt x="135038" y="0"/>
                </a:lnTo>
                <a:cubicBezTo>
                  <a:pt x="147457" y="0"/>
                  <a:pt x="157544" y="10088"/>
                  <a:pt x="157544" y="22506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0" name="Text 8"/>
          <p:cNvSpPr/>
          <p:nvPr/>
        </p:nvSpPr>
        <p:spPr>
          <a:xfrm>
            <a:off x="1063156" y="1817654"/>
            <a:ext cx="2186329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Grok LLM Integration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726" y="2263494"/>
            <a:ext cx="5341502" cy="66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Integrated Grok LLM API enables dynamic, context-aware responses. The AI understands complex queries, maintains conversation context, and generates human-like responses for natural banking interactions.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0101" y="3240911"/>
            <a:ext cx="5633013" cy="1783359"/>
          </a:xfrm>
          <a:custGeom>
            <a:avLst/>
            <a:gdLst/>
            <a:ahLst/>
            <a:cxnLst/>
            <a:rect l="l" t="t" r="r" b="b"/>
            <a:pathLst>
              <a:path w="5633013" h="1783359">
                <a:moveTo>
                  <a:pt x="0" y="0"/>
                </a:moveTo>
                <a:lnTo>
                  <a:pt x="5633013" y="0"/>
                </a:lnTo>
                <a:lnTo>
                  <a:pt x="5633013" y="1783359"/>
                </a:lnTo>
                <a:lnTo>
                  <a:pt x="0" y="1783359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13" name="Shape 11"/>
          <p:cNvSpPr/>
          <p:nvPr/>
        </p:nvSpPr>
        <p:spPr>
          <a:xfrm>
            <a:off x="360101" y="3240911"/>
            <a:ext cx="34295" cy="1783359"/>
          </a:xfrm>
          <a:custGeom>
            <a:avLst/>
            <a:gdLst/>
            <a:ahLst/>
            <a:cxnLst/>
            <a:rect l="l" t="t" r="r" b="b"/>
            <a:pathLst>
              <a:path w="34295" h="1783359">
                <a:moveTo>
                  <a:pt x="0" y="0"/>
                </a:moveTo>
                <a:lnTo>
                  <a:pt x="34295" y="0"/>
                </a:lnTo>
                <a:lnTo>
                  <a:pt x="34295" y="1783359"/>
                </a:lnTo>
                <a:lnTo>
                  <a:pt x="0" y="1783359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726" y="3412388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0" y="0"/>
                </a:moveTo>
                <a:lnTo>
                  <a:pt x="411544" y="0"/>
                </a:lnTo>
                <a:lnTo>
                  <a:pt x="411544" y="411544"/>
                </a:lnTo>
                <a:lnTo>
                  <a:pt x="0" y="411544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1612" y="3515274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201994" y="60526"/>
                </a:moveTo>
                <a:lnTo>
                  <a:pt x="163412" y="99108"/>
                </a:lnTo>
                <a:cubicBezTo>
                  <a:pt x="159715" y="102806"/>
                  <a:pt x="154209" y="103891"/>
                  <a:pt x="149386" y="101881"/>
                </a:cubicBezTo>
                <a:cubicBezTo>
                  <a:pt x="144563" y="99872"/>
                  <a:pt x="141468" y="95210"/>
                  <a:pt x="141468" y="90025"/>
                </a:cubicBezTo>
                <a:lnTo>
                  <a:pt x="141468" y="64304"/>
                </a:lnTo>
                <a:lnTo>
                  <a:pt x="12861" y="64304"/>
                </a:lnTo>
                <a:cubicBezTo>
                  <a:pt x="5747" y="64304"/>
                  <a:pt x="0" y="58557"/>
                  <a:pt x="0" y="51443"/>
                </a:cubicBezTo>
                <a:cubicBezTo>
                  <a:pt x="0" y="44329"/>
                  <a:pt x="5747" y="38582"/>
                  <a:pt x="12861" y="38582"/>
                </a:cubicBezTo>
                <a:lnTo>
                  <a:pt x="141468" y="38582"/>
                </a:lnTo>
                <a:lnTo>
                  <a:pt x="141468" y="12861"/>
                </a:lnTo>
                <a:cubicBezTo>
                  <a:pt x="141468" y="7676"/>
                  <a:pt x="144603" y="2974"/>
                  <a:pt x="149426" y="965"/>
                </a:cubicBezTo>
                <a:cubicBezTo>
                  <a:pt x="154249" y="-1045"/>
                  <a:pt x="159755" y="80"/>
                  <a:pt x="163452" y="3738"/>
                </a:cubicBezTo>
                <a:lnTo>
                  <a:pt x="202034" y="42320"/>
                </a:lnTo>
                <a:cubicBezTo>
                  <a:pt x="207058" y="47344"/>
                  <a:pt x="207058" y="55502"/>
                  <a:pt x="202034" y="60526"/>
                </a:cubicBezTo>
                <a:close/>
                <a:moveTo>
                  <a:pt x="42320" y="201994"/>
                </a:moveTo>
                <a:lnTo>
                  <a:pt x="3738" y="163412"/>
                </a:lnTo>
                <a:cubicBezTo>
                  <a:pt x="-1286" y="158388"/>
                  <a:pt x="-1286" y="150230"/>
                  <a:pt x="3738" y="145206"/>
                </a:cubicBezTo>
                <a:lnTo>
                  <a:pt x="42320" y="106624"/>
                </a:lnTo>
                <a:cubicBezTo>
                  <a:pt x="46017" y="102926"/>
                  <a:pt x="51523" y="101841"/>
                  <a:pt x="56346" y="103851"/>
                </a:cubicBezTo>
                <a:cubicBezTo>
                  <a:pt x="61169" y="105860"/>
                  <a:pt x="64304" y="110562"/>
                  <a:pt x="64304" y="115747"/>
                </a:cubicBezTo>
                <a:lnTo>
                  <a:pt x="64304" y="141468"/>
                </a:lnTo>
                <a:lnTo>
                  <a:pt x="192911" y="141468"/>
                </a:lnTo>
                <a:cubicBezTo>
                  <a:pt x="200025" y="141468"/>
                  <a:pt x="205772" y="147216"/>
                  <a:pt x="205772" y="154329"/>
                </a:cubicBezTo>
                <a:cubicBezTo>
                  <a:pt x="205772" y="161443"/>
                  <a:pt x="200025" y="167190"/>
                  <a:pt x="192911" y="167190"/>
                </a:cubicBezTo>
                <a:lnTo>
                  <a:pt x="64304" y="167190"/>
                </a:lnTo>
                <a:lnTo>
                  <a:pt x="64304" y="192911"/>
                </a:lnTo>
                <a:cubicBezTo>
                  <a:pt x="64304" y="198096"/>
                  <a:pt x="61169" y="202798"/>
                  <a:pt x="56346" y="204808"/>
                </a:cubicBezTo>
                <a:cubicBezTo>
                  <a:pt x="51523" y="206817"/>
                  <a:pt x="46017" y="205692"/>
                  <a:pt x="42320" y="20203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1063156" y="3480979"/>
            <a:ext cx="1629030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Money Transfer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726" y="3926819"/>
            <a:ext cx="534150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Advanced entity extraction for secure transfers: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726" y="4235477"/>
            <a:ext cx="5272911" cy="617316"/>
          </a:xfrm>
          <a:custGeom>
            <a:avLst/>
            <a:gdLst/>
            <a:ahLst/>
            <a:cxnLst/>
            <a:rect l="l" t="t" r="r" b="b"/>
            <a:pathLst>
              <a:path w="5272911" h="617316">
                <a:moveTo>
                  <a:pt x="0" y="0"/>
                </a:moveTo>
                <a:lnTo>
                  <a:pt x="5272911" y="0"/>
                </a:lnTo>
                <a:lnTo>
                  <a:pt x="5272911" y="617316"/>
                </a:lnTo>
                <a:lnTo>
                  <a:pt x="0" y="61731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651612" y="4338363"/>
            <a:ext cx="512715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User: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"Send $500 to John Doe"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612" y="4578430"/>
            <a:ext cx="5127156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Extracted:</a:t>
            </a:r>
            <a:pPr>
              <a:lnSpc>
                <a:spcPct val="120000"/>
              </a:lnSpc>
            </a:pPr>
            <a:r>
              <a:rPr lang="en-US" sz="945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Amount: $500, Recipient: John Doe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0101" y="5161451"/>
            <a:ext cx="5633013" cy="1303224"/>
          </a:xfrm>
          <a:custGeom>
            <a:avLst/>
            <a:gdLst/>
            <a:ahLst/>
            <a:cxnLst/>
            <a:rect l="l" t="t" r="r" b="b"/>
            <a:pathLst>
              <a:path w="5633013" h="1303224">
                <a:moveTo>
                  <a:pt x="0" y="0"/>
                </a:moveTo>
                <a:lnTo>
                  <a:pt x="5633013" y="0"/>
                </a:lnTo>
                <a:lnTo>
                  <a:pt x="5633013" y="1303224"/>
                </a:lnTo>
                <a:lnTo>
                  <a:pt x="0" y="1303224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22" name="Shape 20"/>
          <p:cNvSpPr/>
          <p:nvPr/>
        </p:nvSpPr>
        <p:spPr>
          <a:xfrm>
            <a:off x="360101" y="5161451"/>
            <a:ext cx="34295" cy="1303224"/>
          </a:xfrm>
          <a:custGeom>
            <a:avLst/>
            <a:gdLst/>
            <a:ahLst/>
            <a:cxnLst/>
            <a:rect l="l" t="t" r="r" b="b"/>
            <a:pathLst>
              <a:path w="34295" h="1303224">
                <a:moveTo>
                  <a:pt x="0" y="0"/>
                </a:moveTo>
                <a:lnTo>
                  <a:pt x="34295" y="0"/>
                </a:lnTo>
                <a:lnTo>
                  <a:pt x="34295" y="1303224"/>
                </a:lnTo>
                <a:lnTo>
                  <a:pt x="0" y="1303224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726" y="5332928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0" y="0"/>
                </a:moveTo>
                <a:lnTo>
                  <a:pt x="411544" y="0"/>
                </a:lnTo>
                <a:lnTo>
                  <a:pt x="411544" y="411544"/>
                </a:lnTo>
                <a:lnTo>
                  <a:pt x="0" y="411544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5890" y="5435814"/>
            <a:ext cx="257215" cy="205772"/>
          </a:xfrm>
          <a:custGeom>
            <a:avLst/>
            <a:gdLst/>
            <a:ahLst/>
            <a:cxnLst/>
            <a:rect l="l" t="t" r="r" b="b"/>
            <a:pathLst>
              <a:path w="257215" h="205772">
                <a:moveTo>
                  <a:pt x="231494" y="19291"/>
                </a:moveTo>
                <a:cubicBezTo>
                  <a:pt x="231494" y="14830"/>
                  <a:pt x="229203" y="10691"/>
                  <a:pt x="225385" y="8359"/>
                </a:cubicBezTo>
                <a:cubicBezTo>
                  <a:pt x="221567" y="6028"/>
                  <a:pt x="216865" y="5787"/>
                  <a:pt x="212886" y="7797"/>
                </a:cubicBezTo>
                <a:lnTo>
                  <a:pt x="166185" y="31147"/>
                </a:lnTo>
                <a:lnTo>
                  <a:pt x="94084" y="7073"/>
                </a:lnTo>
                <a:cubicBezTo>
                  <a:pt x="90829" y="5988"/>
                  <a:pt x="87333" y="6229"/>
                  <a:pt x="84278" y="7757"/>
                </a:cubicBezTo>
                <a:lnTo>
                  <a:pt x="32835" y="33478"/>
                </a:lnTo>
                <a:cubicBezTo>
                  <a:pt x="28454" y="35689"/>
                  <a:pt x="25722" y="40150"/>
                  <a:pt x="25722" y="45013"/>
                </a:cubicBezTo>
                <a:lnTo>
                  <a:pt x="25722" y="186481"/>
                </a:lnTo>
                <a:cubicBezTo>
                  <a:pt x="25722" y="190942"/>
                  <a:pt x="28012" y="195082"/>
                  <a:pt x="31830" y="197413"/>
                </a:cubicBezTo>
                <a:cubicBezTo>
                  <a:pt x="35648" y="199744"/>
                  <a:pt x="40351" y="199985"/>
                  <a:pt x="44329" y="197975"/>
                </a:cubicBezTo>
                <a:lnTo>
                  <a:pt x="90990" y="174625"/>
                </a:lnTo>
                <a:lnTo>
                  <a:pt x="160639" y="197855"/>
                </a:lnTo>
                <a:cubicBezTo>
                  <a:pt x="158911" y="195283"/>
                  <a:pt x="157223" y="192590"/>
                  <a:pt x="155575" y="189857"/>
                </a:cubicBezTo>
                <a:cubicBezTo>
                  <a:pt x="151154" y="182502"/>
                  <a:pt x="146773" y="174062"/>
                  <a:pt x="143518" y="165020"/>
                </a:cubicBezTo>
                <a:lnTo>
                  <a:pt x="102846" y="151476"/>
                </a:lnTo>
                <a:lnTo>
                  <a:pt x="102846" y="37135"/>
                </a:lnTo>
                <a:lnTo>
                  <a:pt x="154289" y="54297"/>
                </a:lnTo>
                <a:lnTo>
                  <a:pt x="154289" y="94205"/>
                </a:lnTo>
                <a:cubicBezTo>
                  <a:pt x="166748" y="79817"/>
                  <a:pt x="185235" y="70734"/>
                  <a:pt x="205732" y="70734"/>
                </a:cubicBezTo>
                <a:cubicBezTo>
                  <a:pt x="214815" y="70734"/>
                  <a:pt x="223496" y="72503"/>
                  <a:pt x="231453" y="75758"/>
                </a:cubicBezTo>
                <a:lnTo>
                  <a:pt x="231494" y="19291"/>
                </a:lnTo>
                <a:close/>
                <a:moveTo>
                  <a:pt x="205772" y="90025"/>
                </a:moveTo>
                <a:cubicBezTo>
                  <a:pt x="179126" y="90025"/>
                  <a:pt x="157544" y="111246"/>
                  <a:pt x="157544" y="137409"/>
                </a:cubicBezTo>
                <a:cubicBezTo>
                  <a:pt x="157544" y="165100"/>
                  <a:pt x="183306" y="197855"/>
                  <a:pt x="197172" y="213489"/>
                </a:cubicBezTo>
                <a:cubicBezTo>
                  <a:pt x="201834" y="218713"/>
                  <a:pt x="209751" y="218713"/>
                  <a:pt x="214413" y="213489"/>
                </a:cubicBezTo>
                <a:cubicBezTo>
                  <a:pt x="228278" y="197855"/>
                  <a:pt x="254040" y="165100"/>
                  <a:pt x="254040" y="137409"/>
                </a:cubicBezTo>
                <a:cubicBezTo>
                  <a:pt x="254040" y="111246"/>
                  <a:pt x="232458" y="90025"/>
                  <a:pt x="205812" y="90025"/>
                </a:cubicBezTo>
                <a:close/>
                <a:moveTo>
                  <a:pt x="189696" y="138253"/>
                </a:moveTo>
                <a:cubicBezTo>
                  <a:pt x="189696" y="129381"/>
                  <a:pt x="196900" y="122177"/>
                  <a:pt x="205772" y="122177"/>
                </a:cubicBezTo>
                <a:cubicBezTo>
                  <a:pt x="214645" y="122177"/>
                  <a:pt x="221848" y="129381"/>
                  <a:pt x="221848" y="138253"/>
                </a:cubicBezTo>
                <a:cubicBezTo>
                  <a:pt x="221848" y="147126"/>
                  <a:pt x="214645" y="154329"/>
                  <a:pt x="205772" y="154329"/>
                </a:cubicBezTo>
                <a:cubicBezTo>
                  <a:pt x="196900" y="154329"/>
                  <a:pt x="189696" y="147126"/>
                  <a:pt x="189696" y="138253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5" name="Text 23"/>
          <p:cNvSpPr/>
          <p:nvPr/>
        </p:nvSpPr>
        <p:spPr>
          <a:xfrm>
            <a:off x="1063156" y="5401519"/>
            <a:ext cx="1234633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ATM Finder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726" y="5847359"/>
            <a:ext cx="5341502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Location-based ATM search using entity extraction to identify user location and provide nearest ATM suggestions with real-time availability status.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6891" y="1577586"/>
            <a:ext cx="5633013" cy="1954835"/>
          </a:xfrm>
          <a:custGeom>
            <a:avLst/>
            <a:gdLst/>
            <a:ahLst/>
            <a:cxnLst/>
            <a:rect l="l" t="t" r="r" b="b"/>
            <a:pathLst>
              <a:path w="5633013" h="1954835">
                <a:moveTo>
                  <a:pt x="0" y="0"/>
                </a:moveTo>
                <a:lnTo>
                  <a:pt x="5633013" y="0"/>
                </a:lnTo>
                <a:lnTo>
                  <a:pt x="5633013" y="1954835"/>
                </a:lnTo>
                <a:lnTo>
                  <a:pt x="0" y="1954835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6891" y="1577586"/>
            <a:ext cx="34295" cy="1954835"/>
          </a:xfrm>
          <a:custGeom>
            <a:avLst/>
            <a:gdLst/>
            <a:ahLst/>
            <a:cxnLst/>
            <a:rect l="l" t="t" r="r" b="b"/>
            <a:pathLst>
              <a:path w="34295" h="1954835">
                <a:moveTo>
                  <a:pt x="0" y="0"/>
                </a:moveTo>
                <a:lnTo>
                  <a:pt x="34295" y="0"/>
                </a:lnTo>
                <a:lnTo>
                  <a:pt x="34295" y="1954835"/>
                </a:lnTo>
                <a:lnTo>
                  <a:pt x="0" y="19548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5516" y="1749063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0" y="0"/>
                </a:moveTo>
                <a:lnTo>
                  <a:pt x="411544" y="0"/>
                </a:lnTo>
                <a:lnTo>
                  <a:pt x="411544" y="411544"/>
                </a:lnTo>
                <a:lnTo>
                  <a:pt x="0" y="411544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95541" y="1851949"/>
            <a:ext cx="231494" cy="205772"/>
          </a:xfrm>
          <a:custGeom>
            <a:avLst/>
            <a:gdLst/>
            <a:ahLst/>
            <a:cxnLst/>
            <a:rect l="l" t="t" r="r" b="b"/>
            <a:pathLst>
              <a:path w="231494" h="205772">
                <a:moveTo>
                  <a:pt x="115747" y="-6430"/>
                </a:moveTo>
                <a:cubicBezTo>
                  <a:pt x="110402" y="-6430"/>
                  <a:pt x="106101" y="-2130"/>
                  <a:pt x="106101" y="3215"/>
                </a:cubicBezTo>
                <a:lnTo>
                  <a:pt x="106101" y="8038"/>
                </a:lnTo>
                <a:lnTo>
                  <a:pt x="105378" y="8038"/>
                </a:lnTo>
                <a:cubicBezTo>
                  <a:pt x="90668" y="8038"/>
                  <a:pt x="78772" y="19974"/>
                  <a:pt x="78772" y="34644"/>
                </a:cubicBezTo>
                <a:cubicBezTo>
                  <a:pt x="78772" y="48067"/>
                  <a:pt x="88779" y="59401"/>
                  <a:pt x="102082" y="61048"/>
                </a:cubicBezTo>
                <a:lnTo>
                  <a:pt x="126598" y="64103"/>
                </a:lnTo>
                <a:cubicBezTo>
                  <a:pt x="128648" y="64344"/>
                  <a:pt x="130215" y="66112"/>
                  <a:pt x="130215" y="68202"/>
                </a:cubicBezTo>
                <a:cubicBezTo>
                  <a:pt x="130215" y="70493"/>
                  <a:pt x="128366" y="72302"/>
                  <a:pt x="126116" y="72302"/>
                </a:cubicBezTo>
                <a:lnTo>
                  <a:pt x="96456" y="72342"/>
                </a:lnTo>
                <a:cubicBezTo>
                  <a:pt x="90226" y="72342"/>
                  <a:pt x="85203" y="77366"/>
                  <a:pt x="85203" y="83595"/>
                </a:cubicBezTo>
                <a:cubicBezTo>
                  <a:pt x="85203" y="89824"/>
                  <a:pt x="90226" y="94848"/>
                  <a:pt x="96456" y="94848"/>
                </a:cubicBezTo>
                <a:lnTo>
                  <a:pt x="106101" y="94848"/>
                </a:lnTo>
                <a:lnTo>
                  <a:pt x="106101" y="99671"/>
                </a:lnTo>
                <a:cubicBezTo>
                  <a:pt x="106101" y="105016"/>
                  <a:pt x="110402" y="109316"/>
                  <a:pt x="115747" y="109316"/>
                </a:cubicBezTo>
                <a:cubicBezTo>
                  <a:pt x="121092" y="109316"/>
                  <a:pt x="125392" y="105016"/>
                  <a:pt x="125392" y="99671"/>
                </a:cubicBezTo>
                <a:lnTo>
                  <a:pt x="125392" y="94848"/>
                </a:lnTo>
                <a:lnTo>
                  <a:pt x="126116" y="94848"/>
                </a:lnTo>
                <a:cubicBezTo>
                  <a:pt x="140825" y="94848"/>
                  <a:pt x="152722" y="82912"/>
                  <a:pt x="152722" y="68242"/>
                </a:cubicBezTo>
                <a:cubicBezTo>
                  <a:pt x="152722" y="54819"/>
                  <a:pt x="142714" y="43485"/>
                  <a:pt x="129411" y="41838"/>
                </a:cubicBezTo>
                <a:lnTo>
                  <a:pt x="104896" y="38783"/>
                </a:lnTo>
                <a:cubicBezTo>
                  <a:pt x="102846" y="38542"/>
                  <a:pt x="101278" y="36774"/>
                  <a:pt x="101278" y="34684"/>
                </a:cubicBezTo>
                <a:cubicBezTo>
                  <a:pt x="101278" y="32393"/>
                  <a:pt x="103127" y="30584"/>
                  <a:pt x="105378" y="30584"/>
                </a:cubicBezTo>
                <a:lnTo>
                  <a:pt x="131823" y="30544"/>
                </a:lnTo>
                <a:cubicBezTo>
                  <a:pt x="138052" y="30544"/>
                  <a:pt x="143076" y="25521"/>
                  <a:pt x="143076" y="19291"/>
                </a:cubicBezTo>
                <a:cubicBezTo>
                  <a:pt x="143076" y="13062"/>
                  <a:pt x="138052" y="8038"/>
                  <a:pt x="131823" y="8038"/>
                </a:cubicBezTo>
                <a:lnTo>
                  <a:pt x="125392" y="8038"/>
                </a:lnTo>
                <a:lnTo>
                  <a:pt x="125392" y="3215"/>
                </a:lnTo>
                <a:cubicBezTo>
                  <a:pt x="125392" y="-2130"/>
                  <a:pt x="121092" y="-6430"/>
                  <a:pt x="115747" y="-6430"/>
                </a:cubicBezTo>
                <a:close/>
                <a:moveTo>
                  <a:pt x="43928" y="137248"/>
                </a:moveTo>
                <a:lnTo>
                  <a:pt x="26807" y="154329"/>
                </a:lnTo>
                <a:lnTo>
                  <a:pt x="12861" y="154329"/>
                </a:lnTo>
                <a:cubicBezTo>
                  <a:pt x="5747" y="154329"/>
                  <a:pt x="0" y="160076"/>
                  <a:pt x="0" y="167190"/>
                </a:cubicBezTo>
                <a:lnTo>
                  <a:pt x="0" y="192911"/>
                </a:lnTo>
                <a:cubicBezTo>
                  <a:pt x="0" y="200025"/>
                  <a:pt x="5747" y="205772"/>
                  <a:pt x="12861" y="205772"/>
                </a:cubicBezTo>
                <a:lnTo>
                  <a:pt x="141669" y="205772"/>
                </a:lnTo>
                <a:cubicBezTo>
                  <a:pt x="153324" y="205772"/>
                  <a:pt x="164698" y="202034"/>
                  <a:pt x="174103" y="195122"/>
                </a:cubicBezTo>
                <a:lnTo>
                  <a:pt x="224983" y="157625"/>
                </a:lnTo>
                <a:cubicBezTo>
                  <a:pt x="232137" y="152360"/>
                  <a:pt x="233664" y="142312"/>
                  <a:pt x="228399" y="135159"/>
                </a:cubicBezTo>
                <a:cubicBezTo>
                  <a:pt x="223134" y="128005"/>
                  <a:pt x="213087" y="126478"/>
                  <a:pt x="205933" y="131742"/>
                </a:cubicBezTo>
                <a:lnTo>
                  <a:pt x="157785" y="167190"/>
                </a:lnTo>
                <a:lnTo>
                  <a:pt x="112532" y="167190"/>
                </a:lnTo>
                <a:cubicBezTo>
                  <a:pt x="107186" y="167190"/>
                  <a:pt x="102886" y="162890"/>
                  <a:pt x="102886" y="157544"/>
                </a:cubicBezTo>
                <a:cubicBezTo>
                  <a:pt x="102886" y="152199"/>
                  <a:pt x="107186" y="147899"/>
                  <a:pt x="112532" y="147899"/>
                </a:cubicBezTo>
                <a:lnTo>
                  <a:pt x="141468" y="147899"/>
                </a:lnTo>
                <a:cubicBezTo>
                  <a:pt x="148582" y="147899"/>
                  <a:pt x="154329" y="142152"/>
                  <a:pt x="154329" y="135038"/>
                </a:cubicBezTo>
                <a:cubicBezTo>
                  <a:pt x="154329" y="127924"/>
                  <a:pt x="148582" y="122177"/>
                  <a:pt x="141468" y="122177"/>
                </a:cubicBezTo>
                <a:lnTo>
                  <a:pt x="80299" y="122177"/>
                </a:lnTo>
                <a:cubicBezTo>
                  <a:pt x="66675" y="122177"/>
                  <a:pt x="53573" y="127603"/>
                  <a:pt x="43928" y="13724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1" name="Text 29"/>
          <p:cNvSpPr/>
          <p:nvPr/>
        </p:nvSpPr>
        <p:spPr>
          <a:xfrm>
            <a:off x="6919946" y="1817654"/>
            <a:ext cx="1791932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Loan Information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5516" y="2263494"/>
            <a:ext cx="534150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Comprehensive loan details with eligibility: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5516" y="2572152"/>
            <a:ext cx="5272911" cy="788793"/>
          </a:xfrm>
          <a:custGeom>
            <a:avLst/>
            <a:gdLst/>
            <a:ahLst/>
            <a:cxnLst/>
            <a:rect l="l" t="t" r="r" b="b"/>
            <a:pathLst>
              <a:path w="5272911" h="788793">
                <a:moveTo>
                  <a:pt x="0" y="0"/>
                </a:moveTo>
                <a:lnTo>
                  <a:pt x="5272911" y="0"/>
                </a:lnTo>
                <a:lnTo>
                  <a:pt x="5272911" y="788793"/>
                </a:lnTo>
                <a:lnTo>
                  <a:pt x="0" y="788793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Shape 32"/>
          <p:cNvSpPr/>
          <p:nvPr/>
        </p:nvSpPr>
        <p:spPr>
          <a:xfrm>
            <a:off x="6527693" y="2709333"/>
            <a:ext cx="90025" cy="102886"/>
          </a:xfrm>
          <a:custGeom>
            <a:avLst/>
            <a:gdLst/>
            <a:ahLst/>
            <a:cxnLst/>
            <a:rect l="l" t="t" r="r" b="b"/>
            <a:pathLst>
              <a:path w="90025" h="102886">
                <a:moveTo>
                  <a:pt x="87373" y="14087"/>
                </a:moveTo>
                <a:cubicBezTo>
                  <a:pt x="90246" y="16176"/>
                  <a:pt x="90889" y="20195"/>
                  <a:pt x="88800" y="23069"/>
                </a:cubicBezTo>
                <a:lnTo>
                  <a:pt x="37356" y="93803"/>
                </a:lnTo>
                <a:cubicBezTo>
                  <a:pt x="36251" y="95330"/>
                  <a:pt x="34543" y="96275"/>
                  <a:pt x="32654" y="96436"/>
                </a:cubicBezTo>
                <a:cubicBezTo>
                  <a:pt x="30765" y="96596"/>
                  <a:pt x="28937" y="95893"/>
                  <a:pt x="27610" y="94567"/>
                </a:cubicBezTo>
                <a:lnTo>
                  <a:pt x="1889" y="68845"/>
                </a:lnTo>
                <a:cubicBezTo>
                  <a:pt x="-623" y="66333"/>
                  <a:pt x="-623" y="62254"/>
                  <a:pt x="1889" y="59742"/>
                </a:cubicBezTo>
                <a:cubicBezTo>
                  <a:pt x="4401" y="57230"/>
                  <a:pt x="8480" y="57230"/>
                  <a:pt x="10992" y="59742"/>
                </a:cubicBezTo>
                <a:lnTo>
                  <a:pt x="31388" y="80139"/>
                </a:lnTo>
                <a:lnTo>
                  <a:pt x="78410" y="15493"/>
                </a:lnTo>
                <a:cubicBezTo>
                  <a:pt x="80500" y="12620"/>
                  <a:pt x="84519" y="11977"/>
                  <a:pt x="87393" y="1406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5" name="Text 33"/>
          <p:cNvSpPr/>
          <p:nvPr/>
        </p:nvSpPr>
        <p:spPr>
          <a:xfrm>
            <a:off x="6705600" y="2675038"/>
            <a:ext cx="1148895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Personal loan details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27693" y="2915105"/>
            <a:ext cx="90025" cy="102886"/>
          </a:xfrm>
          <a:custGeom>
            <a:avLst/>
            <a:gdLst/>
            <a:ahLst/>
            <a:cxnLst/>
            <a:rect l="l" t="t" r="r" b="b"/>
            <a:pathLst>
              <a:path w="90025" h="102886">
                <a:moveTo>
                  <a:pt x="87373" y="14087"/>
                </a:moveTo>
                <a:cubicBezTo>
                  <a:pt x="90246" y="16176"/>
                  <a:pt x="90889" y="20195"/>
                  <a:pt x="88800" y="23069"/>
                </a:cubicBezTo>
                <a:lnTo>
                  <a:pt x="37356" y="93803"/>
                </a:lnTo>
                <a:cubicBezTo>
                  <a:pt x="36251" y="95330"/>
                  <a:pt x="34543" y="96275"/>
                  <a:pt x="32654" y="96436"/>
                </a:cubicBezTo>
                <a:cubicBezTo>
                  <a:pt x="30765" y="96596"/>
                  <a:pt x="28937" y="95893"/>
                  <a:pt x="27610" y="94567"/>
                </a:cubicBezTo>
                <a:lnTo>
                  <a:pt x="1889" y="68845"/>
                </a:lnTo>
                <a:cubicBezTo>
                  <a:pt x="-623" y="66333"/>
                  <a:pt x="-623" y="62254"/>
                  <a:pt x="1889" y="59742"/>
                </a:cubicBezTo>
                <a:cubicBezTo>
                  <a:pt x="4401" y="57230"/>
                  <a:pt x="8480" y="57230"/>
                  <a:pt x="10992" y="59742"/>
                </a:cubicBezTo>
                <a:lnTo>
                  <a:pt x="31388" y="80139"/>
                </a:lnTo>
                <a:lnTo>
                  <a:pt x="78410" y="15493"/>
                </a:lnTo>
                <a:cubicBezTo>
                  <a:pt x="80500" y="12620"/>
                  <a:pt x="84519" y="11977"/>
                  <a:pt x="87393" y="1406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7" name="Text 35"/>
          <p:cNvSpPr/>
          <p:nvPr/>
        </p:nvSpPr>
        <p:spPr>
          <a:xfrm>
            <a:off x="6705600" y="2880810"/>
            <a:ext cx="129465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Home loan information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27693" y="3120878"/>
            <a:ext cx="90025" cy="102886"/>
          </a:xfrm>
          <a:custGeom>
            <a:avLst/>
            <a:gdLst/>
            <a:ahLst/>
            <a:cxnLst/>
            <a:rect l="l" t="t" r="r" b="b"/>
            <a:pathLst>
              <a:path w="90025" h="102886">
                <a:moveTo>
                  <a:pt x="87373" y="14087"/>
                </a:moveTo>
                <a:cubicBezTo>
                  <a:pt x="90246" y="16176"/>
                  <a:pt x="90889" y="20195"/>
                  <a:pt x="88800" y="23069"/>
                </a:cubicBezTo>
                <a:lnTo>
                  <a:pt x="37356" y="93803"/>
                </a:lnTo>
                <a:cubicBezTo>
                  <a:pt x="36251" y="95330"/>
                  <a:pt x="34543" y="96275"/>
                  <a:pt x="32654" y="96436"/>
                </a:cubicBezTo>
                <a:cubicBezTo>
                  <a:pt x="30765" y="96596"/>
                  <a:pt x="28937" y="95893"/>
                  <a:pt x="27610" y="94567"/>
                </a:cubicBezTo>
                <a:lnTo>
                  <a:pt x="1889" y="68845"/>
                </a:lnTo>
                <a:cubicBezTo>
                  <a:pt x="-623" y="66333"/>
                  <a:pt x="-623" y="62254"/>
                  <a:pt x="1889" y="59742"/>
                </a:cubicBezTo>
                <a:cubicBezTo>
                  <a:pt x="4401" y="57230"/>
                  <a:pt x="8480" y="57230"/>
                  <a:pt x="10992" y="59742"/>
                </a:cubicBezTo>
                <a:lnTo>
                  <a:pt x="31388" y="80139"/>
                </a:lnTo>
                <a:lnTo>
                  <a:pt x="78410" y="15493"/>
                </a:lnTo>
                <a:cubicBezTo>
                  <a:pt x="80500" y="12620"/>
                  <a:pt x="84519" y="11977"/>
                  <a:pt x="87393" y="1406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9" name="Text 37"/>
          <p:cNvSpPr/>
          <p:nvPr/>
        </p:nvSpPr>
        <p:spPr>
          <a:xfrm>
            <a:off x="6705600" y="3086582"/>
            <a:ext cx="138896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Interest rates &amp; eligibility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6891" y="3669603"/>
            <a:ext cx="5633013" cy="1303224"/>
          </a:xfrm>
          <a:custGeom>
            <a:avLst/>
            <a:gdLst/>
            <a:ahLst/>
            <a:cxnLst/>
            <a:rect l="l" t="t" r="r" b="b"/>
            <a:pathLst>
              <a:path w="5633013" h="1303224">
                <a:moveTo>
                  <a:pt x="0" y="0"/>
                </a:moveTo>
                <a:lnTo>
                  <a:pt x="5633013" y="0"/>
                </a:lnTo>
                <a:lnTo>
                  <a:pt x="5633013" y="1303224"/>
                </a:lnTo>
                <a:lnTo>
                  <a:pt x="0" y="1303224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41" name="Shape 39"/>
          <p:cNvSpPr/>
          <p:nvPr/>
        </p:nvSpPr>
        <p:spPr>
          <a:xfrm>
            <a:off x="6216891" y="3669603"/>
            <a:ext cx="34295" cy="1303224"/>
          </a:xfrm>
          <a:custGeom>
            <a:avLst/>
            <a:gdLst/>
            <a:ahLst/>
            <a:cxnLst/>
            <a:rect l="l" t="t" r="r" b="b"/>
            <a:pathLst>
              <a:path w="34295" h="1303224">
                <a:moveTo>
                  <a:pt x="0" y="0"/>
                </a:moveTo>
                <a:lnTo>
                  <a:pt x="34295" y="0"/>
                </a:lnTo>
                <a:lnTo>
                  <a:pt x="34295" y="1303224"/>
                </a:lnTo>
                <a:lnTo>
                  <a:pt x="0" y="1303224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5516" y="3841080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0" y="0"/>
                </a:moveTo>
                <a:lnTo>
                  <a:pt x="411544" y="0"/>
                </a:lnTo>
                <a:lnTo>
                  <a:pt x="411544" y="411544"/>
                </a:lnTo>
                <a:lnTo>
                  <a:pt x="0" y="411544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08402" y="3943966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02886" y="0"/>
                </a:moveTo>
                <a:cubicBezTo>
                  <a:pt x="104735" y="0"/>
                  <a:pt x="106584" y="402"/>
                  <a:pt x="108272" y="1166"/>
                </a:cubicBezTo>
                <a:lnTo>
                  <a:pt x="183989" y="33277"/>
                </a:lnTo>
                <a:cubicBezTo>
                  <a:pt x="192831" y="37015"/>
                  <a:pt x="199422" y="45736"/>
                  <a:pt x="199382" y="56266"/>
                </a:cubicBezTo>
                <a:cubicBezTo>
                  <a:pt x="199181" y="96134"/>
                  <a:pt x="182784" y="169079"/>
                  <a:pt x="113536" y="202235"/>
                </a:cubicBezTo>
                <a:cubicBezTo>
                  <a:pt x="106825" y="205451"/>
                  <a:pt x="99028" y="205451"/>
                  <a:pt x="92316" y="202235"/>
                </a:cubicBezTo>
                <a:cubicBezTo>
                  <a:pt x="23029" y="169079"/>
                  <a:pt x="6672" y="96134"/>
                  <a:pt x="6471" y="56266"/>
                </a:cubicBezTo>
                <a:cubicBezTo>
                  <a:pt x="6430" y="45736"/>
                  <a:pt x="13022" y="37015"/>
                  <a:pt x="21863" y="33277"/>
                </a:cubicBezTo>
                <a:lnTo>
                  <a:pt x="97541" y="1166"/>
                </a:lnTo>
                <a:cubicBezTo>
                  <a:pt x="99229" y="402"/>
                  <a:pt x="101037" y="0"/>
                  <a:pt x="102886" y="0"/>
                </a:cubicBezTo>
                <a:close/>
                <a:moveTo>
                  <a:pt x="102886" y="26847"/>
                </a:moveTo>
                <a:lnTo>
                  <a:pt x="102886" y="178805"/>
                </a:lnTo>
                <a:cubicBezTo>
                  <a:pt x="158348" y="151958"/>
                  <a:pt x="173259" y="92477"/>
                  <a:pt x="173620" y="56869"/>
                </a:cubicBezTo>
                <a:lnTo>
                  <a:pt x="102886" y="26887"/>
                </a:lnTo>
                <a:lnTo>
                  <a:pt x="102886" y="26887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4" name="Text 42"/>
          <p:cNvSpPr/>
          <p:nvPr/>
        </p:nvSpPr>
        <p:spPr>
          <a:xfrm>
            <a:off x="6919946" y="3909671"/>
            <a:ext cx="1388962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Card Security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05516" y="4355511"/>
            <a:ext cx="5341502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Instant card blocking with fraud detection. Users can immediately block lost/stolen cards through simple commands, with confirmation and next steps provided.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16891" y="5110008"/>
            <a:ext cx="5633013" cy="1303224"/>
          </a:xfrm>
          <a:custGeom>
            <a:avLst/>
            <a:gdLst/>
            <a:ahLst/>
            <a:cxnLst/>
            <a:rect l="l" t="t" r="r" b="b"/>
            <a:pathLst>
              <a:path w="5633013" h="1303224">
                <a:moveTo>
                  <a:pt x="0" y="0"/>
                </a:moveTo>
                <a:lnTo>
                  <a:pt x="5633013" y="0"/>
                </a:lnTo>
                <a:lnTo>
                  <a:pt x="5633013" y="1303224"/>
                </a:lnTo>
                <a:lnTo>
                  <a:pt x="0" y="1303224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47" name="Shape 45"/>
          <p:cNvSpPr/>
          <p:nvPr/>
        </p:nvSpPr>
        <p:spPr>
          <a:xfrm>
            <a:off x="6216891" y="5110008"/>
            <a:ext cx="34295" cy="1303224"/>
          </a:xfrm>
          <a:custGeom>
            <a:avLst/>
            <a:gdLst/>
            <a:ahLst/>
            <a:cxnLst/>
            <a:rect l="l" t="t" r="r" b="b"/>
            <a:pathLst>
              <a:path w="34295" h="1303224">
                <a:moveTo>
                  <a:pt x="0" y="0"/>
                </a:moveTo>
                <a:lnTo>
                  <a:pt x="34295" y="0"/>
                </a:lnTo>
                <a:lnTo>
                  <a:pt x="34295" y="1303224"/>
                </a:lnTo>
                <a:lnTo>
                  <a:pt x="0" y="130322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Shape 46"/>
          <p:cNvSpPr/>
          <p:nvPr/>
        </p:nvSpPr>
        <p:spPr>
          <a:xfrm>
            <a:off x="6405516" y="5281485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0" y="0"/>
                </a:moveTo>
                <a:lnTo>
                  <a:pt x="411544" y="0"/>
                </a:lnTo>
                <a:lnTo>
                  <a:pt x="411544" y="411544"/>
                </a:lnTo>
                <a:lnTo>
                  <a:pt x="0" y="411544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95541" y="5384371"/>
            <a:ext cx="231494" cy="205772"/>
          </a:xfrm>
          <a:custGeom>
            <a:avLst/>
            <a:gdLst/>
            <a:ahLst/>
            <a:cxnLst/>
            <a:rect l="l" t="t" r="r" b="b"/>
            <a:pathLst>
              <a:path w="231494" h="205772">
                <a:moveTo>
                  <a:pt x="154329" y="57873"/>
                </a:moveTo>
                <a:cubicBezTo>
                  <a:pt x="154329" y="96938"/>
                  <a:pt x="119766" y="128608"/>
                  <a:pt x="77165" y="128608"/>
                </a:cubicBezTo>
                <a:cubicBezTo>
                  <a:pt x="66434" y="128608"/>
                  <a:pt x="56226" y="126598"/>
                  <a:pt x="46942" y="122981"/>
                </a:cubicBezTo>
                <a:lnTo>
                  <a:pt x="14147" y="140343"/>
                </a:lnTo>
                <a:cubicBezTo>
                  <a:pt x="10409" y="142312"/>
                  <a:pt x="5828" y="141629"/>
                  <a:pt x="2813" y="138655"/>
                </a:cubicBezTo>
                <a:cubicBezTo>
                  <a:pt x="-201" y="135681"/>
                  <a:pt x="-884" y="131059"/>
                  <a:pt x="1125" y="127322"/>
                </a:cubicBezTo>
                <a:lnTo>
                  <a:pt x="15433" y="100314"/>
                </a:lnTo>
                <a:cubicBezTo>
                  <a:pt x="5747" y="88498"/>
                  <a:pt x="0" y="73789"/>
                  <a:pt x="0" y="57873"/>
                </a:cubicBezTo>
                <a:cubicBezTo>
                  <a:pt x="0" y="18809"/>
                  <a:pt x="34563" y="-12861"/>
                  <a:pt x="77165" y="-12861"/>
                </a:cubicBezTo>
                <a:cubicBezTo>
                  <a:pt x="119766" y="-12861"/>
                  <a:pt x="154329" y="18809"/>
                  <a:pt x="154329" y="57873"/>
                </a:cubicBezTo>
                <a:close/>
                <a:moveTo>
                  <a:pt x="154329" y="205772"/>
                </a:moveTo>
                <a:cubicBezTo>
                  <a:pt x="116510" y="205772"/>
                  <a:pt x="85042" y="180814"/>
                  <a:pt x="78451" y="147899"/>
                </a:cubicBezTo>
                <a:cubicBezTo>
                  <a:pt x="126678" y="147296"/>
                  <a:pt x="168597" y="112974"/>
                  <a:pt x="173218" y="66434"/>
                </a:cubicBezTo>
                <a:cubicBezTo>
                  <a:pt x="206697" y="74150"/>
                  <a:pt x="231494" y="101922"/>
                  <a:pt x="231494" y="135038"/>
                </a:cubicBezTo>
                <a:cubicBezTo>
                  <a:pt x="231494" y="150953"/>
                  <a:pt x="225747" y="165663"/>
                  <a:pt x="216061" y="177478"/>
                </a:cubicBezTo>
                <a:lnTo>
                  <a:pt x="230368" y="204486"/>
                </a:lnTo>
                <a:cubicBezTo>
                  <a:pt x="232338" y="208224"/>
                  <a:pt x="231654" y="212805"/>
                  <a:pt x="228680" y="215820"/>
                </a:cubicBezTo>
                <a:cubicBezTo>
                  <a:pt x="225706" y="218834"/>
                  <a:pt x="221084" y="219517"/>
                  <a:pt x="217347" y="217508"/>
                </a:cubicBezTo>
                <a:lnTo>
                  <a:pt x="184552" y="200146"/>
                </a:lnTo>
                <a:cubicBezTo>
                  <a:pt x="175268" y="203763"/>
                  <a:pt x="165060" y="205772"/>
                  <a:pt x="154329" y="20577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0" name="Text 48"/>
          <p:cNvSpPr/>
          <p:nvPr/>
        </p:nvSpPr>
        <p:spPr>
          <a:xfrm>
            <a:off x="6919946" y="5350076"/>
            <a:ext cx="1954835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Context Awareness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05516" y="5795916"/>
            <a:ext cx="5341502" cy="44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Maintains conversation context throughout the session, remembers user preferences, and provides personalized responses based on previous interactions.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1fa9n6k2ql7on.cloudfront.net/04f38544f094c391a5a08d6853561b47616fbb2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5" b="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8620" y="213831"/>
            <a:ext cx="834390" cy="586740"/>
          </a:xfrm>
          <a:custGeom>
            <a:avLst/>
            <a:gdLst/>
            <a:ahLst/>
            <a:cxnLst/>
            <a:rect l="l" t="t" r="r" b="b"/>
            <a:pathLst>
              <a:path w="834390" h="586740">
                <a:moveTo>
                  <a:pt x="0" y="0"/>
                </a:moveTo>
                <a:lnTo>
                  <a:pt x="834390" y="0"/>
                </a:lnTo>
                <a:lnTo>
                  <a:pt x="834390" y="586740"/>
                </a:lnTo>
                <a:lnTo>
                  <a:pt x="0" y="5867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4840" y="320511"/>
            <a:ext cx="500182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spc="113" kern="0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12993"/>
            <a:ext cx="5676900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7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Milestone 4:</a:t>
            </a:r>
            <a:endParaRPr lang="en-US" sz="1600" dirty="0"/>
          </a:p>
          <a:p>
            <a:pPr>
              <a:lnSpc>
                <a:spcPct val="70000"/>
              </a:lnSpc>
            </a:pPr>
            <a:r>
              <a:rPr lang="en-US" sz="72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Admin Panel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063711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406611"/>
            <a:ext cx="53625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Comprehensive Analytics &amp;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Management Dashboard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810" y="4720108"/>
            <a:ext cx="2522220" cy="883920"/>
          </a:xfrm>
          <a:custGeom>
            <a:avLst/>
            <a:gdLst/>
            <a:ahLst/>
            <a:cxnLst/>
            <a:rect l="l" t="t" r="r" b="b"/>
            <a:pathLst>
              <a:path w="2522220" h="883920">
                <a:moveTo>
                  <a:pt x="0" y="0"/>
                </a:moveTo>
                <a:lnTo>
                  <a:pt x="2522220" y="0"/>
                </a:lnTo>
                <a:lnTo>
                  <a:pt x="2522220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4ECDC4">
                <a:alpha val="5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5795" y="48763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" y="5181126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Intent Manager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071217" y="4720108"/>
            <a:ext cx="2522220" cy="883920"/>
          </a:xfrm>
          <a:custGeom>
            <a:avLst/>
            <a:gdLst/>
            <a:ahLst/>
            <a:cxnLst/>
            <a:rect l="l" t="t" r="r" b="b"/>
            <a:pathLst>
              <a:path w="2522220" h="883920">
                <a:moveTo>
                  <a:pt x="0" y="0"/>
                </a:moveTo>
                <a:lnTo>
                  <a:pt x="2522220" y="0"/>
                </a:lnTo>
                <a:lnTo>
                  <a:pt x="2522220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4ECDC4">
                <a:alpha val="5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2202" y="48763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1"/>
          <p:cNvSpPr/>
          <p:nvPr/>
        </p:nvSpPr>
        <p:spPr>
          <a:xfrm>
            <a:off x="3303627" y="5181126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 Analysis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4810" y="5764054"/>
            <a:ext cx="2522220" cy="883920"/>
          </a:xfrm>
          <a:custGeom>
            <a:avLst/>
            <a:gdLst/>
            <a:ahLst/>
            <a:cxnLst/>
            <a:rect l="l" t="t" r="r" b="b"/>
            <a:pathLst>
              <a:path w="2522220" h="883920">
                <a:moveTo>
                  <a:pt x="0" y="0"/>
                </a:moveTo>
                <a:lnTo>
                  <a:pt x="2522220" y="0"/>
                </a:lnTo>
                <a:lnTo>
                  <a:pt x="2522220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4ECDC4">
                <a:alpha val="5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1508" y="5920262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3086" y="0"/>
                </a:moveTo>
                <a:cubicBezTo>
                  <a:pt x="27325" y="0"/>
                  <a:pt x="14511" y="12814"/>
                  <a:pt x="14511" y="28575"/>
                </a:cubicBezTo>
                <a:lnTo>
                  <a:pt x="14511" y="200025"/>
                </a:lnTo>
                <a:cubicBezTo>
                  <a:pt x="14511" y="215786"/>
                  <a:pt x="27325" y="228600"/>
                  <a:pt x="43086" y="228600"/>
                </a:cubicBezTo>
                <a:lnTo>
                  <a:pt x="157386" y="228600"/>
                </a:lnTo>
                <a:cubicBezTo>
                  <a:pt x="173147" y="228600"/>
                  <a:pt x="185961" y="215786"/>
                  <a:pt x="185961" y="200025"/>
                </a:cubicBezTo>
                <a:lnTo>
                  <a:pt x="185961" y="157163"/>
                </a:lnTo>
                <a:lnTo>
                  <a:pt x="220831" y="157163"/>
                </a:lnTo>
                <a:lnTo>
                  <a:pt x="206990" y="171004"/>
                </a:lnTo>
                <a:cubicBezTo>
                  <a:pt x="202793" y="175200"/>
                  <a:pt x="202793" y="181987"/>
                  <a:pt x="206990" y="186139"/>
                </a:cubicBezTo>
                <a:cubicBezTo>
                  <a:pt x="211187" y="190292"/>
                  <a:pt x="217974" y="190336"/>
                  <a:pt x="222126" y="186139"/>
                </a:cubicBezTo>
                <a:lnTo>
                  <a:pt x="254273" y="153992"/>
                </a:lnTo>
                <a:cubicBezTo>
                  <a:pt x="258470" y="149796"/>
                  <a:pt x="258470" y="143009"/>
                  <a:pt x="254273" y="138857"/>
                </a:cubicBezTo>
                <a:lnTo>
                  <a:pt x="222126" y="106710"/>
                </a:lnTo>
                <a:cubicBezTo>
                  <a:pt x="217929" y="102513"/>
                  <a:pt x="211142" y="102513"/>
                  <a:pt x="206990" y="106710"/>
                </a:cubicBezTo>
                <a:cubicBezTo>
                  <a:pt x="202838" y="110907"/>
                  <a:pt x="202793" y="117693"/>
                  <a:pt x="206990" y="121846"/>
                </a:cubicBezTo>
                <a:lnTo>
                  <a:pt x="220831" y="135687"/>
                </a:lnTo>
                <a:lnTo>
                  <a:pt x="185961" y="135687"/>
                </a:lnTo>
                <a:lnTo>
                  <a:pt x="185961" y="76081"/>
                </a:lnTo>
                <a:cubicBezTo>
                  <a:pt x="185961" y="68491"/>
                  <a:pt x="182969" y="61213"/>
                  <a:pt x="177611" y="55855"/>
                </a:cubicBezTo>
                <a:lnTo>
                  <a:pt x="130016" y="8349"/>
                </a:lnTo>
                <a:cubicBezTo>
                  <a:pt x="124658" y="2991"/>
                  <a:pt x="117425" y="0"/>
                  <a:pt x="109835" y="0"/>
                </a:cubicBezTo>
                <a:lnTo>
                  <a:pt x="43086" y="0"/>
                </a:lnTo>
                <a:close/>
                <a:moveTo>
                  <a:pt x="159841" y="78581"/>
                </a:moveTo>
                <a:lnTo>
                  <a:pt x="118095" y="78581"/>
                </a:lnTo>
                <a:cubicBezTo>
                  <a:pt x="112157" y="78581"/>
                  <a:pt x="107379" y="73804"/>
                  <a:pt x="107379" y="67866"/>
                </a:cubicBezTo>
                <a:lnTo>
                  <a:pt x="107379" y="26119"/>
                </a:lnTo>
                <a:lnTo>
                  <a:pt x="159841" y="78581"/>
                </a:lnTo>
                <a:close/>
                <a:moveTo>
                  <a:pt x="100236" y="146447"/>
                </a:moveTo>
                <a:cubicBezTo>
                  <a:pt x="100236" y="140509"/>
                  <a:pt x="105013" y="135731"/>
                  <a:pt x="110951" y="135731"/>
                </a:cubicBezTo>
                <a:lnTo>
                  <a:pt x="157386" y="135731"/>
                </a:lnTo>
                <a:lnTo>
                  <a:pt x="157386" y="157163"/>
                </a:lnTo>
                <a:lnTo>
                  <a:pt x="110951" y="157163"/>
                </a:lnTo>
                <a:cubicBezTo>
                  <a:pt x="105013" y="157163"/>
                  <a:pt x="100236" y="152385"/>
                  <a:pt x="100236" y="146447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" y="6225062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Export &amp; Reports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071217" y="5764054"/>
            <a:ext cx="2522220" cy="883920"/>
          </a:xfrm>
          <a:custGeom>
            <a:avLst/>
            <a:gdLst/>
            <a:ahLst/>
            <a:cxnLst/>
            <a:rect l="l" t="t" r="r" b="b"/>
            <a:pathLst>
              <a:path w="2522220" h="883920">
                <a:moveTo>
                  <a:pt x="0" y="0"/>
                </a:moveTo>
                <a:lnTo>
                  <a:pt x="2522220" y="0"/>
                </a:lnTo>
                <a:lnTo>
                  <a:pt x="2522220" y="883920"/>
                </a:lnTo>
                <a:lnTo>
                  <a:pt x="0" y="8839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4ECDC4">
                <a:alpha val="5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03627" y="592026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100013"/>
                </a:moveTo>
                <a:cubicBezTo>
                  <a:pt x="168503" y="100013"/>
                  <a:pt x="189309" y="79206"/>
                  <a:pt x="189309" y="53578"/>
                </a:cubicBezTo>
                <a:cubicBezTo>
                  <a:pt x="189309" y="27950"/>
                  <a:pt x="168503" y="7144"/>
                  <a:pt x="142875" y="7144"/>
                </a:cubicBezTo>
                <a:cubicBezTo>
                  <a:pt x="117247" y="7144"/>
                  <a:pt x="96441" y="27950"/>
                  <a:pt x="96441" y="53578"/>
                </a:cubicBezTo>
                <a:cubicBezTo>
                  <a:pt x="96441" y="79206"/>
                  <a:pt x="117247" y="100013"/>
                  <a:pt x="142875" y="100013"/>
                </a:cubicBezTo>
                <a:close/>
                <a:moveTo>
                  <a:pt x="42863" y="103584"/>
                </a:moveTo>
                <a:cubicBezTo>
                  <a:pt x="60605" y="103584"/>
                  <a:pt x="75009" y="89180"/>
                  <a:pt x="75009" y="71438"/>
                </a:cubicBezTo>
                <a:cubicBezTo>
                  <a:pt x="75009" y="53695"/>
                  <a:pt x="60605" y="39291"/>
                  <a:pt x="42863" y="39291"/>
                </a:cubicBezTo>
                <a:cubicBezTo>
                  <a:pt x="25120" y="39291"/>
                  <a:pt x="10716" y="53695"/>
                  <a:pt x="10716" y="71438"/>
                </a:cubicBezTo>
                <a:cubicBezTo>
                  <a:pt x="10716" y="89180"/>
                  <a:pt x="25120" y="103584"/>
                  <a:pt x="42862" y="103584"/>
                </a:cubicBezTo>
                <a:close/>
                <a:moveTo>
                  <a:pt x="0" y="185738"/>
                </a:move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lnTo>
                  <a:pt x="52998" y="214313"/>
                </a:lnTo>
                <a:cubicBezTo>
                  <a:pt x="51078" y="209937"/>
                  <a:pt x="50006" y="205115"/>
                  <a:pt x="50006" y="200025"/>
                </a:cubicBezTo>
                <a:lnTo>
                  <a:pt x="50006" y="192881"/>
                </a:lnTo>
                <a:cubicBezTo>
                  <a:pt x="50006" y="169128"/>
                  <a:pt x="58936" y="147429"/>
                  <a:pt x="73625" y="130999"/>
                </a:cubicBezTo>
                <a:cubicBezTo>
                  <a:pt x="68401" y="129436"/>
                  <a:pt x="62865" y="128588"/>
                  <a:pt x="57150" y="128588"/>
                </a:cubicBezTo>
                <a:cubicBezTo>
                  <a:pt x="25584" y="128588"/>
                  <a:pt x="0" y="154171"/>
                  <a:pt x="0" y="185738"/>
                </a:cubicBezTo>
                <a:close/>
                <a:moveTo>
                  <a:pt x="275034" y="71438"/>
                </a:moveTo>
                <a:cubicBezTo>
                  <a:pt x="275034" y="53695"/>
                  <a:pt x="260630" y="39291"/>
                  <a:pt x="242888" y="39291"/>
                </a:cubicBezTo>
                <a:cubicBezTo>
                  <a:pt x="225145" y="39291"/>
                  <a:pt x="210741" y="53695"/>
                  <a:pt x="210741" y="71438"/>
                </a:cubicBezTo>
                <a:cubicBezTo>
                  <a:pt x="210741" y="89180"/>
                  <a:pt x="225145" y="103584"/>
                  <a:pt x="242888" y="103584"/>
                </a:cubicBezTo>
                <a:cubicBezTo>
                  <a:pt x="260630" y="103584"/>
                  <a:pt x="275034" y="89180"/>
                  <a:pt x="275034" y="71438"/>
                </a:cubicBezTo>
                <a:close/>
                <a:moveTo>
                  <a:pt x="71438" y="192881"/>
                </a:moveTo>
                <a:lnTo>
                  <a:pt x="71438" y="200025"/>
                </a:lnTo>
                <a:cubicBezTo>
                  <a:pt x="71438" y="207928"/>
                  <a:pt x="77822" y="214313"/>
                  <a:pt x="85725" y="214313"/>
                </a:cubicBezTo>
                <a:lnTo>
                  <a:pt x="155734" y="214313"/>
                </a:lnTo>
                <a:cubicBezTo>
                  <a:pt x="152564" y="204668"/>
                  <a:pt x="152921" y="194489"/>
                  <a:pt x="160511" y="185738"/>
                </a:cubicBezTo>
                <a:cubicBezTo>
                  <a:pt x="154260" y="178504"/>
                  <a:pt x="151358" y="168012"/>
                  <a:pt x="155421" y="157475"/>
                </a:cubicBezTo>
                <a:cubicBezTo>
                  <a:pt x="158368" y="149840"/>
                  <a:pt x="162520" y="142696"/>
                  <a:pt x="167655" y="136356"/>
                </a:cubicBezTo>
                <a:cubicBezTo>
                  <a:pt x="170066" y="133410"/>
                  <a:pt x="172834" y="131132"/>
                  <a:pt x="175826" y="129480"/>
                </a:cubicBezTo>
                <a:cubicBezTo>
                  <a:pt x="165958" y="124346"/>
                  <a:pt x="154751" y="121444"/>
                  <a:pt x="142875" y="121444"/>
                </a:cubicBezTo>
                <a:cubicBezTo>
                  <a:pt x="103406" y="121444"/>
                  <a:pt x="71438" y="153412"/>
                  <a:pt x="71438" y="192881"/>
                </a:cubicBezTo>
                <a:close/>
                <a:moveTo>
                  <a:pt x="278874" y="173191"/>
                </a:moveTo>
                <a:cubicBezTo>
                  <a:pt x="281687" y="171584"/>
                  <a:pt x="283116" y="168235"/>
                  <a:pt x="281910" y="165155"/>
                </a:cubicBezTo>
                <a:cubicBezTo>
                  <a:pt x="279767" y="159618"/>
                  <a:pt x="276776" y="154394"/>
                  <a:pt x="273025" y="149796"/>
                </a:cubicBezTo>
                <a:cubicBezTo>
                  <a:pt x="270971" y="147251"/>
                  <a:pt x="267355" y="146804"/>
                  <a:pt x="264542" y="148456"/>
                </a:cubicBezTo>
                <a:cubicBezTo>
                  <a:pt x="254809" y="154082"/>
                  <a:pt x="242843" y="147206"/>
                  <a:pt x="242843" y="135910"/>
                </a:cubicBezTo>
                <a:cubicBezTo>
                  <a:pt x="242843" y="132651"/>
                  <a:pt x="240655" y="129748"/>
                  <a:pt x="237440" y="129257"/>
                </a:cubicBezTo>
                <a:cubicBezTo>
                  <a:pt x="231681" y="128364"/>
                  <a:pt x="225475" y="128364"/>
                  <a:pt x="219715" y="129257"/>
                </a:cubicBezTo>
                <a:cubicBezTo>
                  <a:pt x="216500" y="129748"/>
                  <a:pt x="214312" y="132651"/>
                  <a:pt x="214312" y="135910"/>
                </a:cubicBezTo>
                <a:cubicBezTo>
                  <a:pt x="214312" y="147161"/>
                  <a:pt x="202347" y="154082"/>
                  <a:pt x="192613" y="148456"/>
                </a:cubicBezTo>
                <a:cubicBezTo>
                  <a:pt x="189801" y="146849"/>
                  <a:pt x="186184" y="147295"/>
                  <a:pt x="184130" y="149796"/>
                </a:cubicBezTo>
                <a:cubicBezTo>
                  <a:pt x="180380" y="154394"/>
                  <a:pt x="177388" y="159618"/>
                  <a:pt x="175245" y="165155"/>
                </a:cubicBezTo>
                <a:cubicBezTo>
                  <a:pt x="174084" y="168191"/>
                  <a:pt x="175468" y="171539"/>
                  <a:pt x="178281" y="173147"/>
                </a:cubicBezTo>
                <a:cubicBezTo>
                  <a:pt x="188059" y="178772"/>
                  <a:pt x="188059" y="192569"/>
                  <a:pt x="178281" y="198239"/>
                </a:cubicBezTo>
                <a:cubicBezTo>
                  <a:pt x="175468" y="199846"/>
                  <a:pt x="174040" y="203195"/>
                  <a:pt x="175245" y="206231"/>
                </a:cubicBezTo>
                <a:cubicBezTo>
                  <a:pt x="177388" y="211768"/>
                  <a:pt x="180380" y="216991"/>
                  <a:pt x="184130" y="221590"/>
                </a:cubicBezTo>
                <a:cubicBezTo>
                  <a:pt x="186184" y="224135"/>
                  <a:pt x="189801" y="224582"/>
                  <a:pt x="192613" y="222930"/>
                </a:cubicBezTo>
                <a:cubicBezTo>
                  <a:pt x="202347" y="217304"/>
                  <a:pt x="214312" y="224224"/>
                  <a:pt x="214312" y="235476"/>
                </a:cubicBezTo>
                <a:cubicBezTo>
                  <a:pt x="214312" y="238735"/>
                  <a:pt x="216500" y="241637"/>
                  <a:pt x="219715" y="242128"/>
                </a:cubicBezTo>
                <a:cubicBezTo>
                  <a:pt x="225475" y="243021"/>
                  <a:pt x="231681" y="243021"/>
                  <a:pt x="237440" y="242128"/>
                </a:cubicBezTo>
                <a:cubicBezTo>
                  <a:pt x="240655" y="241637"/>
                  <a:pt x="242843" y="238735"/>
                  <a:pt x="242843" y="235476"/>
                </a:cubicBezTo>
                <a:cubicBezTo>
                  <a:pt x="242843" y="224224"/>
                  <a:pt x="254809" y="217304"/>
                  <a:pt x="264542" y="222930"/>
                </a:cubicBezTo>
                <a:cubicBezTo>
                  <a:pt x="267355" y="224537"/>
                  <a:pt x="270971" y="224091"/>
                  <a:pt x="273025" y="221590"/>
                </a:cubicBezTo>
                <a:cubicBezTo>
                  <a:pt x="276776" y="216991"/>
                  <a:pt x="279767" y="211768"/>
                  <a:pt x="281910" y="206231"/>
                </a:cubicBezTo>
                <a:cubicBezTo>
                  <a:pt x="283071" y="203195"/>
                  <a:pt x="281687" y="199846"/>
                  <a:pt x="278874" y="198239"/>
                </a:cubicBezTo>
                <a:cubicBezTo>
                  <a:pt x="269096" y="192613"/>
                  <a:pt x="269096" y="178817"/>
                  <a:pt x="278874" y="173147"/>
                </a:cubicBezTo>
                <a:close/>
                <a:moveTo>
                  <a:pt x="210741" y="185738"/>
                </a:moveTo>
                <a:cubicBezTo>
                  <a:pt x="210741" y="175881"/>
                  <a:pt x="218743" y="167878"/>
                  <a:pt x="228600" y="167878"/>
                </a:cubicBezTo>
                <a:cubicBezTo>
                  <a:pt x="238457" y="167878"/>
                  <a:pt x="246459" y="175881"/>
                  <a:pt x="246459" y="185738"/>
                </a:cubicBezTo>
                <a:cubicBezTo>
                  <a:pt x="246459" y="195594"/>
                  <a:pt x="238457" y="203597"/>
                  <a:pt x="228600" y="203597"/>
                </a:cubicBezTo>
                <a:cubicBezTo>
                  <a:pt x="218743" y="203597"/>
                  <a:pt x="210741" y="195594"/>
                  <a:pt x="210741" y="185738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7"/>
          <p:cNvSpPr/>
          <p:nvPr/>
        </p:nvSpPr>
        <p:spPr>
          <a:xfrm>
            <a:off x="3303627" y="6225062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Management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3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MILESTONE 4: ADMINISTRATION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Core Features &amp;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09700"/>
            <a:ext cx="3600450" cy="2971800"/>
          </a:xfrm>
          <a:custGeom>
            <a:avLst/>
            <a:gdLst/>
            <a:ahLst/>
            <a:cxnLst/>
            <a:rect l="l" t="t" r="r" b="b"/>
            <a:pathLst>
              <a:path w="3600450" h="2971800">
                <a:moveTo>
                  <a:pt x="0" y="0"/>
                </a:moveTo>
                <a:lnTo>
                  <a:pt x="3600450" y="0"/>
                </a:lnTo>
                <a:lnTo>
                  <a:pt x="3600450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09700"/>
            <a:ext cx="38100" cy="2971800"/>
          </a:xfrm>
          <a:custGeom>
            <a:avLst/>
            <a:gdLst/>
            <a:ahLst/>
            <a:cxnLst/>
            <a:rect l="l" t="t" r="r" b="b"/>
            <a:pathLst>
              <a:path w="38100" h="2971800">
                <a:moveTo>
                  <a:pt x="0" y="0"/>
                </a:moveTo>
                <a:lnTo>
                  <a:pt x="38100" y="0"/>
                </a:lnTo>
                <a:lnTo>
                  <a:pt x="38100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Shape 6"/>
          <p:cNvSpPr/>
          <p:nvPr/>
        </p:nvSpPr>
        <p:spPr>
          <a:xfrm>
            <a:off x="692944" y="16954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9275" y="14548"/>
                </a:moveTo>
                <a:lnTo>
                  <a:pt x="204415" y="70470"/>
                </a:lnTo>
                <a:cubicBezTo>
                  <a:pt x="214722" y="80925"/>
                  <a:pt x="214722" y="97668"/>
                  <a:pt x="204415" y="108124"/>
                </a:cubicBezTo>
                <a:lnTo>
                  <a:pt x="146224" y="167022"/>
                </a:lnTo>
                <a:cubicBezTo>
                  <a:pt x="142763" y="170520"/>
                  <a:pt x="137108" y="170557"/>
                  <a:pt x="133610" y="167097"/>
                </a:cubicBezTo>
                <a:cubicBezTo>
                  <a:pt x="130113" y="163637"/>
                  <a:pt x="130076" y="157981"/>
                  <a:pt x="133536" y="154484"/>
                </a:cubicBezTo>
                <a:lnTo>
                  <a:pt x="191728" y="95548"/>
                </a:lnTo>
                <a:cubicBezTo>
                  <a:pt x="195151" y="92087"/>
                  <a:pt x="195151" y="86469"/>
                  <a:pt x="191728" y="83009"/>
                </a:cubicBezTo>
                <a:lnTo>
                  <a:pt x="136550" y="27124"/>
                </a:lnTo>
                <a:cubicBezTo>
                  <a:pt x="133090" y="23626"/>
                  <a:pt x="133127" y="17971"/>
                  <a:pt x="136624" y="14511"/>
                </a:cubicBezTo>
                <a:cubicBezTo>
                  <a:pt x="140122" y="11050"/>
                  <a:pt x="145777" y="11088"/>
                  <a:pt x="149237" y="14585"/>
                </a:cubicBezTo>
                <a:close/>
                <a:moveTo>
                  <a:pt x="11943" y="85390"/>
                </a:moveTo>
                <a:lnTo>
                  <a:pt x="11943" y="35719"/>
                </a:lnTo>
                <a:cubicBezTo>
                  <a:pt x="11943" y="22585"/>
                  <a:pt x="22622" y="11906"/>
                  <a:pt x="35756" y="11906"/>
                </a:cubicBezTo>
                <a:lnTo>
                  <a:pt x="85427" y="11906"/>
                </a:lnTo>
                <a:cubicBezTo>
                  <a:pt x="91753" y="11906"/>
                  <a:pt x="97817" y="14399"/>
                  <a:pt x="102282" y="18864"/>
                </a:cubicBezTo>
                <a:lnTo>
                  <a:pt x="155860" y="72442"/>
                </a:lnTo>
                <a:cubicBezTo>
                  <a:pt x="165162" y="81744"/>
                  <a:pt x="165162" y="96813"/>
                  <a:pt x="155860" y="106114"/>
                </a:cubicBezTo>
                <a:lnTo>
                  <a:pt x="106189" y="155786"/>
                </a:lnTo>
                <a:cubicBezTo>
                  <a:pt x="96887" y="165088"/>
                  <a:pt x="81818" y="165088"/>
                  <a:pt x="72517" y="155786"/>
                </a:cubicBezTo>
                <a:lnTo>
                  <a:pt x="18938" y="102208"/>
                </a:lnTo>
                <a:cubicBezTo>
                  <a:pt x="14474" y="97743"/>
                  <a:pt x="11981" y="91678"/>
                  <a:pt x="11981" y="85353"/>
                </a:cubicBezTo>
                <a:close/>
                <a:moveTo>
                  <a:pt x="65522" y="53578"/>
                </a:moveTo>
                <a:cubicBezTo>
                  <a:pt x="65522" y="47007"/>
                  <a:pt x="60187" y="41672"/>
                  <a:pt x="53615" y="41672"/>
                </a:cubicBezTo>
                <a:cubicBezTo>
                  <a:pt x="47044" y="41672"/>
                  <a:pt x="41709" y="47007"/>
                  <a:pt x="41709" y="53578"/>
                </a:cubicBezTo>
                <a:cubicBezTo>
                  <a:pt x="41709" y="60149"/>
                  <a:pt x="47044" y="65484"/>
                  <a:pt x="53615" y="65484"/>
                </a:cubicBezTo>
                <a:cubicBezTo>
                  <a:pt x="60187" y="65484"/>
                  <a:pt x="65522" y="60149"/>
                  <a:pt x="65522" y="5357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657350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Intent Manager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133600"/>
            <a:ext cx="335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Complete CRUD operations for managing intents: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2705100"/>
            <a:ext cx="3276600" cy="609600"/>
          </a:xfrm>
          <a:custGeom>
            <a:avLst/>
            <a:gdLst/>
            <a:ahLst/>
            <a:cxnLst/>
            <a:rect l="l" t="t" r="r" b="b"/>
            <a:pathLst>
              <a:path w="3276600" h="609600">
                <a:moveTo>
                  <a:pt x="0" y="0"/>
                </a:moveTo>
                <a:lnTo>
                  <a:pt x="3276600" y="0"/>
                </a:lnTo>
                <a:lnTo>
                  <a:pt x="3276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47700" y="27813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Add new intents and training examples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3390900"/>
            <a:ext cx="3276600" cy="381000"/>
          </a:xfrm>
          <a:custGeom>
            <a:avLst/>
            <a:gdLst/>
            <a:ahLst/>
            <a:cxnLst/>
            <a:rect l="l" t="t" r="r" b="b"/>
            <a:pathLst>
              <a:path w="3276600" h="381000">
                <a:moveTo>
                  <a:pt x="0" y="0"/>
                </a:moveTo>
                <a:lnTo>
                  <a:pt x="3276600" y="0"/>
                </a:lnTo>
                <a:lnTo>
                  <a:pt x="3276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647700" y="34671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View and search existing intents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" y="3848100"/>
            <a:ext cx="3276600" cy="381000"/>
          </a:xfrm>
          <a:custGeom>
            <a:avLst/>
            <a:gdLst/>
            <a:ahLst/>
            <a:cxnLst/>
            <a:rect l="l" t="t" r="r" b="b"/>
            <a:pathLst>
              <a:path w="3276600" h="381000">
                <a:moveTo>
                  <a:pt x="0" y="0"/>
                </a:moveTo>
                <a:lnTo>
                  <a:pt x="3276600" y="0"/>
                </a:lnTo>
                <a:lnTo>
                  <a:pt x="3276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Text 14"/>
          <p:cNvSpPr/>
          <p:nvPr/>
        </p:nvSpPr>
        <p:spPr>
          <a:xfrm>
            <a:off x="647700" y="39243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Update: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Modify intent definitions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71950" y="1409700"/>
            <a:ext cx="3600450" cy="2971800"/>
          </a:xfrm>
          <a:custGeom>
            <a:avLst/>
            <a:gdLst/>
            <a:ahLst/>
            <a:cxnLst/>
            <a:rect l="l" t="t" r="r" b="b"/>
            <a:pathLst>
              <a:path w="3600450" h="2971800">
                <a:moveTo>
                  <a:pt x="0" y="0"/>
                </a:moveTo>
                <a:lnTo>
                  <a:pt x="3600450" y="0"/>
                </a:lnTo>
                <a:lnTo>
                  <a:pt x="3600450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18" name="Shape 16"/>
          <p:cNvSpPr/>
          <p:nvPr/>
        </p:nvSpPr>
        <p:spPr>
          <a:xfrm>
            <a:off x="4171950" y="1409700"/>
            <a:ext cx="38100" cy="2971800"/>
          </a:xfrm>
          <a:custGeom>
            <a:avLst/>
            <a:gdLst/>
            <a:ahLst/>
            <a:cxnLst/>
            <a:rect l="l" t="t" r="r" b="b"/>
            <a:pathLst>
              <a:path w="38100" h="2971800">
                <a:moveTo>
                  <a:pt x="0" y="0"/>
                </a:moveTo>
                <a:lnTo>
                  <a:pt x="38100" y="0"/>
                </a:lnTo>
                <a:lnTo>
                  <a:pt x="38100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9" name="Shape 17"/>
          <p:cNvSpPr/>
          <p:nvPr/>
        </p:nvSpPr>
        <p:spPr>
          <a:xfrm>
            <a:off x="4343400" y="2019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0" name="Shape 18"/>
          <p:cNvSpPr/>
          <p:nvPr/>
        </p:nvSpPr>
        <p:spPr>
          <a:xfrm>
            <a:off x="4464844" y="21526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1" name="Text 19"/>
          <p:cNvSpPr/>
          <p:nvPr/>
        </p:nvSpPr>
        <p:spPr>
          <a:xfrm>
            <a:off x="4914900" y="2114550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Chat Analysis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43400" y="2590800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 analytics with multiple representations: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43400" y="3009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4" name="Text 22"/>
          <p:cNvSpPr/>
          <p:nvPr/>
        </p:nvSpPr>
        <p:spPr>
          <a:xfrm>
            <a:off x="4495800" y="293370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Intent distribution charts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43400" y="3314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4495800" y="32385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query frequency graphs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43400" y="3619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8" name="Text 26"/>
          <p:cNvSpPr/>
          <p:nvPr/>
        </p:nvSpPr>
        <p:spPr>
          <a:xfrm>
            <a:off x="4495800" y="3543300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 time metrics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533900"/>
            <a:ext cx="3600450" cy="2057400"/>
          </a:xfrm>
          <a:custGeom>
            <a:avLst/>
            <a:gdLst/>
            <a:ahLst/>
            <a:cxnLst/>
            <a:rect l="l" t="t" r="r" b="b"/>
            <a:pathLst>
              <a:path w="3600450" h="2057400">
                <a:moveTo>
                  <a:pt x="0" y="0"/>
                </a:moveTo>
                <a:lnTo>
                  <a:pt x="3600450" y="0"/>
                </a:lnTo>
                <a:lnTo>
                  <a:pt x="36004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4533900"/>
            <a:ext cx="38100" cy="2057400"/>
          </a:xfrm>
          <a:custGeom>
            <a:avLst/>
            <a:gdLst/>
            <a:ahLst/>
            <a:cxnLst/>
            <a:rect l="l" t="t" r="r" b="b"/>
            <a:pathLst>
              <a:path w="38100" h="2057400">
                <a:moveTo>
                  <a:pt x="0" y="0"/>
                </a:moveTo>
                <a:lnTo>
                  <a:pt x="38100" y="0"/>
                </a:lnTo>
                <a:lnTo>
                  <a:pt x="381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1" name="Shape 29"/>
          <p:cNvSpPr/>
          <p:nvPr/>
        </p:nvSpPr>
        <p:spPr>
          <a:xfrm>
            <a:off x="571500" y="48101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2" name="Shape 30"/>
          <p:cNvSpPr/>
          <p:nvPr/>
        </p:nvSpPr>
        <p:spPr>
          <a:xfrm>
            <a:off x="692944" y="49434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905" y="0"/>
                </a:moveTo>
                <a:cubicBezTo>
                  <a:pt x="22771" y="0"/>
                  <a:pt x="12092" y="10678"/>
                  <a:pt x="12092" y="23812"/>
                </a:cubicBezTo>
                <a:lnTo>
                  <a:pt x="12092" y="166688"/>
                </a:lnTo>
                <a:cubicBezTo>
                  <a:pt x="12092" y="179822"/>
                  <a:pt x="22771" y="190500"/>
                  <a:pt x="35905" y="190500"/>
                </a:cubicBezTo>
                <a:lnTo>
                  <a:pt x="131155" y="190500"/>
                </a:lnTo>
                <a:cubicBezTo>
                  <a:pt x="144289" y="190500"/>
                  <a:pt x="154967" y="179822"/>
                  <a:pt x="154967" y="166688"/>
                </a:cubicBezTo>
                <a:lnTo>
                  <a:pt x="154967" y="130969"/>
                </a:lnTo>
                <a:lnTo>
                  <a:pt x="184026" y="130969"/>
                </a:lnTo>
                <a:lnTo>
                  <a:pt x="172492" y="142503"/>
                </a:lnTo>
                <a:cubicBezTo>
                  <a:pt x="168994" y="146000"/>
                  <a:pt x="168994" y="151656"/>
                  <a:pt x="172492" y="155116"/>
                </a:cubicBezTo>
                <a:cubicBezTo>
                  <a:pt x="175989" y="158576"/>
                  <a:pt x="181645" y="158614"/>
                  <a:pt x="185105" y="155116"/>
                </a:cubicBezTo>
                <a:lnTo>
                  <a:pt x="211894" y="128327"/>
                </a:lnTo>
                <a:cubicBezTo>
                  <a:pt x="215392" y="124830"/>
                  <a:pt x="215392" y="119174"/>
                  <a:pt x="211894" y="115714"/>
                </a:cubicBezTo>
                <a:lnTo>
                  <a:pt x="185105" y="88925"/>
                </a:lnTo>
                <a:cubicBezTo>
                  <a:pt x="181608" y="85427"/>
                  <a:pt x="175952" y="85427"/>
                  <a:pt x="172492" y="88925"/>
                </a:cubicBezTo>
                <a:cubicBezTo>
                  <a:pt x="169032" y="92422"/>
                  <a:pt x="168994" y="98078"/>
                  <a:pt x="172492" y="101538"/>
                </a:cubicBezTo>
                <a:lnTo>
                  <a:pt x="184026" y="113072"/>
                </a:lnTo>
                <a:lnTo>
                  <a:pt x="154967" y="113072"/>
                </a:lnTo>
                <a:lnTo>
                  <a:pt x="154967" y="63401"/>
                </a:lnTo>
                <a:cubicBezTo>
                  <a:pt x="154967" y="57076"/>
                  <a:pt x="152474" y="51011"/>
                  <a:pt x="148010" y="46546"/>
                </a:cubicBezTo>
                <a:lnTo>
                  <a:pt x="108347" y="6958"/>
                </a:lnTo>
                <a:cubicBezTo>
                  <a:pt x="103882" y="2493"/>
                  <a:pt x="97854" y="0"/>
                  <a:pt x="91529" y="0"/>
                </a:cubicBezTo>
                <a:lnTo>
                  <a:pt x="35905" y="0"/>
                </a:lnTo>
                <a:close/>
                <a:moveTo>
                  <a:pt x="133201" y="65484"/>
                </a:moveTo>
                <a:lnTo>
                  <a:pt x="98413" y="65484"/>
                </a:lnTo>
                <a:cubicBezTo>
                  <a:pt x="93464" y="65484"/>
                  <a:pt x="89483" y="61503"/>
                  <a:pt x="89483" y="56555"/>
                </a:cubicBezTo>
                <a:lnTo>
                  <a:pt x="89483" y="21766"/>
                </a:lnTo>
                <a:lnTo>
                  <a:pt x="133201" y="65484"/>
                </a:lnTo>
                <a:close/>
                <a:moveTo>
                  <a:pt x="83530" y="122039"/>
                </a:moveTo>
                <a:cubicBezTo>
                  <a:pt x="83530" y="117091"/>
                  <a:pt x="87511" y="113109"/>
                  <a:pt x="92459" y="113109"/>
                </a:cubicBezTo>
                <a:lnTo>
                  <a:pt x="131155" y="113109"/>
                </a:lnTo>
                <a:lnTo>
                  <a:pt x="131155" y="130969"/>
                </a:lnTo>
                <a:lnTo>
                  <a:pt x="92459" y="130969"/>
                </a:lnTo>
                <a:cubicBezTo>
                  <a:pt x="87511" y="130969"/>
                  <a:pt x="83530" y="126988"/>
                  <a:pt x="83530" y="12203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4905375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Export &amp; Reports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1500" y="5381625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Multiple export formats available: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71500" y="5724525"/>
            <a:ext cx="1038225" cy="590550"/>
          </a:xfrm>
          <a:custGeom>
            <a:avLst/>
            <a:gdLst/>
            <a:ahLst/>
            <a:cxnLst/>
            <a:rect l="l" t="t" r="r" b="b"/>
            <a:pathLst>
              <a:path w="1038225" h="590550">
                <a:moveTo>
                  <a:pt x="0" y="0"/>
                </a:moveTo>
                <a:lnTo>
                  <a:pt x="1038225" y="0"/>
                </a:lnTo>
                <a:lnTo>
                  <a:pt x="1038225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Shape 34"/>
          <p:cNvSpPr/>
          <p:nvPr/>
        </p:nvSpPr>
        <p:spPr>
          <a:xfrm>
            <a:off x="998101" y="58388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7" name="Text 35"/>
          <p:cNvSpPr/>
          <p:nvPr/>
        </p:nvSpPr>
        <p:spPr>
          <a:xfrm>
            <a:off x="614363" y="6048375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689021" y="5724525"/>
            <a:ext cx="1038225" cy="590550"/>
          </a:xfrm>
          <a:custGeom>
            <a:avLst/>
            <a:gdLst/>
            <a:ahLst/>
            <a:cxnLst/>
            <a:rect l="l" t="t" r="r" b="b"/>
            <a:pathLst>
              <a:path w="1038225" h="590550">
                <a:moveTo>
                  <a:pt x="0" y="0"/>
                </a:moveTo>
                <a:lnTo>
                  <a:pt x="1038225" y="0"/>
                </a:lnTo>
                <a:lnTo>
                  <a:pt x="1038225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Shape 37"/>
          <p:cNvSpPr/>
          <p:nvPr/>
        </p:nvSpPr>
        <p:spPr>
          <a:xfrm>
            <a:off x="2147768" y="58388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51636" y="98986"/>
                </a:moveTo>
                <a:cubicBezTo>
                  <a:pt x="54516" y="95603"/>
                  <a:pt x="54147" y="90547"/>
                  <a:pt x="50765" y="87667"/>
                </a:cubicBezTo>
                <a:cubicBezTo>
                  <a:pt x="47383" y="84787"/>
                  <a:pt x="42327" y="85156"/>
                  <a:pt x="39447" y="88538"/>
                </a:cubicBezTo>
                <a:lnTo>
                  <a:pt x="23373" y="107290"/>
                </a:lnTo>
                <a:cubicBezTo>
                  <a:pt x="20795" y="110304"/>
                  <a:pt x="20795" y="114724"/>
                  <a:pt x="23373" y="117738"/>
                </a:cubicBezTo>
                <a:lnTo>
                  <a:pt x="39447" y="136490"/>
                </a:lnTo>
                <a:cubicBezTo>
                  <a:pt x="42327" y="139872"/>
                  <a:pt x="47417" y="140241"/>
                  <a:pt x="50765" y="137361"/>
                </a:cubicBezTo>
                <a:cubicBezTo>
                  <a:pt x="54114" y="134481"/>
                  <a:pt x="54516" y="129391"/>
                  <a:pt x="51636" y="126043"/>
                </a:cubicBezTo>
                <a:lnTo>
                  <a:pt x="40050" y="112514"/>
                </a:lnTo>
                <a:lnTo>
                  <a:pt x="51636" y="98986"/>
                </a:lnTo>
                <a:close/>
                <a:moveTo>
                  <a:pt x="89141" y="88538"/>
                </a:moveTo>
                <a:cubicBezTo>
                  <a:pt x="86261" y="85156"/>
                  <a:pt x="81171" y="84787"/>
                  <a:pt x="77822" y="87667"/>
                </a:cubicBezTo>
                <a:cubicBezTo>
                  <a:pt x="74474" y="90547"/>
                  <a:pt x="74072" y="95637"/>
                  <a:pt x="76952" y="98986"/>
                </a:cubicBezTo>
                <a:lnTo>
                  <a:pt x="88538" y="112514"/>
                </a:lnTo>
                <a:lnTo>
                  <a:pt x="76952" y="126043"/>
                </a:lnTo>
                <a:cubicBezTo>
                  <a:pt x="74072" y="129425"/>
                  <a:pt x="74440" y="134481"/>
                  <a:pt x="77822" y="137361"/>
                </a:cubicBezTo>
                <a:cubicBezTo>
                  <a:pt x="81204" y="140241"/>
                  <a:pt x="86261" y="139872"/>
                  <a:pt x="89141" y="136490"/>
                </a:cubicBezTo>
                <a:lnTo>
                  <a:pt x="105214" y="117738"/>
                </a:lnTo>
                <a:cubicBezTo>
                  <a:pt x="107792" y="114724"/>
                  <a:pt x="107792" y="110304"/>
                  <a:pt x="105214" y="107290"/>
                </a:cubicBezTo>
                <a:lnTo>
                  <a:pt x="89141" y="8853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0" name="Text 38"/>
          <p:cNvSpPr/>
          <p:nvPr/>
        </p:nvSpPr>
        <p:spPr>
          <a:xfrm>
            <a:off x="1731883" y="6048375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HTML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806660" y="5724525"/>
            <a:ext cx="1038225" cy="590550"/>
          </a:xfrm>
          <a:custGeom>
            <a:avLst/>
            <a:gdLst/>
            <a:ahLst/>
            <a:cxnLst/>
            <a:rect l="l" t="t" r="r" b="b"/>
            <a:pathLst>
              <a:path w="1038225" h="590550">
                <a:moveTo>
                  <a:pt x="0" y="0"/>
                </a:moveTo>
                <a:lnTo>
                  <a:pt x="1038225" y="0"/>
                </a:lnTo>
                <a:lnTo>
                  <a:pt x="1038225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Shape 40"/>
          <p:cNvSpPr/>
          <p:nvPr/>
        </p:nvSpPr>
        <p:spPr>
          <a:xfrm>
            <a:off x="3265408" y="58388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40184" y="85725"/>
                </a:moveTo>
                <a:cubicBezTo>
                  <a:pt x="35730" y="85725"/>
                  <a:pt x="32147" y="89308"/>
                  <a:pt x="32147" y="93762"/>
                </a:cubicBezTo>
                <a:cubicBezTo>
                  <a:pt x="32147" y="98215"/>
                  <a:pt x="35730" y="101798"/>
                  <a:pt x="40184" y="101798"/>
                </a:cubicBezTo>
                <a:lnTo>
                  <a:pt x="88404" y="101798"/>
                </a:lnTo>
                <a:cubicBezTo>
                  <a:pt x="92858" y="101798"/>
                  <a:pt x="96441" y="98215"/>
                  <a:pt x="96441" y="93762"/>
                </a:cubicBezTo>
                <a:cubicBezTo>
                  <a:pt x="96441" y="89308"/>
                  <a:pt x="92858" y="85725"/>
                  <a:pt x="88404" y="85725"/>
                </a:cubicBezTo>
                <a:lnTo>
                  <a:pt x="40184" y="85725"/>
                </a:lnTo>
                <a:close/>
                <a:moveTo>
                  <a:pt x="40184" y="117872"/>
                </a:moveTo>
                <a:cubicBezTo>
                  <a:pt x="35730" y="117872"/>
                  <a:pt x="32147" y="121455"/>
                  <a:pt x="32147" y="125909"/>
                </a:cubicBezTo>
                <a:cubicBezTo>
                  <a:pt x="32147" y="130362"/>
                  <a:pt x="35730" y="133945"/>
                  <a:pt x="40184" y="133945"/>
                </a:cubicBezTo>
                <a:lnTo>
                  <a:pt x="88404" y="133945"/>
                </a:lnTo>
                <a:cubicBezTo>
                  <a:pt x="92858" y="133945"/>
                  <a:pt x="96441" y="130362"/>
                  <a:pt x="96441" y="125909"/>
                </a:cubicBezTo>
                <a:cubicBezTo>
                  <a:pt x="96441" y="121455"/>
                  <a:pt x="92858" y="117872"/>
                  <a:pt x="88404" y="117872"/>
                </a:cubicBezTo>
                <a:lnTo>
                  <a:pt x="40184" y="117872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3" name="Text 41"/>
          <p:cNvSpPr/>
          <p:nvPr/>
        </p:nvSpPr>
        <p:spPr>
          <a:xfrm>
            <a:off x="2849523" y="6048375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Markdown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171950" y="4533900"/>
            <a:ext cx="3600450" cy="2057400"/>
          </a:xfrm>
          <a:custGeom>
            <a:avLst/>
            <a:gdLst/>
            <a:ahLst/>
            <a:cxnLst/>
            <a:rect l="l" t="t" r="r" b="b"/>
            <a:pathLst>
              <a:path w="3600450" h="2057400">
                <a:moveTo>
                  <a:pt x="0" y="0"/>
                </a:moveTo>
                <a:lnTo>
                  <a:pt x="3600450" y="0"/>
                </a:lnTo>
                <a:lnTo>
                  <a:pt x="36004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45" name="Shape 43"/>
          <p:cNvSpPr/>
          <p:nvPr/>
        </p:nvSpPr>
        <p:spPr>
          <a:xfrm>
            <a:off x="4171950" y="4533900"/>
            <a:ext cx="38100" cy="2057400"/>
          </a:xfrm>
          <a:custGeom>
            <a:avLst/>
            <a:gdLst/>
            <a:ahLst/>
            <a:cxnLst/>
            <a:rect l="l" t="t" r="r" b="b"/>
            <a:pathLst>
              <a:path w="38100" h="2057400">
                <a:moveTo>
                  <a:pt x="0" y="0"/>
                </a:moveTo>
                <a:lnTo>
                  <a:pt x="38100" y="0"/>
                </a:lnTo>
                <a:lnTo>
                  <a:pt x="381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6" name="Shape 44"/>
          <p:cNvSpPr/>
          <p:nvPr/>
        </p:nvSpPr>
        <p:spPr>
          <a:xfrm>
            <a:off x="4343400" y="4686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7" name="Shape 45"/>
          <p:cNvSpPr/>
          <p:nvPr/>
        </p:nvSpPr>
        <p:spPr>
          <a:xfrm>
            <a:off x="4452938" y="48196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83344"/>
                </a:moveTo>
                <a:cubicBezTo>
                  <a:pt x="140419" y="83344"/>
                  <a:pt x="157758" y="66005"/>
                  <a:pt x="157758" y="44648"/>
                </a:cubicBezTo>
                <a:cubicBezTo>
                  <a:pt x="157758" y="23292"/>
                  <a:pt x="140419" y="5953"/>
                  <a:pt x="119063" y="5953"/>
                </a:cubicBezTo>
                <a:cubicBezTo>
                  <a:pt x="97706" y="5953"/>
                  <a:pt x="80367" y="23292"/>
                  <a:pt x="80367" y="44648"/>
                </a:cubicBezTo>
                <a:cubicBezTo>
                  <a:pt x="80367" y="66005"/>
                  <a:pt x="97706" y="83344"/>
                  <a:pt x="119063" y="83344"/>
                </a:cubicBezTo>
                <a:close/>
                <a:moveTo>
                  <a:pt x="35719" y="86320"/>
                </a:moveTo>
                <a:cubicBezTo>
                  <a:pt x="50504" y="86320"/>
                  <a:pt x="62508" y="74317"/>
                  <a:pt x="62508" y="59531"/>
                </a:cubicBezTo>
                <a:cubicBezTo>
                  <a:pt x="62508" y="44746"/>
                  <a:pt x="50504" y="32742"/>
                  <a:pt x="35719" y="32742"/>
                </a:cubicBezTo>
                <a:cubicBezTo>
                  <a:pt x="20933" y="32742"/>
                  <a:pt x="8930" y="44746"/>
                  <a:pt x="8930" y="59531"/>
                </a:cubicBezTo>
                <a:cubicBezTo>
                  <a:pt x="8930" y="74317"/>
                  <a:pt x="20933" y="86320"/>
                  <a:pt x="35719" y="86320"/>
                </a:cubicBezTo>
                <a:close/>
                <a:moveTo>
                  <a:pt x="0" y="154781"/>
                </a:moveTo>
                <a:lnTo>
                  <a:pt x="0" y="166688"/>
                </a:lnTo>
                <a:cubicBezTo>
                  <a:pt x="0" y="173273"/>
                  <a:pt x="5321" y="178594"/>
                  <a:pt x="11906" y="178594"/>
                </a:cubicBezTo>
                <a:lnTo>
                  <a:pt x="44165" y="178594"/>
                </a:lnTo>
                <a:cubicBezTo>
                  <a:pt x="42565" y="174947"/>
                  <a:pt x="41672" y="170929"/>
                  <a:pt x="41672" y="166688"/>
                </a:cubicBezTo>
                <a:lnTo>
                  <a:pt x="41672" y="160734"/>
                </a:lnTo>
                <a:cubicBezTo>
                  <a:pt x="41672" y="140940"/>
                  <a:pt x="49113" y="122858"/>
                  <a:pt x="61354" y="109165"/>
                </a:cubicBezTo>
                <a:cubicBezTo>
                  <a:pt x="57001" y="107863"/>
                  <a:pt x="52388" y="107156"/>
                  <a:pt x="47625" y="107156"/>
                </a:cubicBezTo>
                <a:cubicBezTo>
                  <a:pt x="21320" y="107156"/>
                  <a:pt x="0" y="128476"/>
                  <a:pt x="0" y="154781"/>
                </a:cubicBezTo>
                <a:close/>
                <a:moveTo>
                  <a:pt x="229195" y="59531"/>
                </a:moveTo>
                <a:cubicBezTo>
                  <a:pt x="229195" y="44746"/>
                  <a:pt x="217192" y="32742"/>
                  <a:pt x="202406" y="32742"/>
                </a:cubicBezTo>
                <a:cubicBezTo>
                  <a:pt x="187621" y="32742"/>
                  <a:pt x="175617" y="44746"/>
                  <a:pt x="175617" y="59531"/>
                </a:cubicBezTo>
                <a:cubicBezTo>
                  <a:pt x="175617" y="74317"/>
                  <a:pt x="187621" y="86320"/>
                  <a:pt x="202406" y="86320"/>
                </a:cubicBezTo>
                <a:cubicBezTo>
                  <a:pt x="217192" y="86320"/>
                  <a:pt x="229195" y="74317"/>
                  <a:pt x="229195" y="59531"/>
                </a:cubicBezTo>
                <a:close/>
                <a:moveTo>
                  <a:pt x="59531" y="160734"/>
                </a:moveTo>
                <a:lnTo>
                  <a:pt x="59531" y="166688"/>
                </a:lnTo>
                <a:cubicBezTo>
                  <a:pt x="59531" y="173273"/>
                  <a:pt x="64852" y="178594"/>
                  <a:pt x="71438" y="178594"/>
                </a:cubicBezTo>
                <a:lnTo>
                  <a:pt x="129778" y="178594"/>
                </a:lnTo>
                <a:cubicBezTo>
                  <a:pt x="127136" y="170557"/>
                  <a:pt x="127434" y="162074"/>
                  <a:pt x="133759" y="154781"/>
                </a:cubicBezTo>
                <a:cubicBezTo>
                  <a:pt x="128550" y="148754"/>
                  <a:pt x="126132" y="140010"/>
                  <a:pt x="129518" y="131229"/>
                </a:cubicBezTo>
                <a:cubicBezTo>
                  <a:pt x="131973" y="124867"/>
                  <a:pt x="135434" y="118914"/>
                  <a:pt x="139712" y="113630"/>
                </a:cubicBezTo>
                <a:cubicBezTo>
                  <a:pt x="141722" y="111175"/>
                  <a:pt x="144028" y="109277"/>
                  <a:pt x="146521" y="107900"/>
                </a:cubicBezTo>
                <a:cubicBezTo>
                  <a:pt x="138299" y="103622"/>
                  <a:pt x="128960" y="101203"/>
                  <a:pt x="119063" y="101203"/>
                </a:cubicBezTo>
                <a:cubicBezTo>
                  <a:pt x="86171" y="101203"/>
                  <a:pt x="59531" y="127843"/>
                  <a:pt x="59531" y="160734"/>
                </a:cubicBezTo>
                <a:close/>
                <a:moveTo>
                  <a:pt x="232395" y="144326"/>
                </a:moveTo>
                <a:cubicBezTo>
                  <a:pt x="234739" y="142987"/>
                  <a:pt x="235930" y="140196"/>
                  <a:pt x="234925" y="137629"/>
                </a:cubicBezTo>
                <a:cubicBezTo>
                  <a:pt x="233139" y="133015"/>
                  <a:pt x="230646" y="128662"/>
                  <a:pt x="227521" y="124830"/>
                </a:cubicBezTo>
                <a:cubicBezTo>
                  <a:pt x="225809" y="122709"/>
                  <a:pt x="222796" y="122337"/>
                  <a:pt x="220452" y="123713"/>
                </a:cubicBezTo>
                <a:cubicBezTo>
                  <a:pt x="212341" y="128401"/>
                  <a:pt x="202369" y="122672"/>
                  <a:pt x="202369" y="113258"/>
                </a:cubicBezTo>
                <a:cubicBezTo>
                  <a:pt x="202369" y="110542"/>
                  <a:pt x="200546" y="108124"/>
                  <a:pt x="197867" y="107714"/>
                </a:cubicBezTo>
                <a:cubicBezTo>
                  <a:pt x="193067" y="106970"/>
                  <a:pt x="187896" y="106970"/>
                  <a:pt x="183096" y="107714"/>
                </a:cubicBezTo>
                <a:cubicBezTo>
                  <a:pt x="180417" y="108124"/>
                  <a:pt x="178594" y="110542"/>
                  <a:pt x="178594" y="113258"/>
                </a:cubicBezTo>
                <a:cubicBezTo>
                  <a:pt x="178594" y="122634"/>
                  <a:pt x="168622" y="128401"/>
                  <a:pt x="160511" y="123713"/>
                </a:cubicBezTo>
                <a:cubicBezTo>
                  <a:pt x="158167" y="122374"/>
                  <a:pt x="155153" y="122746"/>
                  <a:pt x="153442" y="124830"/>
                </a:cubicBezTo>
                <a:cubicBezTo>
                  <a:pt x="150316" y="128662"/>
                  <a:pt x="147824" y="133015"/>
                  <a:pt x="146038" y="137629"/>
                </a:cubicBezTo>
                <a:cubicBezTo>
                  <a:pt x="145070" y="140159"/>
                  <a:pt x="146224" y="142949"/>
                  <a:pt x="148568" y="144289"/>
                </a:cubicBezTo>
                <a:cubicBezTo>
                  <a:pt x="156716" y="148977"/>
                  <a:pt x="156716" y="160474"/>
                  <a:pt x="148568" y="165199"/>
                </a:cubicBezTo>
                <a:cubicBezTo>
                  <a:pt x="146224" y="166539"/>
                  <a:pt x="145033" y="169329"/>
                  <a:pt x="146038" y="171859"/>
                </a:cubicBezTo>
                <a:cubicBezTo>
                  <a:pt x="147824" y="176473"/>
                  <a:pt x="150316" y="180826"/>
                  <a:pt x="153442" y="184658"/>
                </a:cubicBezTo>
                <a:cubicBezTo>
                  <a:pt x="155153" y="186779"/>
                  <a:pt x="158167" y="187151"/>
                  <a:pt x="160511" y="185775"/>
                </a:cubicBezTo>
                <a:cubicBezTo>
                  <a:pt x="168622" y="181087"/>
                  <a:pt x="178594" y="186854"/>
                  <a:pt x="178594" y="196230"/>
                </a:cubicBezTo>
                <a:cubicBezTo>
                  <a:pt x="178594" y="198946"/>
                  <a:pt x="180417" y="201364"/>
                  <a:pt x="183096" y="201774"/>
                </a:cubicBezTo>
                <a:cubicBezTo>
                  <a:pt x="187896" y="202518"/>
                  <a:pt x="193067" y="202518"/>
                  <a:pt x="197867" y="201774"/>
                </a:cubicBezTo>
                <a:cubicBezTo>
                  <a:pt x="200546" y="201364"/>
                  <a:pt x="202369" y="198946"/>
                  <a:pt x="202369" y="196230"/>
                </a:cubicBezTo>
                <a:cubicBezTo>
                  <a:pt x="202369" y="186854"/>
                  <a:pt x="212341" y="181087"/>
                  <a:pt x="220452" y="185775"/>
                </a:cubicBezTo>
                <a:cubicBezTo>
                  <a:pt x="222796" y="187114"/>
                  <a:pt x="225809" y="186742"/>
                  <a:pt x="227521" y="184658"/>
                </a:cubicBezTo>
                <a:cubicBezTo>
                  <a:pt x="230646" y="180826"/>
                  <a:pt x="233139" y="176473"/>
                  <a:pt x="234925" y="171859"/>
                </a:cubicBezTo>
                <a:cubicBezTo>
                  <a:pt x="235893" y="169329"/>
                  <a:pt x="234739" y="166539"/>
                  <a:pt x="232395" y="165199"/>
                </a:cubicBezTo>
                <a:cubicBezTo>
                  <a:pt x="224247" y="160511"/>
                  <a:pt x="224247" y="149014"/>
                  <a:pt x="232395" y="144289"/>
                </a:cubicBezTo>
                <a:close/>
                <a:moveTo>
                  <a:pt x="175617" y="154781"/>
                </a:moveTo>
                <a:cubicBezTo>
                  <a:pt x="175617" y="146567"/>
                  <a:pt x="182286" y="139898"/>
                  <a:pt x="190500" y="139898"/>
                </a:cubicBezTo>
                <a:cubicBezTo>
                  <a:pt x="198714" y="139898"/>
                  <a:pt x="205383" y="146567"/>
                  <a:pt x="205383" y="154781"/>
                </a:cubicBezTo>
                <a:cubicBezTo>
                  <a:pt x="205383" y="162995"/>
                  <a:pt x="198714" y="169664"/>
                  <a:pt x="190500" y="169664"/>
                </a:cubicBezTo>
                <a:cubicBezTo>
                  <a:pt x="182286" y="169664"/>
                  <a:pt x="175617" y="162995"/>
                  <a:pt x="175617" y="15478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8" name="Text 46"/>
          <p:cNvSpPr/>
          <p:nvPr/>
        </p:nvSpPr>
        <p:spPr>
          <a:xfrm>
            <a:off x="4914900" y="4781550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343400" y="5257800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Complete user administration: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343400" y="5676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1" name="Text 49"/>
          <p:cNvSpPr/>
          <p:nvPr/>
        </p:nvSpPr>
        <p:spPr>
          <a:xfrm>
            <a:off x="4495800" y="560070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View all registered users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343400" y="5981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3" name="Text 51"/>
          <p:cNvSpPr/>
          <p:nvPr/>
        </p:nvSpPr>
        <p:spPr>
          <a:xfrm>
            <a:off x="4495800" y="590550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Manage user permissions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343400" y="6286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5" name="Text 53"/>
          <p:cNvSpPr/>
          <p:nvPr/>
        </p:nvSpPr>
        <p:spPr>
          <a:xfrm>
            <a:off x="4495800" y="6210300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 user activity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004810" y="1413510"/>
            <a:ext cx="3798570" cy="5170170"/>
          </a:xfrm>
          <a:custGeom>
            <a:avLst/>
            <a:gdLst/>
            <a:ahLst/>
            <a:cxnLst/>
            <a:rect l="l" t="t" r="r" b="b"/>
            <a:pathLst>
              <a:path w="3798570" h="5170170">
                <a:moveTo>
                  <a:pt x="0" y="0"/>
                </a:moveTo>
                <a:lnTo>
                  <a:pt x="3798570" y="0"/>
                </a:lnTo>
                <a:lnTo>
                  <a:pt x="3798570" y="5170170"/>
                </a:lnTo>
                <a:lnTo>
                  <a:pt x="0" y="517017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27695" y="164579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8" name="Text 56"/>
          <p:cNvSpPr/>
          <p:nvPr/>
        </p:nvSpPr>
        <p:spPr>
          <a:xfrm>
            <a:off x="8484870" y="1607818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Milestone 4 Pipeline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199120" y="261925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0" name="Text 58"/>
          <p:cNvSpPr/>
          <p:nvPr/>
        </p:nvSpPr>
        <p:spPr>
          <a:xfrm>
            <a:off x="8378309" y="2714504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808720" y="2619254"/>
            <a:ext cx="2886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 Login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808720" y="2885954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Secure admin authentication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199120" y="3305054"/>
            <a:ext cx="3409950" cy="19050"/>
          </a:xfrm>
          <a:custGeom>
            <a:avLst/>
            <a:gdLst/>
            <a:ahLst/>
            <a:cxnLst/>
            <a:rect l="l" t="t" r="r" b="b"/>
            <a:pathLst>
              <a:path w="3409950" h="19050">
                <a:moveTo>
                  <a:pt x="0" y="0"/>
                </a:moveTo>
                <a:lnTo>
                  <a:pt x="3409950" y="0"/>
                </a:lnTo>
                <a:lnTo>
                  <a:pt x="34099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199120" y="355270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65" name="Text 63"/>
          <p:cNvSpPr/>
          <p:nvPr/>
        </p:nvSpPr>
        <p:spPr>
          <a:xfrm>
            <a:off x="8378309" y="3647954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808720" y="3552704"/>
            <a:ext cx="2886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 Logs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808720" y="3819404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Access conversation history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199120" y="4238504"/>
            <a:ext cx="3409950" cy="19050"/>
          </a:xfrm>
          <a:custGeom>
            <a:avLst/>
            <a:gdLst/>
            <a:ahLst/>
            <a:cxnLst/>
            <a:rect l="l" t="t" r="r" b="b"/>
            <a:pathLst>
              <a:path w="3409950" h="19050">
                <a:moveTo>
                  <a:pt x="0" y="0"/>
                </a:moveTo>
                <a:lnTo>
                  <a:pt x="3409950" y="0"/>
                </a:lnTo>
                <a:lnTo>
                  <a:pt x="34099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>
              <a:alpha val="3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199120" y="448615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0" name="Text 68"/>
          <p:cNvSpPr/>
          <p:nvPr/>
        </p:nvSpPr>
        <p:spPr>
          <a:xfrm>
            <a:off x="8378309" y="4581404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808720" y="4486154"/>
            <a:ext cx="2886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808720" y="4752854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Generate insights and reports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199120" y="5171954"/>
            <a:ext cx="3409950" cy="19050"/>
          </a:xfrm>
          <a:custGeom>
            <a:avLst/>
            <a:gdLst/>
            <a:ahLst/>
            <a:cxnLst/>
            <a:rect l="l" t="t" r="r" b="b"/>
            <a:pathLst>
              <a:path w="3409950" h="19050">
                <a:moveTo>
                  <a:pt x="0" y="0"/>
                </a:moveTo>
                <a:lnTo>
                  <a:pt x="3409950" y="0"/>
                </a:lnTo>
                <a:lnTo>
                  <a:pt x="34099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30196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199120" y="541960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75" name="Text 73"/>
          <p:cNvSpPr/>
          <p:nvPr/>
        </p:nvSpPr>
        <p:spPr>
          <a:xfrm>
            <a:off x="8378309" y="5514854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808720" y="5419604"/>
            <a:ext cx="2886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Export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808720" y="5686304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Download data in multiple formats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219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MILESTONE 4: DASHBOARD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Admin Dashboard &amp; Analytics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842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Comprehensive monitoring and management interface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3017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6" name="Shape 4"/>
          <p:cNvSpPr/>
          <p:nvPr/>
        </p:nvSpPr>
        <p:spPr>
          <a:xfrm>
            <a:off x="320675" y="1463675"/>
            <a:ext cx="8023225" cy="6634163"/>
          </a:xfrm>
          <a:custGeom>
            <a:avLst/>
            <a:gdLst/>
            <a:ahLst/>
            <a:cxnLst/>
            <a:rect l="l" t="t" r="r" b="b"/>
            <a:pathLst>
              <a:path w="8023225" h="6634163">
                <a:moveTo>
                  <a:pt x="0" y="0"/>
                </a:moveTo>
                <a:lnTo>
                  <a:pt x="8023225" y="0"/>
                </a:lnTo>
                <a:lnTo>
                  <a:pt x="8023225" y="6634163"/>
                </a:lnTo>
                <a:lnTo>
                  <a:pt x="0" y="6634163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6412" y="165724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720725" y="1625598"/>
            <a:ext cx="755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Admin Dashboard Interface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8475" y="2006498"/>
            <a:ext cx="2468563" cy="762000"/>
          </a:xfrm>
          <a:custGeom>
            <a:avLst/>
            <a:gdLst/>
            <a:ahLst/>
            <a:cxnLst/>
            <a:rect l="l" t="t" r="r" b="b"/>
            <a:pathLst>
              <a:path w="2468563" h="762000">
                <a:moveTo>
                  <a:pt x="0" y="0"/>
                </a:moveTo>
                <a:lnTo>
                  <a:pt x="2468563" y="0"/>
                </a:lnTo>
                <a:lnTo>
                  <a:pt x="2468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Shape 8"/>
          <p:cNvSpPr/>
          <p:nvPr/>
        </p:nvSpPr>
        <p:spPr>
          <a:xfrm>
            <a:off x="498475" y="2006498"/>
            <a:ext cx="31750" cy="762000"/>
          </a:xfrm>
          <a:custGeom>
            <a:avLst/>
            <a:gdLst/>
            <a:ahLst/>
            <a:cxnLst/>
            <a:rect l="l" t="t" r="r" b="b"/>
            <a:pathLst>
              <a:path w="31750" h="762000">
                <a:moveTo>
                  <a:pt x="0" y="0"/>
                </a:moveTo>
                <a:lnTo>
                  <a:pt x="31750" y="0"/>
                </a:lnTo>
                <a:lnTo>
                  <a:pt x="317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1" name="Shape 9"/>
          <p:cNvSpPr/>
          <p:nvPr/>
        </p:nvSpPr>
        <p:spPr>
          <a:xfrm>
            <a:off x="641350" y="2165147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2" name="Text 10"/>
          <p:cNvSpPr/>
          <p:nvPr/>
        </p:nvSpPr>
        <p:spPr>
          <a:xfrm>
            <a:off x="2348508" y="2133498"/>
            <a:ext cx="587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1,247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350" y="2450897"/>
            <a:ext cx="226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Users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08325" y="2006498"/>
            <a:ext cx="2468563" cy="762000"/>
          </a:xfrm>
          <a:custGeom>
            <a:avLst/>
            <a:gdLst/>
            <a:ahLst/>
            <a:cxnLst/>
            <a:rect l="l" t="t" r="r" b="b"/>
            <a:pathLst>
              <a:path w="2468563" h="762000">
                <a:moveTo>
                  <a:pt x="0" y="0"/>
                </a:moveTo>
                <a:lnTo>
                  <a:pt x="2468563" y="0"/>
                </a:lnTo>
                <a:lnTo>
                  <a:pt x="2468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Shape 13"/>
          <p:cNvSpPr/>
          <p:nvPr/>
        </p:nvSpPr>
        <p:spPr>
          <a:xfrm>
            <a:off x="3108325" y="2006498"/>
            <a:ext cx="31750" cy="762000"/>
          </a:xfrm>
          <a:custGeom>
            <a:avLst/>
            <a:gdLst/>
            <a:ahLst/>
            <a:cxnLst/>
            <a:rect l="l" t="t" r="r" b="b"/>
            <a:pathLst>
              <a:path w="31750" h="762000">
                <a:moveTo>
                  <a:pt x="0" y="0"/>
                </a:moveTo>
                <a:lnTo>
                  <a:pt x="31750" y="0"/>
                </a:lnTo>
                <a:lnTo>
                  <a:pt x="317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Shape 14"/>
          <p:cNvSpPr/>
          <p:nvPr/>
        </p:nvSpPr>
        <p:spPr>
          <a:xfrm>
            <a:off x="3263106" y="216514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4958358" y="2133498"/>
            <a:ext cx="587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8,954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51200" y="2450897"/>
            <a:ext cx="226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Conversations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8175" y="2006498"/>
            <a:ext cx="2468563" cy="762000"/>
          </a:xfrm>
          <a:custGeom>
            <a:avLst/>
            <a:gdLst/>
            <a:ahLst/>
            <a:cxnLst/>
            <a:rect l="l" t="t" r="r" b="b"/>
            <a:pathLst>
              <a:path w="2468563" h="762000">
                <a:moveTo>
                  <a:pt x="0" y="0"/>
                </a:moveTo>
                <a:lnTo>
                  <a:pt x="2468563" y="0"/>
                </a:lnTo>
                <a:lnTo>
                  <a:pt x="2468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8175" y="2006498"/>
            <a:ext cx="31750" cy="762000"/>
          </a:xfrm>
          <a:custGeom>
            <a:avLst/>
            <a:gdLst/>
            <a:ahLst/>
            <a:cxnLst/>
            <a:rect l="l" t="t" r="r" b="b"/>
            <a:pathLst>
              <a:path w="31750" h="762000">
                <a:moveTo>
                  <a:pt x="0" y="0"/>
                </a:moveTo>
                <a:lnTo>
                  <a:pt x="31750" y="0"/>
                </a:lnTo>
                <a:lnTo>
                  <a:pt x="317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1" name="Shape 19"/>
          <p:cNvSpPr/>
          <p:nvPr/>
        </p:nvSpPr>
        <p:spPr>
          <a:xfrm>
            <a:off x="5884863" y="216514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2" name="Text 20"/>
          <p:cNvSpPr/>
          <p:nvPr/>
        </p:nvSpPr>
        <p:spPr>
          <a:xfrm>
            <a:off x="7673777" y="2133498"/>
            <a:ext cx="47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92%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61050" y="2450897"/>
            <a:ext cx="226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2600" y="2958897"/>
            <a:ext cx="7699375" cy="1460500"/>
          </a:xfrm>
          <a:custGeom>
            <a:avLst/>
            <a:gdLst/>
            <a:ahLst/>
            <a:cxnLst/>
            <a:rect l="l" t="t" r="r" b="b"/>
            <a:pathLst>
              <a:path w="7699375" h="1460500">
                <a:moveTo>
                  <a:pt x="0" y="0"/>
                </a:moveTo>
                <a:lnTo>
                  <a:pt x="7699375" y="0"/>
                </a:lnTo>
                <a:lnTo>
                  <a:pt x="7699375" y="1460500"/>
                </a:lnTo>
                <a:lnTo>
                  <a:pt x="0" y="1460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Shape 23"/>
          <p:cNvSpPr/>
          <p:nvPr/>
        </p:nvSpPr>
        <p:spPr>
          <a:xfrm>
            <a:off x="620514" y="3125584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11956" y="10911"/>
                </a:moveTo>
                <a:lnTo>
                  <a:pt x="153312" y="52853"/>
                </a:lnTo>
                <a:cubicBezTo>
                  <a:pt x="161041" y="60694"/>
                  <a:pt x="161041" y="73251"/>
                  <a:pt x="153312" y="81093"/>
                </a:cubicBezTo>
                <a:lnTo>
                  <a:pt x="109668" y="125267"/>
                </a:lnTo>
                <a:cubicBezTo>
                  <a:pt x="107073" y="127890"/>
                  <a:pt x="102831" y="127918"/>
                  <a:pt x="100208" y="125323"/>
                </a:cubicBezTo>
                <a:cubicBezTo>
                  <a:pt x="97585" y="122727"/>
                  <a:pt x="97557" y="118486"/>
                  <a:pt x="100152" y="115863"/>
                </a:cubicBezTo>
                <a:lnTo>
                  <a:pt x="143796" y="71661"/>
                </a:lnTo>
                <a:cubicBezTo>
                  <a:pt x="146363" y="69066"/>
                  <a:pt x="146363" y="64852"/>
                  <a:pt x="143796" y="62257"/>
                </a:cubicBezTo>
                <a:lnTo>
                  <a:pt x="102412" y="20343"/>
                </a:lnTo>
                <a:cubicBezTo>
                  <a:pt x="99817" y="17720"/>
                  <a:pt x="99845" y="13478"/>
                  <a:pt x="102468" y="10883"/>
                </a:cubicBezTo>
                <a:cubicBezTo>
                  <a:pt x="105091" y="8288"/>
                  <a:pt x="109333" y="8316"/>
                  <a:pt x="111928" y="10939"/>
                </a:cubicBezTo>
                <a:close/>
                <a:moveTo>
                  <a:pt x="8958" y="64043"/>
                </a:moveTo>
                <a:lnTo>
                  <a:pt x="8958" y="26789"/>
                </a:lnTo>
                <a:cubicBezTo>
                  <a:pt x="8958" y="16939"/>
                  <a:pt x="16966" y="8930"/>
                  <a:pt x="26817" y="8930"/>
                </a:cubicBezTo>
                <a:lnTo>
                  <a:pt x="64071" y="8930"/>
                </a:lnTo>
                <a:cubicBezTo>
                  <a:pt x="68814" y="8930"/>
                  <a:pt x="73363" y="10799"/>
                  <a:pt x="76712" y="14148"/>
                </a:cubicBezTo>
                <a:lnTo>
                  <a:pt x="116895" y="54332"/>
                </a:lnTo>
                <a:cubicBezTo>
                  <a:pt x="123872" y="61308"/>
                  <a:pt x="123872" y="72610"/>
                  <a:pt x="116895" y="79586"/>
                </a:cubicBezTo>
                <a:lnTo>
                  <a:pt x="79642" y="116839"/>
                </a:lnTo>
                <a:cubicBezTo>
                  <a:pt x="72665" y="123816"/>
                  <a:pt x="61364" y="123816"/>
                  <a:pt x="54387" y="116839"/>
                </a:cubicBezTo>
                <a:lnTo>
                  <a:pt x="14204" y="76656"/>
                </a:lnTo>
                <a:cubicBezTo>
                  <a:pt x="10855" y="73307"/>
                  <a:pt x="8985" y="68759"/>
                  <a:pt x="8985" y="64015"/>
                </a:cubicBezTo>
                <a:close/>
                <a:moveTo>
                  <a:pt x="49141" y="40184"/>
                </a:moveTo>
                <a:cubicBezTo>
                  <a:pt x="49141" y="35255"/>
                  <a:pt x="45140" y="31254"/>
                  <a:pt x="40211" y="31254"/>
                </a:cubicBezTo>
                <a:cubicBezTo>
                  <a:pt x="35283" y="31254"/>
                  <a:pt x="31282" y="35255"/>
                  <a:pt x="31282" y="40184"/>
                </a:cubicBezTo>
                <a:cubicBezTo>
                  <a:pt x="31282" y="45112"/>
                  <a:pt x="35283" y="49113"/>
                  <a:pt x="40211" y="49113"/>
                </a:cubicBezTo>
                <a:cubicBezTo>
                  <a:pt x="45140" y="49113"/>
                  <a:pt x="49141" y="45112"/>
                  <a:pt x="49141" y="40184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792163" y="308589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Intent Management Panel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9600" y="3403397"/>
            <a:ext cx="7445375" cy="412750"/>
          </a:xfrm>
          <a:custGeom>
            <a:avLst/>
            <a:gdLst/>
            <a:ahLst/>
            <a:cxnLst/>
            <a:rect l="l" t="t" r="r" b="b"/>
            <a:pathLst>
              <a:path w="7445375" h="412750">
                <a:moveTo>
                  <a:pt x="0" y="0"/>
                </a:moveTo>
                <a:lnTo>
                  <a:pt x="7445375" y="0"/>
                </a:lnTo>
                <a:lnTo>
                  <a:pt x="744537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28" name="Shape 26"/>
          <p:cNvSpPr/>
          <p:nvPr/>
        </p:nvSpPr>
        <p:spPr>
          <a:xfrm>
            <a:off x="720725" y="354627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95250"/>
                </a:lnTo>
                <a:cubicBezTo>
                  <a:pt x="0" y="104006"/>
                  <a:pt x="7119" y="111125"/>
                  <a:pt x="15875" y="111125"/>
                </a:cubicBezTo>
                <a:lnTo>
                  <a:pt x="111125" y="111125"/>
                </a:lnTo>
                <a:cubicBezTo>
                  <a:pt x="119881" y="111125"/>
                  <a:pt x="127000" y="104006"/>
                  <a:pt x="127000" y="95250"/>
                </a:cubicBezTo>
                <a:lnTo>
                  <a:pt x="127000" y="47625"/>
                </a:lnTo>
                <a:cubicBezTo>
                  <a:pt x="127000" y="38869"/>
                  <a:pt x="119881" y="31750"/>
                  <a:pt x="111125" y="31750"/>
                </a:cubicBezTo>
                <a:lnTo>
                  <a:pt x="17859" y="31750"/>
                </a:lnTo>
                <a:cubicBezTo>
                  <a:pt x="14560" y="31750"/>
                  <a:pt x="11906" y="29096"/>
                  <a:pt x="11906" y="25797"/>
                </a:cubicBezTo>
                <a:cubicBezTo>
                  <a:pt x="11906" y="22498"/>
                  <a:pt x="14560" y="19844"/>
                  <a:pt x="17859" y="19844"/>
                </a:cubicBezTo>
                <a:lnTo>
                  <a:pt x="113109" y="19844"/>
                </a:lnTo>
                <a:cubicBezTo>
                  <a:pt x="116408" y="19844"/>
                  <a:pt x="119063" y="17190"/>
                  <a:pt x="119063" y="13891"/>
                </a:cubicBezTo>
                <a:cubicBezTo>
                  <a:pt x="119063" y="10592"/>
                  <a:pt x="116408" y="7938"/>
                  <a:pt x="113109" y="7938"/>
                </a:cubicBezTo>
                <a:lnTo>
                  <a:pt x="15875" y="7938"/>
                </a:lnTo>
                <a:close/>
                <a:moveTo>
                  <a:pt x="103188" y="63500"/>
                </a:moveTo>
                <a:cubicBezTo>
                  <a:pt x="107568" y="63500"/>
                  <a:pt x="111125" y="67057"/>
                  <a:pt x="111125" y="71438"/>
                </a:cubicBezTo>
                <a:cubicBezTo>
                  <a:pt x="111125" y="75818"/>
                  <a:pt x="107568" y="79375"/>
                  <a:pt x="103188" y="79375"/>
                </a:cubicBezTo>
                <a:cubicBezTo>
                  <a:pt x="98807" y="79375"/>
                  <a:pt x="95250" y="75818"/>
                  <a:pt x="95250" y="71438"/>
                </a:cubicBezTo>
                <a:cubicBezTo>
                  <a:pt x="95250" y="67057"/>
                  <a:pt x="98807" y="63500"/>
                  <a:pt x="103188" y="63500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29" name="Text 27"/>
          <p:cNvSpPr/>
          <p:nvPr/>
        </p:nvSpPr>
        <p:spPr>
          <a:xfrm>
            <a:off x="958850" y="3514522"/>
            <a:ext cx="865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check_balance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95604" y="3498647"/>
            <a:ext cx="428625" cy="222250"/>
          </a:xfrm>
          <a:custGeom>
            <a:avLst/>
            <a:gdLst/>
            <a:ahLst/>
            <a:cxnLst/>
            <a:rect l="l" t="t" r="r" b="b"/>
            <a:pathLst>
              <a:path w="428625" h="222250">
                <a:moveTo>
                  <a:pt x="0" y="0"/>
                </a:moveTo>
                <a:lnTo>
                  <a:pt x="428625" y="0"/>
                </a:lnTo>
                <a:lnTo>
                  <a:pt x="428625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1" name="Text 29"/>
          <p:cNvSpPr/>
          <p:nvPr/>
        </p:nvSpPr>
        <p:spPr>
          <a:xfrm>
            <a:off x="6867823" y="3498647"/>
            <a:ext cx="484187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EDIT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91103" y="3498647"/>
            <a:ext cx="571500" cy="222250"/>
          </a:xfrm>
          <a:custGeom>
            <a:avLst/>
            <a:gdLst/>
            <a:ahLst/>
            <a:cxnLst/>
            <a:rect l="l" t="t" r="r" b="b"/>
            <a:pathLst>
              <a:path w="571500" h="222250">
                <a:moveTo>
                  <a:pt x="0" y="0"/>
                </a:moveTo>
                <a:lnTo>
                  <a:pt x="571500" y="0"/>
                </a:lnTo>
                <a:lnTo>
                  <a:pt x="571500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3" name="Text 31"/>
          <p:cNvSpPr/>
          <p:nvPr/>
        </p:nvSpPr>
        <p:spPr>
          <a:xfrm>
            <a:off x="7363321" y="3498647"/>
            <a:ext cx="6270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9600" y="3879647"/>
            <a:ext cx="7445375" cy="412750"/>
          </a:xfrm>
          <a:custGeom>
            <a:avLst/>
            <a:gdLst/>
            <a:ahLst/>
            <a:cxnLst/>
            <a:rect l="l" t="t" r="r" b="b"/>
            <a:pathLst>
              <a:path w="7445375" h="412750">
                <a:moveTo>
                  <a:pt x="0" y="0"/>
                </a:moveTo>
                <a:lnTo>
                  <a:pt x="7445375" y="0"/>
                </a:lnTo>
                <a:lnTo>
                  <a:pt x="744537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35" name="Shape 33"/>
          <p:cNvSpPr/>
          <p:nvPr/>
        </p:nvSpPr>
        <p:spPr>
          <a:xfrm>
            <a:off x="720725" y="402252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9922" y="11906"/>
                </a:moveTo>
                <a:cubicBezTo>
                  <a:pt x="6623" y="11906"/>
                  <a:pt x="3969" y="14560"/>
                  <a:pt x="3969" y="17859"/>
                </a:cubicBezTo>
                <a:lnTo>
                  <a:pt x="3969" y="29766"/>
                </a:lnTo>
                <a:cubicBezTo>
                  <a:pt x="3969" y="33065"/>
                  <a:pt x="6623" y="35719"/>
                  <a:pt x="9922" y="35719"/>
                </a:cubicBezTo>
                <a:lnTo>
                  <a:pt x="21828" y="35719"/>
                </a:lnTo>
                <a:cubicBezTo>
                  <a:pt x="25127" y="35719"/>
                  <a:pt x="27781" y="33065"/>
                  <a:pt x="27781" y="29766"/>
                </a:cubicBezTo>
                <a:lnTo>
                  <a:pt x="27781" y="17859"/>
                </a:lnTo>
                <a:cubicBezTo>
                  <a:pt x="27781" y="14560"/>
                  <a:pt x="25127" y="11906"/>
                  <a:pt x="21828" y="11906"/>
                </a:cubicBezTo>
                <a:lnTo>
                  <a:pt x="9922" y="11906"/>
                </a:lnTo>
                <a:close/>
                <a:moveTo>
                  <a:pt x="47625" y="15875"/>
                </a:moveTo>
                <a:cubicBezTo>
                  <a:pt x="43235" y="15875"/>
                  <a:pt x="39688" y="19422"/>
                  <a:pt x="39688" y="23812"/>
                </a:cubicBezTo>
                <a:cubicBezTo>
                  <a:pt x="39688" y="28203"/>
                  <a:pt x="43235" y="31750"/>
                  <a:pt x="47625" y="31750"/>
                </a:cubicBezTo>
                <a:lnTo>
                  <a:pt x="119063" y="31750"/>
                </a:lnTo>
                <a:cubicBezTo>
                  <a:pt x="123453" y="31750"/>
                  <a:pt x="127000" y="28203"/>
                  <a:pt x="127000" y="23812"/>
                </a:cubicBezTo>
                <a:cubicBezTo>
                  <a:pt x="127000" y="19422"/>
                  <a:pt x="123453" y="15875"/>
                  <a:pt x="119063" y="15875"/>
                </a:cubicBezTo>
                <a:lnTo>
                  <a:pt x="47625" y="15875"/>
                </a:lnTo>
                <a:close/>
                <a:moveTo>
                  <a:pt x="47625" y="55563"/>
                </a:moveTo>
                <a:cubicBezTo>
                  <a:pt x="43235" y="55563"/>
                  <a:pt x="39688" y="59110"/>
                  <a:pt x="39688" y="63500"/>
                </a:cubicBezTo>
                <a:cubicBezTo>
                  <a:pt x="39688" y="67890"/>
                  <a:pt x="43235" y="71438"/>
                  <a:pt x="47625" y="71438"/>
                </a:cubicBezTo>
                <a:lnTo>
                  <a:pt x="119063" y="71438"/>
                </a:lnTo>
                <a:cubicBezTo>
                  <a:pt x="123453" y="71438"/>
                  <a:pt x="127000" y="67890"/>
                  <a:pt x="127000" y="63500"/>
                </a:cubicBezTo>
                <a:cubicBezTo>
                  <a:pt x="127000" y="59110"/>
                  <a:pt x="123453" y="55563"/>
                  <a:pt x="119063" y="55563"/>
                </a:cubicBezTo>
                <a:lnTo>
                  <a:pt x="47625" y="55563"/>
                </a:lnTo>
                <a:close/>
                <a:moveTo>
                  <a:pt x="47625" y="95250"/>
                </a:moveTo>
                <a:cubicBezTo>
                  <a:pt x="43235" y="95250"/>
                  <a:pt x="39688" y="98797"/>
                  <a:pt x="39688" y="103188"/>
                </a:cubicBezTo>
                <a:cubicBezTo>
                  <a:pt x="39688" y="107578"/>
                  <a:pt x="43235" y="111125"/>
                  <a:pt x="47625" y="111125"/>
                </a:cubicBezTo>
                <a:lnTo>
                  <a:pt x="119063" y="111125"/>
                </a:lnTo>
                <a:cubicBezTo>
                  <a:pt x="123453" y="111125"/>
                  <a:pt x="127000" y="107578"/>
                  <a:pt x="127000" y="103188"/>
                </a:cubicBezTo>
                <a:cubicBezTo>
                  <a:pt x="127000" y="98797"/>
                  <a:pt x="123453" y="95250"/>
                  <a:pt x="119063" y="95250"/>
                </a:cubicBezTo>
                <a:lnTo>
                  <a:pt x="47625" y="95250"/>
                </a:lnTo>
                <a:close/>
                <a:moveTo>
                  <a:pt x="3969" y="57547"/>
                </a:moveTo>
                <a:lnTo>
                  <a:pt x="3969" y="69453"/>
                </a:lnTo>
                <a:cubicBezTo>
                  <a:pt x="3969" y="72752"/>
                  <a:pt x="6623" y="75406"/>
                  <a:pt x="9922" y="75406"/>
                </a:cubicBezTo>
                <a:lnTo>
                  <a:pt x="21828" y="75406"/>
                </a:lnTo>
                <a:cubicBezTo>
                  <a:pt x="25127" y="75406"/>
                  <a:pt x="27781" y="72752"/>
                  <a:pt x="27781" y="69453"/>
                </a:cubicBezTo>
                <a:lnTo>
                  <a:pt x="27781" y="57547"/>
                </a:lnTo>
                <a:cubicBezTo>
                  <a:pt x="27781" y="54248"/>
                  <a:pt x="25127" y="51594"/>
                  <a:pt x="21828" y="51594"/>
                </a:cubicBezTo>
                <a:lnTo>
                  <a:pt x="9922" y="51594"/>
                </a:lnTo>
                <a:cubicBezTo>
                  <a:pt x="6623" y="51594"/>
                  <a:pt x="3969" y="54248"/>
                  <a:pt x="3969" y="57547"/>
                </a:cubicBezTo>
                <a:close/>
                <a:moveTo>
                  <a:pt x="9922" y="91281"/>
                </a:moveTo>
                <a:cubicBezTo>
                  <a:pt x="6623" y="91281"/>
                  <a:pt x="3969" y="93935"/>
                  <a:pt x="3969" y="97234"/>
                </a:cubicBezTo>
                <a:lnTo>
                  <a:pt x="3969" y="109141"/>
                </a:lnTo>
                <a:cubicBezTo>
                  <a:pt x="3969" y="112440"/>
                  <a:pt x="6623" y="115094"/>
                  <a:pt x="9922" y="115094"/>
                </a:cubicBezTo>
                <a:lnTo>
                  <a:pt x="21828" y="115094"/>
                </a:lnTo>
                <a:cubicBezTo>
                  <a:pt x="25127" y="115094"/>
                  <a:pt x="27781" y="112440"/>
                  <a:pt x="27781" y="109141"/>
                </a:cubicBezTo>
                <a:lnTo>
                  <a:pt x="27781" y="97234"/>
                </a:lnTo>
                <a:cubicBezTo>
                  <a:pt x="27781" y="93935"/>
                  <a:pt x="25127" y="91281"/>
                  <a:pt x="21828" y="91281"/>
                </a:cubicBezTo>
                <a:lnTo>
                  <a:pt x="9922" y="91281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6" name="Text 34"/>
          <p:cNvSpPr/>
          <p:nvPr/>
        </p:nvSpPr>
        <p:spPr>
          <a:xfrm>
            <a:off x="958850" y="3990772"/>
            <a:ext cx="92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mini_statement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95604" y="3974897"/>
            <a:ext cx="428625" cy="222250"/>
          </a:xfrm>
          <a:custGeom>
            <a:avLst/>
            <a:gdLst/>
            <a:ahLst/>
            <a:cxnLst/>
            <a:rect l="l" t="t" r="r" b="b"/>
            <a:pathLst>
              <a:path w="428625" h="222250">
                <a:moveTo>
                  <a:pt x="0" y="0"/>
                </a:moveTo>
                <a:lnTo>
                  <a:pt x="428625" y="0"/>
                </a:lnTo>
                <a:lnTo>
                  <a:pt x="428625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8" name="Text 36"/>
          <p:cNvSpPr/>
          <p:nvPr/>
        </p:nvSpPr>
        <p:spPr>
          <a:xfrm>
            <a:off x="6867823" y="3974897"/>
            <a:ext cx="484187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EDIT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91103" y="3974897"/>
            <a:ext cx="571500" cy="222250"/>
          </a:xfrm>
          <a:custGeom>
            <a:avLst/>
            <a:gdLst/>
            <a:ahLst/>
            <a:cxnLst/>
            <a:rect l="l" t="t" r="r" b="b"/>
            <a:pathLst>
              <a:path w="571500" h="222250">
                <a:moveTo>
                  <a:pt x="0" y="0"/>
                </a:moveTo>
                <a:lnTo>
                  <a:pt x="571500" y="0"/>
                </a:lnTo>
                <a:lnTo>
                  <a:pt x="571500" y="222250"/>
                </a:lnTo>
                <a:lnTo>
                  <a:pt x="0" y="22225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0" name="Text 38"/>
          <p:cNvSpPr/>
          <p:nvPr/>
        </p:nvSpPr>
        <p:spPr>
          <a:xfrm>
            <a:off x="7363321" y="3974897"/>
            <a:ext cx="6270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82600" y="4546397"/>
            <a:ext cx="7699375" cy="889000"/>
          </a:xfrm>
          <a:custGeom>
            <a:avLst/>
            <a:gdLst/>
            <a:ahLst/>
            <a:cxnLst/>
            <a:rect l="l" t="t" r="r" b="b"/>
            <a:pathLst>
              <a:path w="7699375" h="889000">
                <a:moveTo>
                  <a:pt x="0" y="0"/>
                </a:moveTo>
                <a:lnTo>
                  <a:pt x="7699375" y="0"/>
                </a:lnTo>
                <a:lnTo>
                  <a:pt x="769937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Shape 40"/>
          <p:cNvSpPr/>
          <p:nvPr/>
        </p:nvSpPr>
        <p:spPr>
          <a:xfrm>
            <a:off x="620514" y="4713084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26929" y="0"/>
                </a:moveTo>
                <a:cubicBezTo>
                  <a:pt x="17078" y="0"/>
                  <a:pt x="9069" y="8009"/>
                  <a:pt x="9069" y="17859"/>
                </a:cubicBezTo>
                <a:lnTo>
                  <a:pt x="9069" y="125016"/>
                </a:lnTo>
                <a:cubicBezTo>
                  <a:pt x="9069" y="134866"/>
                  <a:pt x="17078" y="142875"/>
                  <a:pt x="26929" y="142875"/>
                </a:cubicBezTo>
                <a:lnTo>
                  <a:pt x="98366" y="142875"/>
                </a:lnTo>
                <a:cubicBezTo>
                  <a:pt x="108217" y="142875"/>
                  <a:pt x="116225" y="134866"/>
                  <a:pt x="116225" y="125016"/>
                </a:cubicBezTo>
                <a:lnTo>
                  <a:pt x="116225" y="98227"/>
                </a:lnTo>
                <a:lnTo>
                  <a:pt x="138019" y="98227"/>
                </a:lnTo>
                <a:lnTo>
                  <a:pt x="129369" y="106877"/>
                </a:lnTo>
                <a:cubicBezTo>
                  <a:pt x="126746" y="109500"/>
                  <a:pt x="126746" y="113742"/>
                  <a:pt x="129369" y="116337"/>
                </a:cubicBezTo>
                <a:cubicBezTo>
                  <a:pt x="131992" y="118932"/>
                  <a:pt x="136234" y="118960"/>
                  <a:pt x="138829" y="116337"/>
                </a:cubicBezTo>
                <a:lnTo>
                  <a:pt x="158921" y="96245"/>
                </a:lnTo>
                <a:cubicBezTo>
                  <a:pt x="161544" y="93622"/>
                  <a:pt x="161544" y="89381"/>
                  <a:pt x="158921" y="86785"/>
                </a:cubicBezTo>
                <a:lnTo>
                  <a:pt x="138829" y="66694"/>
                </a:lnTo>
                <a:cubicBezTo>
                  <a:pt x="136206" y="64071"/>
                  <a:pt x="131964" y="64071"/>
                  <a:pt x="129369" y="66694"/>
                </a:cubicBezTo>
                <a:cubicBezTo>
                  <a:pt x="126774" y="69317"/>
                  <a:pt x="126746" y="73558"/>
                  <a:pt x="129369" y="76153"/>
                </a:cubicBezTo>
                <a:lnTo>
                  <a:pt x="138019" y="84804"/>
                </a:lnTo>
                <a:lnTo>
                  <a:pt x="116225" y="84804"/>
                </a:lnTo>
                <a:lnTo>
                  <a:pt x="116225" y="47551"/>
                </a:lnTo>
                <a:cubicBezTo>
                  <a:pt x="116225" y="42807"/>
                  <a:pt x="114356" y="38258"/>
                  <a:pt x="111007" y="34909"/>
                </a:cubicBezTo>
                <a:lnTo>
                  <a:pt x="81260" y="5218"/>
                </a:lnTo>
                <a:cubicBezTo>
                  <a:pt x="77912" y="1870"/>
                  <a:pt x="73391" y="0"/>
                  <a:pt x="68647" y="0"/>
                </a:cubicBezTo>
                <a:lnTo>
                  <a:pt x="26929" y="0"/>
                </a:lnTo>
                <a:close/>
                <a:moveTo>
                  <a:pt x="99901" y="49113"/>
                </a:moveTo>
                <a:lnTo>
                  <a:pt x="73809" y="49113"/>
                </a:lnTo>
                <a:cubicBezTo>
                  <a:pt x="70098" y="49113"/>
                  <a:pt x="67112" y="46127"/>
                  <a:pt x="67112" y="42416"/>
                </a:cubicBezTo>
                <a:lnTo>
                  <a:pt x="67112" y="16325"/>
                </a:lnTo>
                <a:lnTo>
                  <a:pt x="99901" y="49113"/>
                </a:lnTo>
                <a:close/>
                <a:moveTo>
                  <a:pt x="62647" y="91529"/>
                </a:moveTo>
                <a:cubicBezTo>
                  <a:pt x="62647" y="87818"/>
                  <a:pt x="65633" y="84832"/>
                  <a:pt x="69345" y="84832"/>
                </a:cubicBezTo>
                <a:lnTo>
                  <a:pt x="98366" y="84832"/>
                </a:lnTo>
                <a:lnTo>
                  <a:pt x="98366" y="98227"/>
                </a:lnTo>
                <a:lnTo>
                  <a:pt x="69345" y="98227"/>
                </a:lnTo>
                <a:cubicBezTo>
                  <a:pt x="65633" y="98227"/>
                  <a:pt x="62647" y="95241"/>
                  <a:pt x="62647" y="9152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3" name="Text 41"/>
          <p:cNvSpPr/>
          <p:nvPr/>
        </p:nvSpPr>
        <p:spPr>
          <a:xfrm>
            <a:off x="792163" y="467339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Export Functionality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09600" y="4990897"/>
            <a:ext cx="2420938" cy="317500"/>
          </a:xfrm>
          <a:custGeom>
            <a:avLst/>
            <a:gdLst/>
            <a:ahLst/>
            <a:cxnLst/>
            <a:rect l="l" t="t" r="r" b="b"/>
            <a:pathLst>
              <a:path w="2420938" h="317500">
                <a:moveTo>
                  <a:pt x="0" y="0"/>
                </a:moveTo>
                <a:lnTo>
                  <a:pt x="2420938" y="0"/>
                </a:lnTo>
                <a:lnTo>
                  <a:pt x="2420938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5" name="Shape 43"/>
          <p:cNvSpPr/>
          <p:nvPr/>
        </p:nvSpPr>
        <p:spPr>
          <a:xfrm>
            <a:off x="1553865" y="5086147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89495" y="298"/>
                </a:moveTo>
                <a:cubicBezTo>
                  <a:pt x="85279" y="-918"/>
                  <a:pt x="80888" y="1538"/>
                  <a:pt x="79673" y="5755"/>
                </a:cubicBezTo>
                <a:lnTo>
                  <a:pt x="47923" y="116880"/>
                </a:lnTo>
                <a:cubicBezTo>
                  <a:pt x="46707" y="121096"/>
                  <a:pt x="49163" y="125487"/>
                  <a:pt x="53380" y="126702"/>
                </a:cubicBezTo>
                <a:cubicBezTo>
                  <a:pt x="57596" y="127918"/>
                  <a:pt x="61987" y="125462"/>
                  <a:pt x="63202" y="121245"/>
                </a:cubicBezTo>
                <a:lnTo>
                  <a:pt x="94952" y="10120"/>
                </a:lnTo>
                <a:cubicBezTo>
                  <a:pt x="96168" y="5904"/>
                  <a:pt x="93712" y="1513"/>
                  <a:pt x="89495" y="298"/>
                </a:cubicBezTo>
                <a:close/>
                <a:moveTo>
                  <a:pt x="105519" y="34057"/>
                </a:moveTo>
                <a:cubicBezTo>
                  <a:pt x="102419" y="37157"/>
                  <a:pt x="102419" y="42193"/>
                  <a:pt x="105519" y="45293"/>
                </a:cubicBezTo>
                <a:lnTo>
                  <a:pt x="123726" y="63500"/>
                </a:lnTo>
                <a:lnTo>
                  <a:pt x="105519" y="81707"/>
                </a:lnTo>
                <a:cubicBezTo>
                  <a:pt x="102419" y="84807"/>
                  <a:pt x="102419" y="89843"/>
                  <a:pt x="105519" y="92943"/>
                </a:cubicBezTo>
                <a:cubicBezTo>
                  <a:pt x="108620" y="96044"/>
                  <a:pt x="113655" y="96044"/>
                  <a:pt x="116756" y="92943"/>
                </a:cubicBezTo>
                <a:lnTo>
                  <a:pt x="140568" y="69131"/>
                </a:lnTo>
                <a:cubicBezTo>
                  <a:pt x="143669" y="66030"/>
                  <a:pt x="143669" y="60995"/>
                  <a:pt x="140568" y="57894"/>
                </a:cubicBezTo>
                <a:lnTo>
                  <a:pt x="116756" y="34082"/>
                </a:lnTo>
                <a:cubicBezTo>
                  <a:pt x="113655" y="30981"/>
                  <a:pt x="108620" y="30981"/>
                  <a:pt x="105519" y="34082"/>
                </a:cubicBezTo>
                <a:close/>
                <a:moveTo>
                  <a:pt x="37381" y="34057"/>
                </a:moveTo>
                <a:cubicBezTo>
                  <a:pt x="34280" y="30956"/>
                  <a:pt x="29245" y="30956"/>
                  <a:pt x="26144" y="34057"/>
                </a:cubicBezTo>
                <a:lnTo>
                  <a:pt x="2332" y="57869"/>
                </a:lnTo>
                <a:cubicBezTo>
                  <a:pt x="-769" y="60970"/>
                  <a:pt x="-769" y="66005"/>
                  <a:pt x="2332" y="69106"/>
                </a:cubicBezTo>
                <a:lnTo>
                  <a:pt x="26144" y="92918"/>
                </a:lnTo>
                <a:cubicBezTo>
                  <a:pt x="29245" y="96019"/>
                  <a:pt x="34280" y="96019"/>
                  <a:pt x="37381" y="92918"/>
                </a:cubicBezTo>
                <a:cubicBezTo>
                  <a:pt x="40481" y="89818"/>
                  <a:pt x="40481" y="84782"/>
                  <a:pt x="37381" y="81682"/>
                </a:cubicBezTo>
                <a:lnTo>
                  <a:pt x="19174" y="63500"/>
                </a:lnTo>
                <a:lnTo>
                  <a:pt x="37356" y="45293"/>
                </a:lnTo>
                <a:cubicBezTo>
                  <a:pt x="40456" y="42193"/>
                  <a:pt x="40456" y="37157"/>
                  <a:pt x="37356" y="3405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6" name="Text 44"/>
          <p:cNvSpPr/>
          <p:nvPr/>
        </p:nvSpPr>
        <p:spPr>
          <a:xfrm>
            <a:off x="736600" y="4990897"/>
            <a:ext cx="2325688" cy="317500"/>
          </a:xfrm>
          <a:prstGeom prst="rect">
            <a:avLst/>
          </a:prstGeom>
          <a:noFill/>
          <a:ln/>
        </p:spPr>
        <p:txBody>
          <a:bodyPr wrap="square" lIns="0" tIns="63500" rIns="0" bIns="6350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124200" y="4990897"/>
            <a:ext cx="2420938" cy="317500"/>
          </a:xfrm>
          <a:custGeom>
            <a:avLst/>
            <a:gdLst/>
            <a:ahLst/>
            <a:cxnLst/>
            <a:rect l="l" t="t" r="r" b="b"/>
            <a:pathLst>
              <a:path w="2420938" h="317500">
                <a:moveTo>
                  <a:pt x="0" y="0"/>
                </a:moveTo>
                <a:lnTo>
                  <a:pt x="2420938" y="0"/>
                </a:lnTo>
                <a:lnTo>
                  <a:pt x="2420938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48" name="Shape 46"/>
          <p:cNvSpPr/>
          <p:nvPr/>
        </p:nvSpPr>
        <p:spPr>
          <a:xfrm>
            <a:off x="4075410" y="5086147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38249" y="73323"/>
                </a:moveTo>
                <a:cubicBezTo>
                  <a:pt x="40382" y="70817"/>
                  <a:pt x="40109" y="67072"/>
                  <a:pt x="37604" y="64939"/>
                </a:cubicBezTo>
                <a:cubicBezTo>
                  <a:pt x="35099" y="62805"/>
                  <a:pt x="31353" y="63078"/>
                  <a:pt x="29220" y="65584"/>
                </a:cubicBezTo>
                <a:lnTo>
                  <a:pt x="17314" y="79474"/>
                </a:lnTo>
                <a:cubicBezTo>
                  <a:pt x="15404" y="81707"/>
                  <a:pt x="15404" y="84981"/>
                  <a:pt x="17314" y="87213"/>
                </a:cubicBezTo>
                <a:lnTo>
                  <a:pt x="29220" y="101104"/>
                </a:lnTo>
                <a:cubicBezTo>
                  <a:pt x="31353" y="103609"/>
                  <a:pt x="35123" y="103882"/>
                  <a:pt x="37604" y="101749"/>
                </a:cubicBezTo>
                <a:cubicBezTo>
                  <a:pt x="40084" y="99616"/>
                  <a:pt x="40382" y="95845"/>
                  <a:pt x="38249" y="93365"/>
                </a:cubicBezTo>
                <a:lnTo>
                  <a:pt x="29666" y="83344"/>
                </a:lnTo>
                <a:lnTo>
                  <a:pt x="38249" y="73323"/>
                </a:lnTo>
                <a:close/>
                <a:moveTo>
                  <a:pt x="66030" y="65584"/>
                </a:moveTo>
                <a:cubicBezTo>
                  <a:pt x="63897" y="63078"/>
                  <a:pt x="60127" y="62805"/>
                  <a:pt x="57646" y="64939"/>
                </a:cubicBezTo>
                <a:cubicBezTo>
                  <a:pt x="55166" y="67072"/>
                  <a:pt x="54868" y="70842"/>
                  <a:pt x="57001" y="73323"/>
                </a:cubicBezTo>
                <a:lnTo>
                  <a:pt x="65584" y="83344"/>
                </a:lnTo>
                <a:lnTo>
                  <a:pt x="57001" y="93365"/>
                </a:lnTo>
                <a:cubicBezTo>
                  <a:pt x="54868" y="95870"/>
                  <a:pt x="55141" y="99616"/>
                  <a:pt x="57646" y="101749"/>
                </a:cubicBezTo>
                <a:cubicBezTo>
                  <a:pt x="60151" y="103882"/>
                  <a:pt x="63897" y="103609"/>
                  <a:pt x="66030" y="101104"/>
                </a:cubicBezTo>
                <a:lnTo>
                  <a:pt x="77936" y="87213"/>
                </a:lnTo>
                <a:cubicBezTo>
                  <a:pt x="79846" y="84981"/>
                  <a:pt x="79846" y="81707"/>
                  <a:pt x="77936" y="79474"/>
                </a:cubicBezTo>
                <a:lnTo>
                  <a:pt x="66030" y="6558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Text 47"/>
          <p:cNvSpPr/>
          <p:nvPr/>
        </p:nvSpPr>
        <p:spPr>
          <a:xfrm>
            <a:off x="3251200" y="4990897"/>
            <a:ext cx="2325688" cy="317500"/>
          </a:xfrm>
          <a:prstGeom prst="rect">
            <a:avLst/>
          </a:prstGeom>
          <a:noFill/>
          <a:ln/>
        </p:spPr>
        <p:txBody>
          <a:bodyPr wrap="square" lIns="0" tIns="63500" rIns="0" bIns="6350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HTML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638800" y="4990897"/>
            <a:ext cx="2420938" cy="317500"/>
          </a:xfrm>
          <a:custGeom>
            <a:avLst/>
            <a:gdLst/>
            <a:ahLst/>
            <a:cxnLst/>
            <a:rect l="l" t="t" r="r" b="b"/>
            <a:pathLst>
              <a:path w="2420938" h="317500">
                <a:moveTo>
                  <a:pt x="0" y="0"/>
                </a:moveTo>
                <a:lnTo>
                  <a:pt x="2420938" y="0"/>
                </a:lnTo>
                <a:lnTo>
                  <a:pt x="2420938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1" name="Shape 49"/>
          <p:cNvSpPr/>
          <p:nvPr/>
        </p:nvSpPr>
        <p:spPr>
          <a:xfrm>
            <a:off x="6446143" y="5086147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29766" y="63500"/>
                </a:moveTo>
                <a:cubicBezTo>
                  <a:pt x="26467" y="63500"/>
                  <a:pt x="23812" y="66154"/>
                  <a:pt x="23812" y="69453"/>
                </a:cubicBezTo>
                <a:cubicBezTo>
                  <a:pt x="23812" y="72752"/>
                  <a:pt x="26467" y="75406"/>
                  <a:pt x="29766" y="75406"/>
                </a:cubicBezTo>
                <a:lnTo>
                  <a:pt x="65484" y="75406"/>
                </a:lnTo>
                <a:cubicBezTo>
                  <a:pt x="68783" y="75406"/>
                  <a:pt x="71438" y="72752"/>
                  <a:pt x="71438" y="69453"/>
                </a:cubicBezTo>
                <a:cubicBezTo>
                  <a:pt x="71438" y="66154"/>
                  <a:pt x="68783" y="63500"/>
                  <a:pt x="65484" y="63500"/>
                </a:cubicBezTo>
                <a:lnTo>
                  <a:pt x="29766" y="63500"/>
                </a:lnTo>
                <a:close/>
                <a:moveTo>
                  <a:pt x="29766" y="87313"/>
                </a:moveTo>
                <a:cubicBezTo>
                  <a:pt x="26467" y="87313"/>
                  <a:pt x="23812" y="89967"/>
                  <a:pt x="23812" y="93266"/>
                </a:cubicBezTo>
                <a:cubicBezTo>
                  <a:pt x="23812" y="96565"/>
                  <a:pt x="26467" y="99219"/>
                  <a:pt x="29766" y="99219"/>
                </a:cubicBezTo>
                <a:lnTo>
                  <a:pt x="65484" y="99219"/>
                </a:lnTo>
                <a:cubicBezTo>
                  <a:pt x="68783" y="99219"/>
                  <a:pt x="71438" y="96565"/>
                  <a:pt x="71438" y="93266"/>
                </a:cubicBezTo>
                <a:cubicBezTo>
                  <a:pt x="71438" y="89967"/>
                  <a:pt x="68783" y="87313"/>
                  <a:pt x="65484" y="87313"/>
                </a:cubicBezTo>
                <a:lnTo>
                  <a:pt x="29766" y="8731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2" name="Text 50"/>
          <p:cNvSpPr/>
          <p:nvPr/>
        </p:nvSpPr>
        <p:spPr>
          <a:xfrm>
            <a:off x="5765800" y="4990897"/>
            <a:ext cx="2325688" cy="317500"/>
          </a:xfrm>
          <a:prstGeom prst="rect">
            <a:avLst/>
          </a:prstGeom>
          <a:noFill/>
          <a:ln/>
        </p:spPr>
        <p:txBody>
          <a:bodyPr wrap="square" lIns="0" tIns="63500" rIns="0" bIns="6350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Markdown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556625" y="1460500"/>
            <a:ext cx="3317875" cy="2476500"/>
          </a:xfrm>
          <a:custGeom>
            <a:avLst/>
            <a:gdLst/>
            <a:ahLst/>
            <a:cxnLst/>
            <a:rect l="l" t="t" r="r" b="b"/>
            <a:pathLst>
              <a:path w="3317875" h="2476500">
                <a:moveTo>
                  <a:pt x="0" y="0"/>
                </a:moveTo>
                <a:lnTo>
                  <a:pt x="3317875" y="0"/>
                </a:lnTo>
                <a:lnTo>
                  <a:pt x="3317875" y="2476500"/>
                </a:lnTo>
                <a:lnTo>
                  <a:pt x="0" y="247650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54" name="Shape 52"/>
          <p:cNvSpPr/>
          <p:nvPr/>
        </p:nvSpPr>
        <p:spPr>
          <a:xfrm>
            <a:off x="8556625" y="1460500"/>
            <a:ext cx="31750" cy="2476500"/>
          </a:xfrm>
          <a:custGeom>
            <a:avLst/>
            <a:gdLst/>
            <a:ahLst/>
            <a:cxnLst/>
            <a:rect l="l" t="t" r="r" b="b"/>
            <a:pathLst>
              <a:path w="31750" h="2476500">
                <a:moveTo>
                  <a:pt x="0" y="0"/>
                </a:moveTo>
                <a:lnTo>
                  <a:pt x="31750" y="0"/>
                </a:lnTo>
                <a:lnTo>
                  <a:pt x="31750" y="2476500"/>
                </a:lnTo>
                <a:lnTo>
                  <a:pt x="0" y="247650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5" name="Shape 53"/>
          <p:cNvSpPr/>
          <p:nvPr/>
        </p:nvSpPr>
        <p:spPr>
          <a:xfrm>
            <a:off x="8772922" y="168275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58874" y="74414"/>
                </a:moveTo>
                <a:lnTo>
                  <a:pt x="104304" y="74414"/>
                </a:lnTo>
                <a:cubicBezTo>
                  <a:pt x="98816" y="74414"/>
                  <a:pt x="94382" y="69980"/>
                  <a:pt x="94382" y="64492"/>
                </a:cubicBezTo>
                <a:lnTo>
                  <a:pt x="94382" y="9922"/>
                </a:lnTo>
                <a:cubicBezTo>
                  <a:pt x="94382" y="4434"/>
                  <a:pt x="98847" y="-62"/>
                  <a:pt x="104273" y="651"/>
                </a:cubicBezTo>
                <a:cubicBezTo>
                  <a:pt x="137449" y="5054"/>
                  <a:pt x="163742" y="31347"/>
                  <a:pt x="168145" y="64523"/>
                </a:cubicBezTo>
                <a:cubicBezTo>
                  <a:pt x="168858" y="69949"/>
                  <a:pt x="164362" y="74414"/>
                  <a:pt x="158874" y="74414"/>
                </a:cubicBezTo>
                <a:close/>
                <a:moveTo>
                  <a:pt x="69019" y="11534"/>
                </a:moveTo>
                <a:cubicBezTo>
                  <a:pt x="74631" y="10356"/>
                  <a:pt x="79499" y="14945"/>
                  <a:pt x="79499" y="20681"/>
                </a:cubicBezTo>
                <a:lnTo>
                  <a:pt x="79499" y="81855"/>
                </a:lnTo>
                <a:cubicBezTo>
                  <a:pt x="79499" y="83592"/>
                  <a:pt x="80119" y="85266"/>
                  <a:pt x="81204" y="86599"/>
                </a:cubicBezTo>
                <a:lnTo>
                  <a:pt x="122163" y="136023"/>
                </a:lnTo>
                <a:cubicBezTo>
                  <a:pt x="125791" y="140395"/>
                  <a:pt x="125016" y="146999"/>
                  <a:pt x="120024" y="149696"/>
                </a:cubicBezTo>
                <a:cubicBezTo>
                  <a:pt x="109451" y="155463"/>
                  <a:pt x="97327" y="158750"/>
                  <a:pt x="84460" y="158750"/>
                </a:cubicBezTo>
                <a:cubicBezTo>
                  <a:pt x="43377" y="158750"/>
                  <a:pt x="10046" y="125419"/>
                  <a:pt x="10046" y="84336"/>
                </a:cubicBezTo>
                <a:cubicBezTo>
                  <a:pt x="10046" y="48524"/>
                  <a:pt x="35316" y="18635"/>
                  <a:pt x="69019" y="11534"/>
                </a:cubicBezTo>
                <a:close/>
                <a:moveTo>
                  <a:pt x="148146" y="89297"/>
                </a:moveTo>
                <a:lnTo>
                  <a:pt x="167990" y="89297"/>
                </a:lnTo>
                <a:cubicBezTo>
                  <a:pt x="173726" y="89297"/>
                  <a:pt x="178315" y="94165"/>
                  <a:pt x="177136" y="99777"/>
                </a:cubicBezTo>
                <a:cubicBezTo>
                  <a:pt x="173974" y="114784"/>
                  <a:pt x="166284" y="128116"/>
                  <a:pt x="155556" y="138286"/>
                </a:cubicBezTo>
                <a:cubicBezTo>
                  <a:pt x="151743" y="141914"/>
                  <a:pt x="145759" y="141139"/>
                  <a:pt x="142410" y="137077"/>
                </a:cubicBezTo>
                <a:lnTo>
                  <a:pt x="116241" y="105544"/>
                </a:lnTo>
                <a:cubicBezTo>
                  <a:pt x="110877" y="99064"/>
                  <a:pt x="115497" y="89297"/>
                  <a:pt x="123868" y="89297"/>
                </a:cubicBezTo>
                <a:lnTo>
                  <a:pt x="148115" y="89297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56" name="Text 54"/>
          <p:cNvSpPr/>
          <p:nvPr/>
        </p:nvSpPr>
        <p:spPr>
          <a:xfrm>
            <a:off x="8961438" y="1651000"/>
            <a:ext cx="2801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Intent Distribution</a:t>
            </a:r>
            <a:endParaRPr lang="en-US" sz="1600" dirty="0"/>
          </a:p>
        </p:txBody>
      </p:sp>
      <p:pic>
        <p:nvPicPr>
          <p:cNvPr id="57" name="Image 0" descr="https://kimi-img.moonshot.cn/pub/slides/26-01-22-20:51:23-d5p1qir67ti8161q8nm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63000" y="2000250"/>
            <a:ext cx="2921000" cy="1746250"/>
          </a:xfrm>
          <a:prstGeom prst="roundRect">
            <a:avLst>
              <a:gd name="adj" fmla="val 0"/>
            </a:avLst>
          </a:prstGeom>
        </p:spPr>
      </p:pic>
      <p:sp>
        <p:nvSpPr>
          <p:cNvPr id="58" name="Shape 55"/>
          <p:cNvSpPr/>
          <p:nvPr/>
        </p:nvSpPr>
        <p:spPr>
          <a:xfrm>
            <a:off x="8556625" y="4127500"/>
            <a:ext cx="3317875" cy="2889250"/>
          </a:xfrm>
          <a:custGeom>
            <a:avLst/>
            <a:gdLst/>
            <a:ahLst/>
            <a:cxnLst/>
            <a:rect l="l" t="t" r="r" b="b"/>
            <a:pathLst>
              <a:path w="3317875" h="2889250">
                <a:moveTo>
                  <a:pt x="0" y="0"/>
                </a:moveTo>
                <a:lnTo>
                  <a:pt x="3317875" y="0"/>
                </a:lnTo>
                <a:lnTo>
                  <a:pt x="3317875" y="2889250"/>
                </a:lnTo>
                <a:lnTo>
                  <a:pt x="0" y="288925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59" name="Shape 56"/>
          <p:cNvSpPr/>
          <p:nvPr/>
        </p:nvSpPr>
        <p:spPr>
          <a:xfrm>
            <a:off x="8556625" y="4127500"/>
            <a:ext cx="31750" cy="2889250"/>
          </a:xfrm>
          <a:custGeom>
            <a:avLst/>
            <a:gdLst/>
            <a:ahLst/>
            <a:cxnLst/>
            <a:rect l="l" t="t" r="r" b="b"/>
            <a:pathLst>
              <a:path w="31750" h="2889250">
                <a:moveTo>
                  <a:pt x="0" y="0"/>
                </a:moveTo>
                <a:lnTo>
                  <a:pt x="31750" y="0"/>
                </a:lnTo>
                <a:lnTo>
                  <a:pt x="31750" y="2889250"/>
                </a:lnTo>
                <a:lnTo>
                  <a:pt x="0" y="28892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0" name="Shape 57"/>
          <p:cNvSpPr/>
          <p:nvPr/>
        </p:nvSpPr>
        <p:spPr>
          <a:xfrm>
            <a:off x="8763000" y="434975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09141" y="0"/>
                </a:moveTo>
                <a:cubicBezTo>
                  <a:pt x="109141" y="-5488"/>
                  <a:pt x="104707" y="-9922"/>
                  <a:pt x="99219" y="-9922"/>
                </a:cubicBezTo>
                <a:cubicBezTo>
                  <a:pt x="93731" y="-9922"/>
                  <a:pt x="89297" y="-5488"/>
                  <a:pt x="89297" y="0"/>
                </a:cubicBezTo>
                <a:lnTo>
                  <a:pt x="89297" y="19844"/>
                </a:lnTo>
                <a:lnTo>
                  <a:pt x="59531" y="19844"/>
                </a:lnTo>
                <a:cubicBezTo>
                  <a:pt x="43098" y="19844"/>
                  <a:pt x="29766" y="33176"/>
                  <a:pt x="29766" y="49609"/>
                </a:cubicBezTo>
                <a:lnTo>
                  <a:pt x="29766" y="119062"/>
                </a:lnTo>
                <a:cubicBezTo>
                  <a:pt x="29766" y="135496"/>
                  <a:pt x="43098" y="148828"/>
                  <a:pt x="59531" y="148828"/>
                </a:cubicBezTo>
                <a:lnTo>
                  <a:pt x="138906" y="148828"/>
                </a:lnTo>
                <a:cubicBezTo>
                  <a:pt x="155339" y="148828"/>
                  <a:pt x="168672" y="135496"/>
                  <a:pt x="168672" y="119062"/>
                </a:cubicBezTo>
                <a:lnTo>
                  <a:pt x="168672" y="49609"/>
                </a:lnTo>
                <a:cubicBezTo>
                  <a:pt x="168672" y="33176"/>
                  <a:pt x="155339" y="19844"/>
                  <a:pt x="138906" y="19844"/>
                </a:cubicBezTo>
                <a:lnTo>
                  <a:pt x="109141" y="19844"/>
                </a:lnTo>
                <a:lnTo>
                  <a:pt x="109141" y="0"/>
                </a:lnTo>
                <a:close/>
                <a:moveTo>
                  <a:pt x="49609" y="114102"/>
                </a:moveTo>
                <a:cubicBezTo>
                  <a:pt x="49609" y="109978"/>
                  <a:pt x="52927" y="106660"/>
                  <a:pt x="57051" y="106660"/>
                </a:cubicBezTo>
                <a:lnTo>
                  <a:pt x="66973" y="106660"/>
                </a:lnTo>
                <a:cubicBezTo>
                  <a:pt x="71096" y="106660"/>
                  <a:pt x="74414" y="109978"/>
                  <a:pt x="74414" y="114102"/>
                </a:cubicBezTo>
                <a:cubicBezTo>
                  <a:pt x="74414" y="118225"/>
                  <a:pt x="71096" y="121543"/>
                  <a:pt x="66973" y="121543"/>
                </a:cubicBezTo>
                <a:lnTo>
                  <a:pt x="57051" y="121543"/>
                </a:lnTo>
                <a:cubicBezTo>
                  <a:pt x="52927" y="121543"/>
                  <a:pt x="49609" y="118225"/>
                  <a:pt x="49609" y="114102"/>
                </a:cubicBezTo>
                <a:close/>
                <a:moveTo>
                  <a:pt x="86816" y="114102"/>
                </a:moveTo>
                <a:cubicBezTo>
                  <a:pt x="86816" y="109978"/>
                  <a:pt x="90134" y="106660"/>
                  <a:pt x="94258" y="106660"/>
                </a:cubicBezTo>
                <a:lnTo>
                  <a:pt x="104180" y="106660"/>
                </a:lnTo>
                <a:cubicBezTo>
                  <a:pt x="108303" y="106660"/>
                  <a:pt x="111621" y="109978"/>
                  <a:pt x="111621" y="114102"/>
                </a:cubicBezTo>
                <a:cubicBezTo>
                  <a:pt x="111621" y="118225"/>
                  <a:pt x="108303" y="121543"/>
                  <a:pt x="104180" y="121543"/>
                </a:cubicBezTo>
                <a:lnTo>
                  <a:pt x="94258" y="121543"/>
                </a:lnTo>
                <a:cubicBezTo>
                  <a:pt x="90134" y="121543"/>
                  <a:pt x="86816" y="118225"/>
                  <a:pt x="86816" y="114102"/>
                </a:cubicBezTo>
                <a:close/>
                <a:moveTo>
                  <a:pt x="124023" y="114102"/>
                </a:moveTo>
                <a:cubicBezTo>
                  <a:pt x="124023" y="109978"/>
                  <a:pt x="127341" y="106660"/>
                  <a:pt x="131465" y="106660"/>
                </a:cubicBezTo>
                <a:lnTo>
                  <a:pt x="141387" y="106660"/>
                </a:lnTo>
                <a:cubicBezTo>
                  <a:pt x="145510" y="106660"/>
                  <a:pt x="148828" y="109978"/>
                  <a:pt x="148828" y="114102"/>
                </a:cubicBezTo>
                <a:cubicBezTo>
                  <a:pt x="148828" y="118225"/>
                  <a:pt x="145510" y="121543"/>
                  <a:pt x="141387" y="121543"/>
                </a:cubicBezTo>
                <a:lnTo>
                  <a:pt x="131465" y="121543"/>
                </a:lnTo>
                <a:cubicBezTo>
                  <a:pt x="127341" y="121543"/>
                  <a:pt x="124023" y="118225"/>
                  <a:pt x="124023" y="114102"/>
                </a:cubicBezTo>
                <a:close/>
                <a:moveTo>
                  <a:pt x="69453" y="54570"/>
                </a:moveTo>
                <a:cubicBezTo>
                  <a:pt x="77667" y="54570"/>
                  <a:pt x="84336" y="61239"/>
                  <a:pt x="84336" y="69453"/>
                </a:cubicBezTo>
                <a:cubicBezTo>
                  <a:pt x="84336" y="77667"/>
                  <a:pt x="77667" y="84336"/>
                  <a:pt x="69453" y="84336"/>
                </a:cubicBezTo>
                <a:cubicBezTo>
                  <a:pt x="61239" y="84336"/>
                  <a:pt x="54570" y="77667"/>
                  <a:pt x="54570" y="69453"/>
                </a:cubicBezTo>
                <a:cubicBezTo>
                  <a:pt x="54570" y="61239"/>
                  <a:pt x="61239" y="54570"/>
                  <a:pt x="69453" y="54570"/>
                </a:cubicBezTo>
                <a:close/>
                <a:moveTo>
                  <a:pt x="114102" y="69453"/>
                </a:moveTo>
                <a:cubicBezTo>
                  <a:pt x="114102" y="61239"/>
                  <a:pt x="120770" y="54570"/>
                  <a:pt x="128984" y="54570"/>
                </a:cubicBezTo>
                <a:cubicBezTo>
                  <a:pt x="137198" y="54570"/>
                  <a:pt x="143867" y="61239"/>
                  <a:pt x="143867" y="69453"/>
                </a:cubicBezTo>
                <a:cubicBezTo>
                  <a:pt x="143867" y="77667"/>
                  <a:pt x="137198" y="84336"/>
                  <a:pt x="128984" y="84336"/>
                </a:cubicBezTo>
                <a:cubicBezTo>
                  <a:pt x="120770" y="84336"/>
                  <a:pt x="114102" y="77667"/>
                  <a:pt x="114102" y="69453"/>
                </a:cubicBezTo>
                <a:close/>
                <a:moveTo>
                  <a:pt x="19844" y="69453"/>
                </a:moveTo>
                <a:cubicBezTo>
                  <a:pt x="19844" y="63965"/>
                  <a:pt x="15410" y="59531"/>
                  <a:pt x="9922" y="59531"/>
                </a:cubicBezTo>
                <a:cubicBezTo>
                  <a:pt x="4434" y="59531"/>
                  <a:pt x="0" y="63965"/>
                  <a:pt x="0" y="69453"/>
                </a:cubicBezTo>
                <a:lnTo>
                  <a:pt x="0" y="99219"/>
                </a:lnTo>
                <a:cubicBezTo>
                  <a:pt x="0" y="104707"/>
                  <a:pt x="4434" y="109141"/>
                  <a:pt x="9922" y="109141"/>
                </a:cubicBezTo>
                <a:cubicBezTo>
                  <a:pt x="15410" y="109141"/>
                  <a:pt x="19844" y="104707"/>
                  <a:pt x="19844" y="99219"/>
                </a:cubicBezTo>
                <a:lnTo>
                  <a:pt x="19844" y="69453"/>
                </a:lnTo>
                <a:close/>
                <a:moveTo>
                  <a:pt x="188516" y="59531"/>
                </a:moveTo>
                <a:cubicBezTo>
                  <a:pt x="183028" y="59531"/>
                  <a:pt x="178594" y="63965"/>
                  <a:pt x="178594" y="69453"/>
                </a:cubicBezTo>
                <a:lnTo>
                  <a:pt x="178594" y="99219"/>
                </a:lnTo>
                <a:cubicBezTo>
                  <a:pt x="178594" y="104707"/>
                  <a:pt x="183028" y="109141"/>
                  <a:pt x="188516" y="109141"/>
                </a:cubicBezTo>
                <a:cubicBezTo>
                  <a:pt x="194004" y="109141"/>
                  <a:pt x="198438" y="104707"/>
                  <a:pt x="198438" y="99219"/>
                </a:cubicBezTo>
                <a:lnTo>
                  <a:pt x="198438" y="69453"/>
                </a:lnTo>
                <a:cubicBezTo>
                  <a:pt x="198438" y="63965"/>
                  <a:pt x="194004" y="59531"/>
                  <a:pt x="188516" y="59531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61" name="Text 58"/>
          <p:cNvSpPr/>
          <p:nvPr/>
        </p:nvSpPr>
        <p:spPr>
          <a:xfrm>
            <a:off x="8961438" y="4318000"/>
            <a:ext cx="2801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8763000" y="4667250"/>
            <a:ext cx="298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Administrators can trigger model retraining from the UI: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763000" y="5175250"/>
            <a:ext cx="2921000" cy="571500"/>
          </a:xfrm>
          <a:custGeom>
            <a:avLst/>
            <a:gdLst/>
            <a:ahLst/>
            <a:cxnLst/>
            <a:rect l="l" t="t" r="r" b="b"/>
            <a:pathLst>
              <a:path w="2921000" h="571500">
                <a:moveTo>
                  <a:pt x="0" y="0"/>
                </a:moveTo>
                <a:lnTo>
                  <a:pt x="2921000" y="0"/>
                </a:lnTo>
                <a:lnTo>
                  <a:pt x="2921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4" name="Text 61"/>
          <p:cNvSpPr/>
          <p:nvPr/>
        </p:nvSpPr>
        <p:spPr>
          <a:xfrm>
            <a:off x="8858250" y="5270500"/>
            <a:ext cx="279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Update Training Data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8858250" y="5492750"/>
            <a:ext cx="278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 new examples to existing intents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8763000" y="5842000"/>
            <a:ext cx="2921000" cy="571500"/>
          </a:xfrm>
          <a:custGeom>
            <a:avLst/>
            <a:gdLst/>
            <a:ahLst/>
            <a:cxnLst/>
            <a:rect l="l" t="t" r="r" b="b"/>
            <a:pathLst>
              <a:path w="2921000" h="571500">
                <a:moveTo>
                  <a:pt x="0" y="0"/>
                </a:moveTo>
                <a:lnTo>
                  <a:pt x="2921000" y="0"/>
                </a:lnTo>
                <a:lnTo>
                  <a:pt x="29210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7" name="Text 64"/>
          <p:cNvSpPr/>
          <p:nvPr/>
        </p:nvSpPr>
        <p:spPr>
          <a:xfrm>
            <a:off x="8858250" y="5937250"/>
            <a:ext cx="279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Trigger Retraining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8858250" y="6159500"/>
            <a:ext cx="2786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Initiate model update process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8763000" y="6508750"/>
            <a:ext cx="2921000" cy="317500"/>
          </a:xfrm>
          <a:custGeom>
            <a:avLst/>
            <a:gdLst/>
            <a:ahLst/>
            <a:cxnLst/>
            <a:rect l="l" t="t" r="r" b="b"/>
            <a:pathLst>
              <a:path w="2921000" h="317500">
                <a:moveTo>
                  <a:pt x="0" y="0"/>
                </a:moveTo>
                <a:lnTo>
                  <a:pt x="2921000" y="0"/>
                </a:lnTo>
                <a:lnTo>
                  <a:pt x="292100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70" name="Shape 67"/>
          <p:cNvSpPr/>
          <p:nvPr/>
        </p:nvSpPr>
        <p:spPr>
          <a:xfrm>
            <a:off x="9702999" y="6604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9087" y="47625"/>
                </a:moveTo>
                <a:lnTo>
                  <a:pt x="121047" y="47625"/>
                </a:lnTo>
                <a:cubicBezTo>
                  <a:pt x="124346" y="47625"/>
                  <a:pt x="127000" y="44971"/>
                  <a:pt x="127000" y="41672"/>
                </a:cubicBezTo>
                <a:lnTo>
                  <a:pt x="127000" y="5953"/>
                </a:lnTo>
                <a:cubicBezTo>
                  <a:pt x="127000" y="3547"/>
                  <a:pt x="125561" y="1364"/>
                  <a:pt x="123329" y="446"/>
                </a:cubicBezTo>
                <a:cubicBezTo>
                  <a:pt x="121096" y="-471"/>
                  <a:pt x="118542" y="50"/>
                  <a:pt x="116830" y="1736"/>
                </a:cubicBezTo>
                <a:lnTo>
                  <a:pt x="104006" y="14585"/>
                </a:lnTo>
                <a:cubicBezTo>
                  <a:pt x="93018" y="5482"/>
                  <a:pt x="78879" y="0"/>
                  <a:pt x="63500" y="0"/>
                </a:cubicBezTo>
                <a:cubicBezTo>
                  <a:pt x="31502" y="0"/>
                  <a:pt x="5035" y="23664"/>
                  <a:pt x="645" y="54446"/>
                </a:cubicBezTo>
                <a:cubicBezTo>
                  <a:pt x="25" y="58787"/>
                  <a:pt x="3026" y="62805"/>
                  <a:pt x="7367" y="63426"/>
                </a:cubicBezTo>
                <a:cubicBezTo>
                  <a:pt x="11708" y="64046"/>
                  <a:pt x="15726" y="61020"/>
                  <a:pt x="16346" y="56704"/>
                </a:cubicBezTo>
                <a:cubicBezTo>
                  <a:pt x="19645" y="33610"/>
                  <a:pt x="39514" y="15875"/>
                  <a:pt x="63500" y="15875"/>
                </a:cubicBezTo>
                <a:cubicBezTo>
                  <a:pt x="74513" y="15875"/>
                  <a:pt x="84634" y="19596"/>
                  <a:pt x="92695" y="25871"/>
                </a:cubicBezTo>
                <a:lnTo>
                  <a:pt x="81111" y="37455"/>
                </a:lnTo>
                <a:cubicBezTo>
                  <a:pt x="79400" y="39167"/>
                  <a:pt x="78904" y="41721"/>
                  <a:pt x="79821" y="43954"/>
                </a:cubicBezTo>
                <a:cubicBezTo>
                  <a:pt x="80739" y="46186"/>
                  <a:pt x="82922" y="47625"/>
                  <a:pt x="85328" y="47625"/>
                </a:cubicBezTo>
                <a:lnTo>
                  <a:pt x="119087" y="47625"/>
                </a:lnTo>
                <a:close/>
                <a:moveTo>
                  <a:pt x="126380" y="72554"/>
                </a:moveTo>
                <a:cubicBezTo>
                  <a:pt x="127000" y="68213"/>
                  <a:pt x="123974" y="64195"/>
                  <a:pt x="119658" y="63574"/>
                </a:cubicBezTo>
                <a:cubicBezTo>
                  <a:pt x="115342" y="62954"/>
                  <a:pt x="111299" y="65980"/>
                  <a:pt x="110679" y="70296"/>
                </a:cubicBezTo>
                <a:cubicBezTo>
                  <a:pt x="107379" y="93365"/>
                  <a:pt x="87511" y="111100"/>
                  <a:pt x="63525" y="111100"/>
                </a:cubicBezTo>
                <a:cubicBezTo>
                  <a:pt x="52512" y="111100"/>
                  <a:pt x="42391" y="107379"/>
                  <a:pt x="34330" y="101104"/>
                </a:cubicBezTo>
                <a:lnTo>
                  <a:pt x="45889" y="89545"/>
                </a:lnTo>
                <a:cubicBezTo>
                  <a:pt x="47600" y="87833"/>
                  <a:pt x="48096" y="85279"/>
                  <a:pt x="47179" y="83046"/>
                </a:cubicBezTo>
                <a:cubicBezTo>
                  <a:pt x="46261" y="80814"/>
                  <a:pt x="44078" y="79375"/>
                  <a:pt x="41672" y="79375"/>
                </a:cubicBezTo>
                <a:lnTo>
                  <a:pt x="5953" y="79375"/>
                </a:lnTo>
                <a:cubicBezTo>
                  <a:pt x="2654" y="79375"/>
                  <a:pt x="0" y="82029"/>
                  <a:pt x="0" y="85328"/>
                </a:cubicBezTo>
                <a:lnTo>
                  <a:pt x="0" y="121047"/>
                </a:lnTo>
                <a:cubicBezTo>
                  <a:pt x="0" y="123453"/>
                  <a:pt x="1439" y="125636"/>
                  <a:pt x="3671" y="126554"/>
                </a:cubicBezTo>
                <a:cubicBezTo>
                  <a:pt x="5904" y="127471"/>
                  <a:pt x="8458" y="126950"/>
                  <a:pt x="10170" y="125264"/>
                </a:cubicBezTo>
                <a:lnTo>
                  <a:pt x="23019" y="112415"/>
                </a:lnTo>
                <a:cubicBezTo>
                  <a:pt x="33982" y="121518"/>
                  <a:pt x="48121" y="127000"/>
                  <a:pt x="63500" y="127000"/>
                </a:cubicBezTo>
                <a:cubicBezTo>
                  <a:pt x="95498" y="127000"/>
                  <a:pt x="121965" y="103336"/>
                  <a:pt x="126355" y="7255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1" name="Text 68"/>
          <p:cNvSpPr/>
          <p:nvPr/>
        </p:nvSpPr>
        <p:spPr>
          <a:xfrm>
            <a:off x="8890000" y="6508750"/>
            <a:ext cx="2825750" cy="317500"/>
          </a:xfrm>
          <a:prstGeom prst="rect">
            <a:avLst/>
          </a:prstGeom>
          <a:noFill/>
          <a:ln/>
        </p:spPr>
        <p:txBody>
          <a:bodyPr wrap="square" lIns="0" tIns="63500" rIns="0" bIns="6350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Retrain Model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911" y="359911"/>
            <a:ext cx="1153516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spc="248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VALUE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911" y="611849"/>
            <a:ext cx="11688124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01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Benefits &amp; Business Impact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9911" y="1115725"/>
            <a:ext cx="1156215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Transforming banking operations with 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9911" y="1475637"/>
            <a:ext cx="719823" cy="35991"/>
          </a:xfrm>
          <a:custGeom>
            <a:avLst/>
            <a:gdLst/>
            <a:ahLst/>
            <a:cxnLst/>
            <a:rect l="l" t="t" r="r" b="b"/>
            <a:pathLst>
              <a:path w="719823" h="35991">
                <a:moveTo>
                  <a:pt x="0" y="0"/>
                </a:moveTo>
                <a:lnTo>
                  <a:pt x="719823" y="0"/>
                </a:lnTo>
                <a:lnTo>
                  <a:pt x="719823" y="35991"/>
                </a:lnTo>
                <a:lnTo>
                  <a:pt x="0" y="35991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6" name="Shape 4"/>
          <p:cNvSpPr/>
          <p:nvPr/>
        </p:nvSpPr>
        <p:spPr>
          <a:xfrm>
            <a:off x="377907" y="1727575"/>
            <a:ext cx="5605621" cy="2357420"/>
          </a:xfrm>
          <a:custGeom>
            <a:avLst/>
            <a:gdLst/>
            <a:ahLst/>
            <a:cxnLst/>
            <a:rect l="l" t="t" r="r" b="b"/>
            <a:pathLst>
              <a:path w="5605621" h="2357420">
                <a:moveTo>
                  <a:pt x="0" y="0"/>
                </a:moveTo>
                <a:lnTo>
                  <a:pt x="5605621" y="0"/>
                </a:lnTo>
                <a:lnTo>
                  <a:pt x="5605621" y="2357420"/>
                </a:lnTo>
                <a:lnTo>
                  <a:pt x="0" y="23574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7" name="Shape 5"/>
          <p:cNvSpPr/>
          <p:nvPr/>
        </p:nvSpPr>
        <p:spPr>
          <a:xfrm>
            <a:off x="377907" y="1727575"/>
            <a:ext cx="35991" cy="2357420"/>
          </a:xfrm>
          <a:custGeom>
            <a:avLst/>
            <a:gdLst/>
            <a:ahLst/>
            <a:cxnLst/>
            <a:rect l="l" t="t" r="r" b="b"/>
            <a:pathLst>
              <a:path w="35991" h="2357420">
                <a:moveTo>
                  <a:pt x="0" y="0"/>
                </a:moveTo>
                <a:lnTo>
                  <a:pt x="35991" y="0"/>
                </a:lnTo>
                <a:lnTo>
                  <a:pt x="35991" y="2357420"/>
                </a:lnTo>
                <a:lnTo>
                  <a:pt x="0" y="235742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8" name="Shape 6"/>
          <p:cNvSpPr/>
          <p:nvPr/>
        </p:nvSpPr>
        <p:spPr>
          <a:xfrm>
            <a:off x="611849" y="1943522"/>
            <a:ext cx="575858" cy="575858"/>
          </a:xfrm>
          <a:custGeom>
            <a:avLst/>
            <a:gdLst/>
            <a:ahLst/>
            <a:cxnLst/>
            <a:rect l="l" t="t" r="r" b="b"/>
            <a:pathLst>
              <a:path w="575858" h="575858">
                <a:moveTo>
                  <a:pt x="0" y="0"/>
                </a:moveTo>
                <a:lnTo>
                  <a:pt x="575858" y="0"/>
                </a:lnTo>
                <a:lnTo>
                  <a:pt x="57585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9" name="Shape 7"/>
          <p:cNvSpPr/>
          <p:nvPr/>
        </p:nvSpPr>
        <p:spPr>
          <a:xfrm>
            <a:off x="767061" y="2096484"/>
            <a:ext cx="269934" cy="269934"/>
          </a:xfrm>
          <a:custGeom>
            <a:avLst/>
            <a:gdLst/>
            <a:ahLst/>
            <a:cxnLst/>
            <a:rect l="l" t="t" r="r" b="b"/>
            <a:pathLst>
              <a:path w="269934" h="269934">
                <a:moveTo>
                  <a:pt x="134967" y="0"/>
                </a:moveTo>
                <a:cubicBezTo>
                  <a:pt x="209457" y="0"/>
                  <a:pt x="269934" y="60477"/>
                  <a:pt x="269934" y="134967"/>
                </a:cubicBezTo>
                <a:cubicBezTo>
                  <a:pt x="269934" y="209457"/>
                  <a:pt x="209457" y="269934"/>
                  <a:pt x="134967" y="269934"/>
                </a:cubicBezTo>
                <a:cubicBezTo>
                  <a:pt x="60477" y="269934"/>
                  <a:pt x="0" y="209457"/>
                  <a:pt x="0" y="134967"/>
                </a:cubicBezTo>
                <a:cubicBezTo>
                  <a:pt x="0" y="60477"/>
                  <a:pt x="60477" y="0"/>
                  <a:pt x="134967" y="0"/>
                </a:cubicBezTo>
                <a:close/>
                <a:moveTo>
                  <a:pt x="122314" y="63266"/>
                </a:moveTo>
                <a:lnTo>
                  <a:pt x="122314" y="134967"/>
                </a:lnTo>
                <a:cubicBezTo>
                  <a:pt x="122314" y="139185"/>
                  <a:pt x="124423" y="143139"/>
                  <a:pt x="127955" y="145511"/>
                </a:cubicBezTo>
                <a:lnTo>
                  <a:pt x="178567" y="179253"/>
                </a:lnTo>
                <a:cubicBezTo>
                  <a:pt x="184367" y="183154"/>
                  <a:pt x="192222" y="181573"/>
                  <a:pt x="196124" y="175720"/>
                </a:cubicBezTo>
                <a:cubicBezTo>
                  <a:pt x="200025" y="169868"/>
                  <a:pt x="198443" y="162066"/>
                  <a:pt x="192591" y="158164"/>
                </a:cubicBezTo>
                <a:lnTo>
                  <a:pt x="147620" y="128218"/>
                </a:lnTo>
                <a:lnTo>
                  <a:pt x="147620" y="63266"/>
                </a:lnTo>
                <a:cubicBezTo>
                  <a:pt x="147620" y="56254"/>
                  <a:pt x="141979" y="50613"/>
                  <a:pt x="134967" y="50613"/>
                </a:cubicBezTo>
                <a:cubicBezTo>
                  <a:pt x="127955" y="50613"/>
                  <a:pt x="122314" y="56254"/>
                  <a:pt x="122314" y="6326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Text 8"/>
          <p:cNvSpPr/>
          <p:nvPr/>
        </p:nvSpPr>
        <p:spPr>
          <a:xfrm>
            <a:off x="1331672" y="2069491"/>
            <a:ext cx="2222453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25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24/7 Availability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1849" y="2663345"/>
            <a:ext cx="5227714" cy="48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Round-the-clock customer support ensures users receive instant assistance anytime, eliminating wait times and improving satisfaction.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1849" y="3295439"/>
            <a:ext cx="1673588" cy="575858"/>
          </a:xfrm>
          <a:custGeom>
            <a:avLst/>
            <a:gdLst/>
            <a:ahLst/>
            <a:cxnLst/>
            <a:rect l="l" t="t" r="r" b="b"/>
            <a:pathLst>
              <a:path w="1673588" h="575858">
                <a:moveTo>
                  <a:pt x="0" y="0"/>
                </a:moveTo>
                <a:lnTo>
                  <a:pt x="1673588" y="0"/>
                </a:lnTo>
                <a:lnTo>
                  <a:pt x="167358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629845" y="3367421"/>
            <a:ext cx="163759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24/7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838" y="3655236"/>
            <a:ext cx="158361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55395" y="3295439"/>
            <a:ext cx="1673588" cy="575858"/>
          </a:xfrm>
          <a:custGeom>
            <a:avLst/>
            <a:gdLst/>
            <a:ahLst/>
            <a:cxnLst/>
            <a:rect l="l" t="t" r="r" b="b"/>
            <a:pathLst>
              <a:path w="1673588" h="575858">
                <a:moveTo>
                  <a:pt x="0" y="0"/>
                </a:moveTo>
                <a:lnTo>
                  <a:pt x="1673588" y="0"/>
                </a:lnTo>
                <a:lnTo>
                  <a:pt x="167358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Text 14"/>
          <p:cNvSpPr/>
          <p:nvPr/>
        </p:nvSpPr>
        <p:spPr>
          <a:xfrm>
            <a:off x="2373391" y="3367421"/>
            <a:ext cx="163759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00384" y="3655236"/>
            <a:ext cx="158361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Wait Time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98942" y="3295439"/>
            <a:ext cx="1673588" cy="575858"/>
          </a:xfrm>
          <a:custGeom>
            <a:avLst/>
            <a:gdLst/>
            <a:ahLst/>
            <a:cxnLst/>
            <a:rect l="l" t="t" r="r" b="b"/>
            <a:pathLst>
              <a:path w="1673588" h="575858">
                <a:moveTo>
                  <a:pt x="0" y="0"/>
                </a:moveTo>
                <a:lnTo>
                  <a:pt x="1673588" y="0"/>
                </a:lnTo>
                <a:lnTo>
                  <a:pt x="167358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4116937" y="3367421"/>
            <a:ext cx="163759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43930" y="3655236"/>
            <a:ext cx="158361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Uptime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20395" y="1727575"/>
            <a:ext cx="5605621" cy="2357420"/>
          </a:xfrm>
          <a:custGeom>
            <a:avLst/>
            <a:gdLst/>
            <a:ahLst/>
            <a:cxnLst/>
            <a:rect l="l" t="t" r="r" b="b"/>
            <a:pathLst>
              <a:path w="5605621" h="2357420">
                <a:moveTo>
                  <a:pt x="0" y="0"/>
                </a:moveTo>
                <a:lnTo>
                  <a:pt x="5605621" y="0"/>
                </a:lnTo>
                <a:lnTo>
                  <a:pt x="5605621" y="2357420"/>
                </a:lnTo>
                <a:lnTo>
                  <a:pt x="0" y="2357420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22" name="Shape 20"/>
          <p:cNvSpPr/>
          <p:nvPr/>
        </p:nvSpPr>
        <p:spPr>
          <a:xfrm>
            <a:off x="6220395" y="1727575"/>
            <a:ext cx="35991" cy="2357420"/>
          </a:xfrm>
          <a:custGeom>
            <a:avLst/>
            <a:gdLst/>
            <a:ahLst/>
            <a:cxnLst/>
            <a:rect l="l" t="t" r="r" b="b"/>
            <a:pathLst>
              <a:path w="35991" h="2357420">
                <a:moveTo>
                  <a:pt x="0" y="0"/>
                </a:moveTo>
                <a:lnTo>
                  <a:pt x="35991" y="0"/>
                </a:lnTo>
                <a:lnTo>
                  <a:pt x="35991" y="2357420"/>
                </a:lnTo>
                <a:lnTo>
                  <a:pt x="0" y="235742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3" name="Shape 21"/>
          <p:cNvSpPr/>
          <p:nvPr/>
        </p:nvSpPr>
        <p:spPr>
          <a:xfrm>
            <a:off x="6454337" y="1943522"/>
            <a:ext cx="575858" cy="575858"/>
          </a:xfrm>
          <a:custGeom>
            <a:avLst/>
            <a:gdLst/>
            <a:ahLst/>
            <a:cxnLst/>
            <a:rect l="l" t="t" r="r" b="b"/>
            <a:pathLst>
              <a:path w="575858" h="575858">
                <a:moveTo>
                  <a:pt x="0" y="0"/>
                </a:moveTo>
                <a:lnTo>
                  <a:pt x="575858" y="0"/>
                </a:lnTo>
                <a:lnTo>
                  <a:pt x="57585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4" name="Shape 22"/>
          <p:cNvSpPr/>
          <p:nvPr/>
        </p:nvSpPr>
        <p:spPr>
          <a:xfrm>
            <a:off x="6626420" y="2096484"/>
            <a:ext cx="236192" cy="269934"/>
          </a:xfrm>
          <a:custGeom>
            <a:avLst/>
            <a:gdLst/>
            <a:ahLst/>
            <a:cxnLst/>
            <a:rect l="l" t="t" r="r" b="b"/>
            <a:pathLst>
              <a:path w="236192" h="269934">
                <a:moveTo>
                  <a:pt x="178620" y="-5219"/>
                </a:moveTo>
                <a:cubicBezTo>
                  <a:pt x="184894" y="-685"/>
                  <a:pt x="187214" y="7539"/>
                  <a:pt x="184367" y="14709"/>
                </a:cubicBezTo>
                <a:lnTo>
                  <a:pt x="143033" y="118096"/>
                </a:lnTo>
                <a:lnTo>
                  <a:pt x="219321" y="118096"/>
                </a:lnTo>
                <a:cubicBezTo>
                  <a:pt x="226438" y="118096"/>
                  <a:pt x="232765" y="122525"/>
                  <a:pt x="235190" y="129220"/>
                </a:cubicBezTo>
                <a:cubicBezTo>
                  <a:pt x="237615" y="135916"/>
                  <a:pt x="235559" y="143402"/>
                  <a:pt x="230129" y="147936"/>
                </a:cubicBezTo>
                <a:lnTo>
                  <a:pt x="78291" y="274468"/>
                </a:lnTo>
                <a:cubicBezTo>
                  <a:pt x="72334" y="279423"/>
                  <a:pt x="63846" y="279687"/>
                  <a:pt x="57572" y="275153"/>
                </a:cubicBezTo>
                <a:cubicBezTo>
                  <a:pt x="51298" y="270619"/>
                  <a:pt x="48978" y="262394"/>
                  <a:pt x="51825" y="255224"/>
                </a:cubicBezTo>
                <a:lnTo>
                  <a:pt x="93159" y="151838"/>
                </a:lnTo>
                <a:lnTo>
                  <a:pt x="16871" y="151838"/>
                </a:lnTo>
                <a:cubicBezTo>
                  <a:pt x="9753" y="151838"/>
                  <a:pt x="3427" y="147409"/>
                  <a:pt x="1002" y="140713"/>
                </a:cubicBezTo>
                <a:cubicBezTo>
                  <a:pt x="-1423" y="134018"/>
                  <a:pt x="633" y="126531"/>
                  <a:pt x="6063" y="121997"/>
                </a:cubicBezTo>
                <a:lnTo>
                  <a:pt x="157901" y="-4534"/>
                </a:lnTo>
                <a:cubicBezTo>
                  <a:pt x="163858" y="-9490"/>
                  <a:pt x="172346" y="-9753"/>
                  <a:pt x="178620" y="-521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3"/>
          <p:cNvSpPr/>
          <p:nvPr/>
        </p:nvSpPr>
        <p:spPr>
          <a:xfrm>
            <a:off x="7174160" y="2069491"/>
            <a:ext cx="2177464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25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Faster Response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54337" y="2663345"/>
            <a:ext cx="5227714" cy="48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Instant query resolution delivers immediate answers, drastically reducing response times from minutes to seconds for enhanced user experience.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54337" y="3295439"/>
            <a:ext cx="1673588" cy="575858"/>
          </a:xfrm>
          <a:custGeom>
            <a:avLst/>
            <a:gdLst/>
            <a:ahLst/>
            <a:cxnLst/>
            <a:rect l="l" t="t" r="r" b="b"/>
            <a:pathLst>
              <a:path w="1673588" h="575858">
                <a:moveTo>
                  <a:pt x="0" y="0"/>
                </a:moveTo>
                <a:lnTo>
                  <a:pt x="1673588" y="0"/>
                </a:lnTo>
                <a:lnTo>
                  <a:pt x="167358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6472333" y="3367421"/>
            <a:ext cx="163759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&lt;3s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99326" y="3655236"/>
            <a:ext cx="158361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97883" y="3295439"/>
            <a:ext cx="1673588" cy="575858"/>
          </a:xfrm>
          <a:custGeom>
            <a:avLst/>
            <a:gdLst/>
            <a:ahLst/>
            <a:cxnLst/>
            <a:rect l="l" t="t" r="r" b="b"/>
            <a:pathLst>
              <a:path w="1673588" h="575858">
                <a:moveTo>
                  <a:pt x="0" y="0"/>
                </a:moveTo>
                <a:lnTo>
                  <a:pt x="1673588" y="0"/>
                </a:lnTo>
                <a:lnTo>
                  <a:pt x="167358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Text 29"/>
          <p:cNvSpPr/>
          <p:nvPr/>
        </p:nvSpPr>
        <p:spPr>
          <a:xfrm>
            <a:off x="8215879" y="3367421"/>
            <a:ext cx="163759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95%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42872" y="3655236"/>
            <a:ext cx="158361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941429" y="3295439"/>
            <a:ext cx="1673588" cy="575858"/>
          </a:xfrm>
          <a:custGeom>
            <a:avLst/>
            <a:gdLst/>
            <a:ahLst/>
            <a:cxnLst/>
            <a:rect l="l" t="t" r="r" b="b"/>
            <a:pathLst>
              <a:path w="1673588" h="575858">
                <a:moveTo>
                  <a:pt x="0" y="0"/>
                </a:moveTo>
                <a:lnTo>
                  <a:pt x="1673588" y="0"/>
                </a:lnTo>
                <a:lnTo>
                  <a:pt x="167358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Text 32"/>
          <p:cNvSpPr/>
          <p:nvPr/>
        </p:nvSpPr>
        <p:spPr>
          <a:xfrm>
            <a:off x="9959424" y="3367421"/>
            <a:ext cx="163759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10x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86418" y="3655236"/>
            <a:ext cx="158361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77907" y="4302963"/>
            <a:ext cx="5605621" cy="2591362"/>
          </a:xfrm>
          <a:custGeom>
            <a:avLst/>
            <a:gdLst/>
            <a:ahLst/>
            <a:cxnLst/>
            <a:rect l="l" t="t" r="r" b="b"/>
            <a:pathLst>
              <a:path w="5605621" h="2591362">
                <a:moveTo>
                  <a:pt x="0" y="0"/>
                </a:moveTo>
                <a:lnTo>
                  <a:pt x="5605621" y="0"/>
                </a:lnTo>
                <a:lnTo>
                  <a:pt x="5605621" y="2591362"/>
                </a:lnTo>
                <a:lnTo>
                  <a:pt x="0" y="2591362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37" name="Shape 35"/>
          <p:cNvSpPr/>
          <p:nvPr/>
        </p:nvSpPr>
        <p:spPr>
          <a:xfrm>
            <a:off x="377907" y="4302963"/>
            <a:ext cx="35991" cy="2591362"/>
          </a:xfrm>
          <a:custGeom>
            <a:avLst/>
            <a:gdLst/>
            <a:ahLst/>
            <a:cxnLst/>
            <a:rect l="l" t="t" r="r" b="b"/>
            <a:pathLst>
              <a:path w="35991" h="2591362">
                <a:moveTo>
                  <a:pt x="0" y="0"/>
                </a:moveTo>
                <a:lnTo>
                  <a:pt x="35991" y="0"/>
                </a:lnTo>
                <a:lnTo>
                  <a:pt x="35991" y="2591362"/>
                </a:lnTo>
                <a:lnTo>
                  <a:pt x="0" y="2591362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8" name="Shape 36"/>
          <p:cNvSpPr/>
          <p:nvPr/>
        </p:nvSpPr>
        <p:spPr>
          <a:xfrm>
            <a:off x="611849" y="4518910"/>
            <a:ext cx="575858" cy="575858"/>
          </a:xfrm>
          <a:custGeom>
            <a:avLst/>
            <a:gdLst/>
            <a:ahLst/>
            <a:cxnLst/>
            <a:rect l="l" t="t" r="r" b="b"/>
            <a:pathLst>
              <a:path w="575858" h="575858">
                <a:moveTo>
                  <a:pt x="0" y="0"/>
                </a:moveTo>
                <a:lnTo>
                  <a:pt x="575858" y="0"/>
                </a:lnTo>
                <a:lnTo>
                  <a:pt x="57585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39" name="Shape 37"/>
          <p:cNvSpPr/>
          <p:nvPr/>
        </p:nvSpPr>
        <p:spPr>
          <a:xfrm>
            <a:off x="817674" y="4671872"/>
            <a:ext cx="168708" cy="269934"/>
          </a:xfrm>
          <a:custGeom>
            <a:avLst/>
            <a:gdLst/>
            <a:ahLst/>
            <a:cxnLst/>
            <a:rect l="l" t="t" r="r" b="b"/>
            <a:pathLst>
              <a:path w="168708" h="269934">
                <a:moveTo>
                  <a:pt x="71701" y="12653"/>
                </a:moveTo>
                <a:cubicBezTo>
                  <a:pt x="71701" y="5641"/>
                  <a:pt x="77342" y="0"/>
                  <a:pt x="84354" y="0"/>
                </a:cubicBezTo>
                <a:cubicBezTo>
                  <a:pt x="91366" y="0"/>
                  <a:pt x="97007" y="5641"/>
                  <a:pt x="97007" y="12653"/>
                </a:cubicBezTo>
                <a:lnTo>
                  <a:pt x="97007" y="33742"/>
                </a:lnTo>
                <a:lnTo>
                  <a:pt x="126531" y="33742"/>
                </a:lnTo>
                <a:cubicBezTo>
                  <a:pt x="135863" y="33742"/>
                  <a:pt x="143402" y="41281"/>
                  <a:pt x="143402" y="50613"/>
                </a:cubicBezTo>
                <a:cubicBezTo>
                  <a:pt x="143402" y="59944"/>
                  <a:pt x="135863" y="67483"/>
                  <a:pt x="126531" y="67483"/>
                </a:cubicBezTo>
                <a:lnTo>
                  <a:pt x="65954" y="67483"/>
                </a:lnTo>
                <a:cubicBezTo>
                  <a:pt x="52827" y="67483"/>
                  <a:pt x="42177" y="78133"/>
                  <a:pt x="42177" y="91261"/>
                </a:cubicBezTo>
                <a:cubicBezTo>
                  <a:pt x="42177" y="103123"/>
                  <a:pt x="50876" y="113140"/>
                  <a:pt x="62580" y="114827"/>
                </a:cubicBezTo>
                <a:lnTo>
                  <a:pt x="110873" y="121734"/>
                </a:lnTo>
                <a:cubicBezTo>
                  <a:pt x="139237" y="125793"/>
                  <a:pt x="160273" y="150045"/>
                  <a:pt x="160273" y="178673"/>
                </a:cubicBezTo>
                <a:cubicBezTo>
                  <a:pt x="160273" y="210464"/>
                  <a:pt x="134492" y="236192"/>
                  <a:pt x="102754" y="236192"/>
                </a:cubicBezTo>
                <a:lnTo>
                  <a:pt x="97007" y="236192"/>
                </a:lnTo>
                <a:lnTo>
                  <a:pt x="97007" y="257280"/>
                </a:lnTo>
                <a:cubicBezTo>
                  <a:pt x="97007" y="264292"/>
                  <a:pt x="91366" y="269934"/>
                  <a:pt x="84354" y="269934"/>
                </a:cubicBezTo>
                <a:cubicBezTo>
                  <a:pt x="77342" y="269934"/>
                  <a:pt x="71701" y="264292"/>
                  <a:pt x="71701" y="257280"/>
                </a:cubicBezTo>
                <a:lnTo>
                  <a:pt x="71701" y="236192"/>
                </a:lnTo>
                <a:lnTo>
                  <a:pt x="33742" y="236192"/>
                </a:lnTo>
                <a:cubicBezTo>
                  <a:pt x="24410" y="236192"/>
                  <a:pt x="16871" y="228653"/>
                  <a:pt x="16871" y="219321"/>
                </a:cubicBezTo>
                <a:cubicBezTo>
                  <a:pt x="16871" y="209989"/>
                  <a:pt x="24410" y="202450"/>
                  <a:pt x="33742" y="202450"/>
                </a:cubicBezTo>
                <a:lnTo>
                  <a:pt x="102754" y="202450"/>
                </a:lnTo>
                <a:cubicBezTo>
                  <a:pt x="115882" y="202450"/>
                  <a:pt x="126531" y="191800"/>
                  <a:pt x="126531" y="178673"/>
                </a:cubicBezTo>
                <a:cubicBezTo>
                  <a:pt x="126531" y="166811"/>
                  <a:pt x="117832" y="156793"/>
                  <a:pt x="106128" y="155106"/>
                </a:cubicBezTo>
                <a:lnTo>
                  <a:pt x="57835" y="148200"/>
                </a:lnTo>
                <a:cubicBezTo>
                  <a:pt x="29471" y="144193"/>
                  <a:pt x="8435" y="119888"/>
                  <a:pt x="8435" y="91261"/>
                </a:cubicBezTo>
                <a:cubicBezTo>
                  <a:pt x="8435" y="59522"/>
                  <a:pt x="34216" y="33742"/>
                  <a:pt x="65954" y="33742"/>
                </a:cubicBezTo>
                <a:lnTo>
                  <a:pt x="71701" y="33742"/>
                </a:lnTo>
                <a:lnTo>
                  <a:pt x="71701" y="1265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Text 38"/>
          <p:cNvSpPr/>
          <p:nvPr/>
        </p:nvSpPr>
        <p:spPr>
          <a:xfrm>
            <a:off x="1331672" y="4644879"/>
            <a:ext cx="1862542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25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Reduced Cost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1849" y="5238732"/>
            <a:ext cx="5227714" cy="71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Automation reduces operational expenses by minimizing human agent dependency, allowing staff to focus on complex, high-value customer interactions.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1849" y="6104769"/>
            <a:ext cx="1673588" cy="575858"/>
          </a:xfrm>
          <a:custGeom>
            <a:avLst/>
            <a:gdLst/>
            <a:ahLst/>
            <a:cxnLst/>
            <a:rect l="l" t="t" r="r" b="b"/>
            <a:pathLst>
              <a:path w="1673588" h="575858">
                <a:moveTo>
                  <a:pt x="0" y="0"/>
                </a:moveTo>
                <a:lnTo>
                  <a:pt x="1673588" y="0"/>
                </a:lnTo>
                <a:lnTo>
                  <a:pt x="167358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3" name="Text 41"/>
          <p:cNvSpPr/>
          <p:nvPr/>
        </p:nvSpPr>
        <p:spPr>
          <a:xfrm>
            <a:off x="629845" y="6176752"/>
            <a:ext cx="163759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6838" y="6464575"/>
            <a:ext cx="158361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 Saving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355395" y="6104769"/>
            <a:ext cx="1673588" cy="575858"/>
          </a:xfrm>
          <a:custGeom>
            <a:avLst/>
            <a:gdLst/>
            <a:ahLst/>
            <a:cxnLst/>
            <a:rect l="l" t="t" r="r" b="b"/>
            <a:pathLst>
              <a:path w="1673588" h="575858">
                <a:moveTo>
                  <a:pt x="0" y="0"/>
                </a:moveTo>
                <a:lnTo>
                  <a:pt x="1673588" y="0"/>
                </a:lnTo>
                <a:lnTo>
                  <a:pt x="167358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6" name="Text 44"/>
          <p:cNvSpPr/>
          <p:nvPr/>
        </p:nvSpPr>
        <p:spPr>
          <a:xfrm>
            <a:off x="2373391" y="6176752"/>
            <a:ext cx="163759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40%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400384" y="6464575"/>
            <a:ext cx="158361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Less Staff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098942" y="6104769"/>
            <a:ext cx="1673588" cy="575858"/>
          </a:xfrm>
          <a:custGeom>
            <a:avLst/>
            <a:gdLst/>
            <a:ahLst/>
            <a:cxnLst/>
            <a:rect l="l" t="t" r="r" b="b"/>
            <a:pathLst>
              <a:path w="1673588" h="575858">
                <a:moveTo>
                  <a:pt x="0" y="0"/>
                </a:moveTo>
                <a:lnTo>
                  <a:pt x="1673588" y="0"/>
                </a:lnTo>
                <a:lnTo>
                  <a:pt x="167358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Text 47"/>
          <p:cNvSpPr/>
          <p:nvPr/>
        </p:nvSpPr>
        <p:spPr>
          <a:xfrm>
            <a:off x="4116937" y="6176752"/>
            <a:ext cx="163759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ROI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143930" y="6464575"/>
            <a:ext cx="158361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300%+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20395" y="4302963"/>
            <a:ext cx="5605621" cy="2591362"/>
          </a:xfrm>
          <a:custGeom>
            <a:avLst/>
            <a:gdLst/>
            <a:ahLst/>
            <a:cxnLst/>
            <a:rect l="l" t="t" r="r" b="b"/>
            <a:pathLst>
              <a:path w="5605621" h="2591362">
                <a:moveTo>
                  <a:pt x="0" y="0"/>
                </a:moveTo>
                <a:lnTo>
                  <a:pt x="5605621" y="0"/>
                </a:lnTo>
                <a:lnTo>
                  <a:pt x="5605621" y="2591362"/>
                </a:lnTo>
                <a:lnTo>
                  <a:pt x="0" y="2591362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52" name="Shape 50"/>
          <p:cNvSpPr/>
          <p:nvPr/>
        </p:nvSpPr>
        <p:spPr>
          <a:xfrm>
            <a:off x="6220395" y="4302963"/>
            <a:ext cx="35991" cy="2591362"/>
          </a:xfrm>
          <a:custGeom>
            <a:avLst/>
            <a:gdLst/>
            <a:ahLst/>
            <a:cxnLst/>
            <a:rect l="l" t="t" r="r" b="b"/>
            <a:pathLst>
              <a:path w="35991" h="2591362">
                <a:moveTo>
                  <a:pt x="0" y="0"/>
                </a:moveTo>
                <a:lnTo>
                  <a:pt x="35991" y="0"/>
                </a:lnTo>
                <a:lnTo>
                  <a:pt x="35991" y="2591362"/>
                </a:lnTo>
                <a:lnTo>
                  <a:pt x="0" y="259136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3" name="Shape 51"/>
          <p:cNvSpPr/>
          <p:nvPr/>
        </p:nvSpPr>
        <p:spPr>
          <a:xfrm>
            <a:off x="6454337" y="4518910"/>
            <a:ext cx="575858" cy="575858"/>
          </a:xfrm>
          <a:custGeom>
            <a:avLst/>
            <a:gdLst/>
            <a:ahLst/>
            <a:cxnLst/>
            <a:rect l="l" t="t" r="r" b="b"/>
            <a:pathLst>
              <a:path w="575858" h="575858">
                <a:moveTo>
                  <a:pt x="0" y="0"/>
                </a:moveTo>
                <a:lnTo>
                  <a:pt x="575858" y="0"/>
                </a:lnTo>
                <a:lnTo>
                  <a:pt x="57585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54" name="Shape 52"/>
          <p:cNvSpPr/>
          <p:nvPr/>
        </p:nvSpPr>
        <p:spPr>
          <a:xfrm>
            <a:off x="6626420" y="4671872"/>
            <a:ext cx="236192" cy="269934"/>
          </a:xfrm>
          <a:custGeom>
            <a:avLst/>
            <a:gdLst/>
            <a:ahLst/>
            <a:cxnLst/>
            <a:rect l="l" t="t" r="r" b="b"/>
            <a:pathLst>
              <a:path w="236192" h="269934">
                <a:moveTo>
                  <a:pt x="88572" y="16871"/>
                </a:moveTo>
                <a:lnTo>
                  <a:pt x="12653" y="16871"/>
                </a:lnTo>
                <a:cubicBezTo>
                  <a:pt x="5641" y="16871"/>
                  <a:pt x="0" y="22512"/>
                  <a:pt x="0" y="29524"/>
                </a:cubicBezTo>
                <a:lnTo>
                  <a:pt x="0" y="105443"/>
                </a:lnTo>
                <a:cubicBezTo>
                  <a:pt x="0" y="110557"/>
                  <a:pt x="3058" y="115196"/>
                  <a:pt x="7803" y="117147"/>
                </a:cubicBezTo>
                <a:cubicBezTo>
                  <a:pt x="12548" y="119098"/>
                  <a:pt x="17978" y="117990"/>
                  <a:pt x="21616" y="114405"/>
                </a:cubicBezTo>
                <a:lnTo>
                  <a:pt x="42704" y="93317"/>
                </a:lnTo>
                <a:lnTo>
                  <a:pt x="84354" y="134967"/>
                </a:lnTo>
                <a:lnTo>
                  <a:pt x="42704" y="176617"/>
                </a:lnTo>
                <a:lnTo>
                  <a:pt x="21616" y="155528"/>
                </a:lnTo>
                <a:cubicBezTo>
                  <a:pt x="17978" y="151890"/>
                  <a:pt x="12548" y="150836"/>
                  <a:pt x="7803" y="152787"/>
                </a:cubicBezTo>
                <a:cubicBezTo>
                  <a:pt x="3058" y="154737"/>
                  <a:pt x="0" y="159377"/>
                  <a:pt x="0" y="164491"/>
                </a:cubicBezTo>
                <a:lnTo>
                  <a:pt x="0" y="240410"/>
                </a:lnTo>
                <a:cubicBezTo>
                  <a:pt x="0" y="247422"/>
                  <a:pt x="5641" y="253063"/>
                  <a:pt x="12653" y="253063"/>
                </a:cubicBezTo>
                <a:lnTo>
                  <a:pt x="88572" y="253063"/>
                </a:lnTo>
                <a:cubicBezTo>
                  <a:pt x="93686" y="253063"/>
                  <a:pt x="98325" y="250005"/>
                  <a:pt x="100276" y="245260"/>
                </a:cubicBezTo>
                <a:cubicBezTo>
                  <a:pt x="102227" y="240515"/>
                  <a:pt x="101172" y="235085"/>
                  <a:pt x="97535" y="231447"/>
                </a:cubicBezTo>
                <a:lnTo>
                  <a:pt x="76446" y="210358"/>
                </a:lnTo>
                <a:lnTo>
                  <a:pt x="118096" y="168708"/>
                </a:lnTo>
                <a:lnTo>
                  <a:pt x="159746" y="210358"/>
                </a:lnTo>
                <a:lnTo>
                  <a:pt x="138657" y="231447"/>
                </a:lnTo>
                <a:cubicBezTo>
                  <a:pt x="135020" y="235085"/>
                  <a:pt x="133965" y="240515"/>
                  <a:pt x="135916" y="245260"/>
                </a:cubicBezTo>
                <a:cubicBezTo>
                  <a:pt x="137866" y="250005"/>
                  <a:pt x="142506" y="253063"/>
                  <a:pt x="147620" y="253063"/>
                </a:cubicBezTo>
                <a:lnTo>
                  <a:pt x="223539" y="253063"/>
                </a:lnTo>
                <a:cubicBezTo>
                  <a:pt x="230551" y="253063"/>
                  <a:pt x="236192" y="247422"/>
                  <a:pt x="236192" y="240410"/>
                </a:cubicBezTo>
                <a:lnTo>
                  <a:pt x="236192" y="164491"/>
                </a:lnTo>
                <a:cubicBezTo>
                  <a:pt x="236192" y="159377"/>
                  <a:pt x="233134" y="154737"/>
                  <a:pt x="228389" y="152787"/>
                </a:cubicBezTo>
                <a:cubicBezTo>
                  <a:pt x="223644" y="150836"/>
                  <a:pt x="218214" y="151890"/>
                  <a:pt x="214576" y="155528"/>
                </a:cubicBezTo>
                <a:lnTo>
                  <a:pt x="193488" y="176617"/>
                </a:lnTo>
                <a:lnTo>
                  <a:pt x="151838" y="134967"/>
                </a:lnTo>
                <a:lnTo>
                  <a:pt x="193488" y="93317"/>
                </a:lnTo>
                <a:lnTo>
                  <a:pt x="214576" y="114405"/>
                </a:lnTo>
                <a:cubicBezTo>
                  <a:pt x="218214" y="118043"/>
                  <a:pt x="223644" y="119098"/>
                  <a:pt x="228389" y="117147"/>
                </a:cubicBezTo>
                <a:cubicBezTo>
                  <a:pt x="233134" y="115196"/>
                  <a:pt x="236192" y="110557"/>
                  <a:pt x="236192" y="105443"/>
                </a:cubicBezTo>
                <a:lnTo>
                  <a:pt x="236192" y="29524"/>
                </a:lnTo>
                <a:cubicBezTo>
                  <a:pt x="236192" y="22512"/>
                  <a:pt x="230551" y="16871"/>
                  <a:pt x="223539" y="16871"/>
                </a:cubicBezTo>
                <a:lnTo>
                  <a:pt x="147620" y="16871"/>
                </a:lnTo>
                <a:cubicBezTo>
                  <a:pt x="142506" y="16871"/>
                  <a:pt x="137866" y="19929"/>
                  <a:pt x="135916" y="24674"/>
                </a:cubicBezTo>
                <a:cubicBezTo>
                  <a:pt x="133965" y="29419"/>
                  <a:pt x="135072" y="34849"/>
                  <a:pt x="138657" y="38487"/>
                </a:cubicBezTo>
                <a:lnTo>
                  <a:pt x="159746" y="59575"/>
                </a:lnTo>
                <a:lnTo>
                  <a:pt x="118096" y="101225"/>
                </a:lnTo>
                <a:lnTo>
                  <a:pt x="76446" y="59575"/>
                </a:lnTo>
                <a:lnTo>
                  <a:pt x="97535" y="38487"/>
                </a:lnTo>
                <a:cubicBezTo>
                  <a:pt x="101172" y="34849"/>
                  <a:pt x="102227" y="29419"/>
                  <a:pt x="100276" y="24674"/>
                </a:cubicBezTo>
                <a:cubicBezTo>
                  <a:pt x="98325" y="19929"/>
                  <a:pt x="93686" y="16871"/>
                  <a:pt x="88572" y="1687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5" name="Text 53"/>
          <p:cNvSpPr/>
          <p:nvPr/>
        </p:nvSpPr>
        <p:spPr>
          <a:xfrm>
            <a:off x="7174160" y="4644879"/>
            <a:ext cx="2312431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25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Scalable Solution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54337" y="5238732"/>
            <a:ext cx="5227714" cy="71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Modular architecture enables seamless scaling to handle increasing user loads and expand banking services without performance degradation.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54337" y="6104769"/>
            <a:ext cx="1673588" cy="575858"/>
          </a:xfrm>
          <a:custGeom>
            <a:avLst/>
            <a:gdLst/>
            <a:ahLst/>
            <a:cxnLst/>
            <a:rect l="l" t="t" r="r" b="b"/>
            <a:pathLst>
              <a:path w="1673588" h="575858">
                <a:moveTo>
                  <a:pt x="0" y="0"/>
                </a:moveTo>
                <a:lnTo>
                  <a:pt x="1673588" y="0"/>
                </a:lnTo>
                <a:lnTo>
                  <a:pt x="167358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8" name="Text 56"/>
          <p:cNvSpPr/>
          <p:nvPr/>
        </p:nvSpPr>
        <p:spPr>
          <a:xfrm>
            <a:off x="6472333" y="6176752"/>
            <a:ext cx="163759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1000+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99326" y="6464575"/>
            <a:ext cx="158361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197883" y="6104769"/>
            <a:ext cx="1673588" cy="575858"/>
          </a:xfrm>
          <a:custGeom>
            <a:avLst/>
            <a:gdLst/>
            <a:ahLst/>
            <a:cxnLst/>
            <a:rect l="l" t="t" r="r" b="b"/>
            <a:pathLst>
              <a:path w="1673588" h="575858">
                <a:moveTo>
                  <a:pt x="0" y="0"/>
                </a:moveTo>
                <a:lnTo>
                  <a:pt x="1673588" y="0"/>
                </a:lnTo>
                <a:lnTo>
                  <a:pt x="167358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1" name="Text 59"/>
          <p:cNvSpPr/>
          <p:nvPr/>
        </p:nvSpPr>
        <p:spPr>
          <a:xfrm>
            <a:off x="8215879" y="6176752"/>
            <a:ext cx="163759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∞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242872" y="6464575"/>
            <a:ext cx="158361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941429" y="6104769"/>
            <a:ext cx="1673588" cy="575858"/>
          </a:xfrm>
          <a:custGeom>
            <a:avLst/>
            <a:gdLst/>
            <a:ahLst/>
            <a:cxnLst/>
            <a:rect l="l" t="t" r="r" b="b"/>
            <a:pathLst>
              <a:path w="1673588" h="575858">
                <a:moveTo>
                  <a:pt x="0" y="0"/>
                </a:moveTo>
                <a:lnTo>
                  <a:pt x="1673588" y="0"/>
                </a:lnTo>
                <a:lnTo>
                  <a:pt x="1673588" y="575858"/>
                </a:lnTo>
                <a:lnTo>
                  <a:pt x="0" y="5758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4" name="Text 62"/>
          <p:cNvSpPr/>
          <p:nvPr/>
        </p:nvSpPr>
        <p:spPr>
          <a:xfrm>
            <a:off x="9959424" y="6176752"/>
            <a:ext cx="163759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99.9%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986418" y="6464575"/>
            <a:ext cx="1583610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Uptime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701" y="373701"/>
            <a:ext cx="1150999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spc="257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SEGMENTS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3701" y="635292"/>
            <a:ext cx="11668818" cy="448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31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Target Audience &amp; Use Cases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3701" y="1158474"/>
            <a:ext cx="11538023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Serving diverse user segments with tailored experiences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3701" y="1532175"/>
            <a:ext cx="747402" cy="37370"/>
          </a:xfrm>
          <a:custGeom>
            <a:avLst/>
            <a:gdLst/>
            <a:ahLst/>
            <a:cxnLst/>
            <a:rect l="l" t="t" r="r" b="b"/>
            <a:pathLst>
              <a:path w="747402" h="37370">
                <a:moveTo>
                  <a:pt x="0" y="0"/>
                </a:moveTo>
                <a:lnTo>
                  <a:pt x="747402" y="0"/>
                </a:lnTo>
                <a:lnTo>
                  <a:pt x="747402" y="37370"/>
                </a:lnTo>
                <a:lnTo>
                  <a:pt x="0" y="37370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6" name="Shape 4"/>
          <p:cNvSpPr/>
          <p:nvPr/>
        </p:nvSpPr>
        <p:spPr>
          <a:xfrm>
            <a:off x="392386" y="1793766"/>
            <a:ext cx="3643586" cy="5063651"/>
          </a:xfrm>
          <a:custGeom>
            <a:avLst/>
            <a:gdLst/>
            <a:ahLst/>
            <a:cxnLst/>
            <a:rect l="l" t="t" r="r" b="b"/>
            <a:pathLst>
              <a:path w="3643586" h="5063651">
                <a:moveTo>
                  <a:pt x="0" y="0"/>
                </a:moveTo>
                <a:lnTo>
                  <a:pt x="3643586" y="0"/>
                </a:lnTo>
                <a:lnTo>
                  <a:pt x="3643586" y="5063651"/>
                </a:lnTo>
                <a:lnTo>
                  <a:pt x="0" y="5063651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7" name="Shape 5"/>
          <p:cNvSpPr/>
          <p:nvPr/>
        </p:nvSpPr>
        <p:spPr>
          <a:xfrm>
            <a:off x="392386" y="1793766"/>
            <a:ext cx="37370" cy="5063651"/>
          </a:xfrm>
          <a:custGeom>
            <a:avLst/>
            <a:gdLst/>
            <a:ahLst/>
            <a:cxnLst/>
            <a:rect l="l" t="t" r="r" b="b"/>
            <a:pathLst>
              <a:path w="37370" h="5063651">
                <a:moveTo>
                  <a:pt x="0" y="0"/>
                </a:moveTo>
                <a:lnTo>
                  <a:pt x="37370" y="0"/>
                </a:lnTo>
                <a:lnTo>
                  <a:pt x="37370" y="5063651"/>
                </a:lnTo>
                <a:lnTo>
                  <a:pt x="0" y="5063651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pic>
        <p:nvPicPr>
          <p:cNvPr id="8" name="Image 0" descr="https://kimi-web-img.moonshot.cn/img/cdn.dribbble.com/c3c4a95ad98b8a2e64385c365c11afafd813dc78.png">    </p:cNvPr>
          <p:cNvPicPr>
            <a:picLocks noChangeAspect="1"/>
          </p:cNvPicPr>
          <p:nvPr/>
        </p:nvPicPr>
        <p:blipFill>
          <a:blip r:embed="rId1"/>
          <a:srcRect l="0" r="0" t="24902" b="24902"/>
          <a:stretch/>
        </p:blipFill>
        <p:spPr>
          <a:xfrm>
            <a:off x="635292" y="2017986"/>
            <a:ext cx="3176460" cy="1195844"/>
          </a:xfrm>
          <a:prstGeom prst="roundRect">
            <a:avLst>
              <a:gd name="adj" fmla="val 3125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635292" y="2017986"/>
            <a:ext cx="3176460" cy="1195844"/>
          </a:xfrm>
          <a:custGeom>
            <a:avLst/>
            <a:gdLst/>
            <a:ahLst/>
            <a:cxnLst/>
            <a:rect l="l" t="t" r="r" b="b"/>
            <a:pathLst>
              <a:path w="3176460" h="1195844">
                <a:moveTo>
                  <a:pt x="37370" y="0"/>
                </a:moveTo>
                <a:lnTo>
                  <a:pt x="3139090" y="0"/>
                </a:lnTo>
                <a:cubicBezTo>
                  <a:pt x="3159729" y="0"/>
                  <a:pt x="3176460" y="16731"/>
                  <a:pt x="3176460" y="37370"/>
                </a:cubicBezTo>
                <a:lnTo>
                  <a:pt x="3176460" y="1158474"/>
                </a:lnTo>
                <a:cubicBezTo>
                  <a:pt x="3176460" y="1179113"/>
                  <a:pt x="3159729" y="1195844"/>
                  <a:pt x="3139090" y="1195844"/>
                </a:cubicBezTo>
                <a:lnTo>
                  <a:pt x="37370" y="1195844"/>
                </a:lnTo>
                <a:cubicBezTo>
                  <a:pt x="16731" y="1195844"/>
                  <a:pt x="0" y="1179113"/>
                  <a:pt x="0" y="115847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10" name="Shape 7"/>
          <p:cNvSpPr/>
          <p:nvPr/>
        </p:nvSpPr>
        <p:spPr>
          <a:xfrm>
            <a:off x="747402" y="2877499"/>
            <a:ext cx="1616257" cy="261591"/>
          </a:xfrm>
          <a:custGeom>
            <a:avLst/>
            <a:gdLst/>
            <a:ahLst/>
            <a:cxnLst/>
            <a:rect l="l" t="t" r="r" b="b"/>
            <a:pathLst>
              <a:path w="1616257" h="261591">
                <a:moveTo>
                  <a:pt x="0" y="0"/>
                </a:moveTo>
                <a:lnTo>
                  <a:pt x="1616257" y="0"/>
                </a:lnTo>
                <a:lnTo>
                  <a:pt x="1616257" y="261591"/>
                </a:lnTo>
                <a:lnTo>
                  <a:pt x="0" y="261591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1" name="Text 8"/>
          <p:cNvSpPr/>
          <p:nvPr/>
        </p:nvSpPr>
        <p:spPr>
          <a:xfrm>
            <a:off x="859513" y="2914869"/>
            <a:ext cx="1457434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BUSY PROFESSIONALS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5292" y="3363310"/>
            <a:ext cx="3288570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Professionals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5292" y="3811633"/>
            <a:ext cx="3251200" cy="72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Busy individuals needing quick banking access during work hours. They value efficiency and time-saving solutions.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5292" y="4689831"/>
            <a:ext cx="3176460" cy="597922"/>
          </a:xfrm>
          <a:custGeom>
            <a:avLst/>
            <a:gdLst/>
            <a:ahLst/>
            <a:cxnLst/>
            <a:rect l="l" t="t" r="r" b="b"/>
            <a:pathLst>
              <a:path w="3176460" h="597922">
                <a:moveTo>
                  <a:pt x="0" y="0"/>
                </a:moveTo>
                <a:lnTo>
                  <a:pt x="3176460" y="0"/>
                </a:lnTo>
                <a:lnTo>
                  <a:pt x="3176460" y="597922"/>
                </a:lnTo>
                <a:lnTo>
                  <a:pt x="0" y="59792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2"/>
          <p:cNvSpPr/>
          <p:nvPr/>
        </p:nvSpPr>
        <p:spPr>
          <a:xfrm>
            <a:off x="747402" y="4801941"/>
            <a:ext cx="301763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Quick Balance Checks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7402" y="5026162"/>
            <a:ext cx="300829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Instant account overview during busy schedules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5292" y="5362374"/>
            <a:ext cx="3176460" cy="597922"/>
          </a:xfrm>
          <a:custGeom>
            <a:avLst/>
            <a:gdLst/>
            <a:ahLst/>
            <a:cxnLst/>
            <a:rect l="l" t="t" r="r" b="b"/>
            <a:pathLst>
              <a:path w="3176460" h="597922">
                <a:moveTo>
                  <a:pt x="0" y="0"/>
                </a:moveTo>
                <a:lnTo>
                  <a:pt x="3176460" y="0"/>
                </a:lnTo>
                <a:lnTo>
                  <a:pt x="3176460" y="597922"/>
                </a:lnTo>
                <a:lnTo>
                  <a:pt x="0" y="59792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Text 15"/>
          <p:cNvSpPr/>
          <p:nvPr/>
        </p:nvSpPr>
        <p:spPr>
          <a:xfrm>
            <a:off x="747402" y="5474485"/>
            <a:ext cx="301763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Money Transfers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7402" y="5698705"/>
            <a:ext cx="300829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Seamless fund transfers without visiting branches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35292" y="6034918"/>
            <a:ext cx="3176460" cy="597922"/>
          </a:xfrm>
          <a:custGeom>
            <a:avLst/>
            <a:gdLst/>
            <a:ahLst/>
            <a:cxnLst/>
            <a:rect l="l" t="t" r="r" b="b"/>
            <a:pathLst>
              <a:path w="3176460" h="597922">
                <a:moveTo>
                  <a:pt x="0" y="0"/>
                </a:moveTo>
                <a:lnTo>
                  <a:pt x="3176460" y="0"/>
                </a:lnTo>
                <a:lnTo>
                  <a:pt x="3176460" y="597922"/>
                </a:lnTo>
                <a:lnTo>
                  <a:pt x="0" y="59792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1" name="Text 18"/>
          <p:cNvSpPr/>
          <p:nvPr/>
        </p:nvSpPr>
        <p:spPr>
          <a:xfrm>
            <a:off x="747402" y="6147028"/>
            <a:ext cx="301763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 History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7402" y="6371249"/>
            <a:ext cx="300829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Track recent spending on-the-go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281564" y="1793766"/>
            <a:ext cx="3643586" cy="5063651"/>
          </a:xfrm>
          <a:custGeom>
            <a:avLst/>
            <a:gdLst/>
            <a:ahLst/>
            <a:cxnLst/>
            <a:rect l="l" t="t" r="r" b="b"/>
            <a:pathLst>
              <a:path w="3643586" h="5063651">
                <a:moveTo>
                  <a:pt x="0" y="0"/>
                </a:moveTo>
                <a:lnTo>
                  <a:pt x="3643586" y="0"/>
                </a:lnTo>
                <a:lnTo>
                  <a:pt x="3643586" y="5063651"/>
                </a:lnTo>
                <a:lnTo>
                  <a:pt x="0" y="5063651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24" name="Shape 21"/>
          <p:cNvSpPr/>
          <p:nvPr/>
        </p:nvSpPr>
        <p:spPr>
          <a:xfrm>
            <a:off x="4281564" y="1793766"/>
            <a:ext cx="37370" cy="5063651"/>
          </a:xfrm>
          <a:custGeom>
            <a:avLst/>
            <a:gdLst/>
            <a:ahLst/>
            <a:cxnLst/>
            <a:rect l="l" t="t" r="r" b="b"/>
            <a:pathLst>
              <a:path w="37370" h="5063651">
                <a:moveTo>
                  <a:pt x="0" y="0"/>
                </a:moveTo>
                <a:lnTo>
                  <a:pt x="37370" y="0"/>
                </a:lnTo>
                <a:lnTo>
                  <a:pt x="37370" y="5063651"/>
                </a:lnTo>
                <a:lnTo>
                  <a:pt x="0" y="506365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pic>
        <p:nvPicPr>
          <p:cNvPr id="25" name="Image 1" descr="https://kimi-web-img.moonshot.cn/img/miro.medium.com/43080d458d828e8b45be0d10195adf8c19dd9a3b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470" y="2017986"/>
            <a:ext cx="3176460" cy="1195844"/>
          </a:xfrm>
          <a:prstGeom prst="roundRect">
            <a:avLst>
              <a:gd name="adj" fmla="val 3125"/>
            </a:avLst>
          </a:prstGeom>
        </p:spPr>
      </p:pic>
      <p:sp>
        <p:nvSpPr>
          <p:cNvPr id="26" name="Shape 22"/>
          <p:cNvSpPr/>
          <p:nvPr/>
        </p:nvSpPr>
        <p:spPr>
          <a:xfrm>
            <a:off x="4524470" y="2017986"/>
            <a:ext cx="3176460" cy="1195844"/>
          </a:xfrm>
          <a:custGeom>
            <a:avLst/>
            <a:gdLst/>
            <a:ahLst/>
            <a:cxnLst/>
            <a:rect l="l" t="t" r="r" b="b"/>
            <a:pathLst>
              <a:path w="3176460" h="1195844">
                <a:moveTo>
                  <a:pt x="37370" y="0"/>
                </a:moveTo>
                <a:lnTo>
                  <a:pt x="3139090" y="0"/>
                </a:lnTo>
                <a:cubicBezTo>
                  <a:pt x="3159729" y="0"/>
                  <a:pt x="3176460" y="16731"/>
                  <a:pt x="3176460" y="37370"/>
                </a:cubicBezTo>
                <a:lnTo>
                  <a:pt x="3176460" y="1158474"/>
                </a:lnTo>
                <a:cubicBezTo>
                  <a:pt x="3176460" y="1179113"/>
                  <a:pt x="3159729" y="1195844"/>
                  <a:pt x="3139090" y="1195844"/>
                </a:cubicBezTo>
                <a:lnTo>
                  <a:pt x="37370" y="1195844"/>
                </a:lnTo>
                <a:cubicBezTo>
                  <a:pt x="16731" y="1195844"/>
                  <a:pt x="0" y="1179113"/>
                  <a:pt x="0" y="115847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27" name="Shape 23"/>
          <p:cNvSpPr/>
          <p:nvPr/>
        </p:nvSpPr>
        <p:spPr>
          <a:xfrm>
            <a:off x="4636580" y="2877499"/>
            <a:ext cx="1298611" cy="261591"/>
          </a:xfrm>
          <a:custGeom>
            <a:avLst/>
            <a:gdLst/>
            <a:ahLst/>
            <a:cxnLst/>
            <a:rect l="l" t="t" r="r" b="b"/>
            <a:pathLst>
              <a:path w="1298611" h="261591">
                <a:moveTo>
                  <a:pt x="0" y="0"/>
                </a:moveTo>
                <a:lnTo>
                  <a:pt x="1298611" y="0"/>
                </a:lnTo>
                <a:lnTo>
                  <a:pt x="1298611" y="261591"/>
                </a:lnTo>
                <a:lnTo>
                  <a:pt x="0" y="26159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8" name="Text 24"/>
          <p:cNvSpPr/>
          <p:nvPr/>
        </p:nvSpPr>
        <p:spPr>
          <a:xfrm>
            <a:off x="4748691" y="2914869"/>
            <a:ext cx="113978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SENIOR CITIZENS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4524470" y="3363310"/>
            <a:ext cx="3288570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Seniors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4524470" y="3811633"/>
            <a:ext cx="3251200" cy="72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Older adults who prefer simple, conversational interfaces over complex mobile apps and websites.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4524470" y="4689831"/>
            <a:ext cx="3176460" cy="597922"/>
          </a:xfrm>
          <a:custGeom>
            <a:avLst/>
            <a:gdLst/>
            <a:ahLst/>
            <a:cxnLst/>
            <a:rect l="l" t="t" r="r" b="b"/>
            <a:pathLst>
              <a:path w="3176460" h="597922">
                <a:moveTo>
                  <a:pt x="0" y="0"/>
                </a:moveTo>
                <a:lnTo>
                  <a:pt x="3176460" y="0"/>
                </a:lnTo>
                <a:lnTo>
                  <a:pt x="3176460" y="597922"/>
                </a:lnTo>
                <a:lnTo>
                  <a:pt x="0" y="59792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2" name="Text 28"/>
          <p:cNvSpPr/>
          <p:nvPr/>
        </p:nvSpPr>
        <p:spPr>
          <a:xfrm>
            <a:off x="4636580" y="4801941"/>
            <a:ext cx="301763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Easy Balance Inquiries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4636580" y="5026162"/>
            <a:ext cx="300829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Simple natural language queries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4524470" y="5362374"/>
            <a:ext cx="3176460" cy="597922"/>
          </a:xfrm>
          <a:custGeom>
            <a:avLst/>
            <a:gdLst/>
            <a:ahLst/>
            <a:cxnLst/>
            <a:rect l="l" t="t" r="r" b="b"/>
            <a:pathLst>
              <a:path w="3176460" h="597922">
                <a:moveTo>
                  <a:pt x="0" y="0"/>
                </a:moveTo>
                <a:lnTo>
                  <a:pt x="3176460" y="0"/>
                </a:lnTo>
                <a:lnTo>
                  <a:pt x="3176460" y="597922"/>
                </a:lnTo>
                <a:lnTo>
                  <a:pt x="0" y="59792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Text 31"/>
          <p:cNvSpPr/>
          <p:nvPr/>
        </p:nvSpPr>
        <p:spPr>
          <a:xfrm>
            <a:off x="4636580" y="5474485"/>
            <a:ext cx="301763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Banking FAQs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4636580" y="5698705"/>
            <a:ext cx="300829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Answers about branch hours and policies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4524470" y="6034918"/>
            <a:ext cx="3176460" cy="597922"/>
          </a:xfrm>
          <a:custGeom>
            <a:avLst/>
            <a:gdLst/>
            <a:ahLst/>
            <a:cxnLst/>
            <a:rect l="l" t="t" r="r" b="b"/>
            <a:pathLst>
              <a:path w="3176460" h="597922">
                <a:moveTo>
                  <a:pt x="0" y="0"/>
                </a:moveTo>
                <a:lnTo>
                  <a:pt x="3176460" y="0"/>
                </a:lnTo>
                <a:lnTo>
                  <a:pt x="3176460" y="597922"/>
                </a:lnTo>
                <a:lnTo>
                  <a:pt x="0" y="59792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Text 34"/>
          <p:cNvSpPr/>
          <p:nvPr/>
        </p:nvSpPr>
        <p:spPr>
          <a:xfrm>
            <a:off x="4636580" y="6147028"/>
            <a:ext cx="301763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Card Blocking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4636580" y="6371249"/>
            <a:ext cx="300829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Immediate assistance for lost cards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8170859" y="1793766"/>
            <a:ext cx="3643586" cy="5063651"/>
          </a:xfrm>
          <a:custGeom>
            <a:avLst/>
            <a:gdLst/>
            <a:ahLst/>
            <a:cxnLst/>
            <a:rect l="l" t="t" r="r" b="b"/>
            <a:pathLst>
              <a:path w="3643586" h="5063651">
                <a:moveTo>
                  <a:pt x="0" y="0"/>
                </a:moveTo>
                <a:lnTo>
                  <a:pt x="3643586" y="0"/>
                </a:lnTo>
                <a:lnTo>
                  <a:pt x="3643586" y="5063651"/>
                </a:lnTo>
                <a:lnTo>
                  <a:pt x="0" y="5063651"/>
                </a:lnTo>
                <a:lnTo>
                  <a:pt x="0" y="0"/>
                </a:lnTo>
                <a:close/>
              </a:path>
            </a:pathLst>
          </a:custGeom>
          <a:solidFill>
            <a:srgbClr val="2A2D31"/>
          </a:solidFill>
          <a:ln/>
        </p:spPr>
      </p:sp>
      <p:sp>
        <p:nvSpPr>
          <p:cNvPr id="41" name="Shape 37"/>
          <p:cNvSpPr/>
          <p:nvPr/>
        </p:nvSpPr>
        <p:spPr>
          <a:xfrm>
            <a:off x="8170859" y="1793766"/>
            <a:ext cx="37370" cy="5063651"/>
          </a:xfrm>
          <a:custGeom>
            <a:avLst/>
            <a:gdLst/>
            <a:ahLst/>
            <a:cxnLst/>
            <a:rect l="l" t="t" r="r" b="b"/>
            <a:pathLst>
              <a:path w="37370" h="5063651">
                <a:moveTo>
                  <a:pt x="0" y="0"/>
                </a:moveTo>
                <a:lnTo>
                  <a:pt x="37370" y="0"/>
                </a:lnTo>
                <a:lnTo>
                  <a:pt x="37370" y="5063651"/>
                </a:lnTo>
                <a:lnTo>
                  <a:pt x="0" y="5063651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pic>
        <p:nvPicPr>
          <p:cNvPr id="42" name="Image 2" descr="https://kimi-web-img.moonshot.cn/img/images.wondershare.com/23f40c386f599da227ba99b7670651cdee7ee918.jpg">    </p:cNvPr>
          <p:cNvPicPr>
            <a:picLocks noChangeAspect="1"/>
          </p:cNvPicPr>
          <p:nvPr/>
        </p:nvPicPr>
        <p:blipFill>
          <a:blip r:embed="rId3"/>
          <a:srcRect l="0" r="0" t="14334" b="14334"/>
          <a:stretch/>
        </p:blipFill>
        <p:spPr>
          <a:xfrm>
            <a:off x="8413765" y="2017986"/>
            <a:ext cx="3176460" cy="1195844"/>
          </a:xfrm>
          <a:prstGeom prst="roundRect">
            <a:avLst>
              <a:gd name="adj" fmla="val 3125"/>
            </a:avLst>
          </a:prstGeom>
        </p:spPr>
      </p:pic>
      <p:sp>
        <p:nvSpPr>
          <p:cNvPr id="43" name="Shape 38"/>
          <p:cNvSpPr/>
          <p:nvPr/>
        </p:nvSpPr>
        <p:spPr>
          <a:xfrm>
            <a:off x="8413765" y="2017986"/>
            <a:ext cx="3176460" cy="1195844"/>
          </a:xfrm>
          <a:custGeom>
            <a:avLst/>
            <a:gdLst/>
            <a:ahLst/>
            <a:cxnLst/>
            <a:rect l="l" t="t" r="r" b="b"/>
            <a:pathLst>
              <a:path w="3176460" h="1195844">
                <a:moveTo>
                  <a:pt x="37370" y="0"/>
                </a:moveTo>
                <a:lnTo>
                  <a:pt x="3139090" y="0"/>
                </a:lnTo>
                <a:cubicBezTo>
                  <a:pt x="3159729" y="0"/>
                  <a:pt x="3176460" y="16731"/>
                  <a:pt x="3176460" y="37370"/>
                </a:cubicBezTo>
                <a:lnTo>
                  <a:pt x="3176460" y="1158474"/>
                </a:lnTo>
                <a:cubicBezTo>
                  <a:pt x="3176460" y="1179113"/>
                  <a:pt x="3159729" y="1195844"/>
                  <a:pt x="3139090" y="1195844"/>
                </a:cubicBezTo>
                <a:lnTo>
                  <a:pt x="37370" y="1195844"/>
                </a:lnTo>
                <a:cubicBezTo>
                  <a:pt x="16731" y="1195844"/>
                  <a:pt x="0" y="1179113"/>
                  <a:pt x="0" y="1158474"/>
                </a:cubicBezTo>
                <a:lnTo>
                  <a:pt x="0" y="37370"/>
                </a:lnTo>
                <a:cubicBezTo>
                  <a:pt x="0" y="16745"/>
                  <a:pt x="16745" y="0"/>
                  <a:pt x="37370" y="0"/>
                </a:cubicBez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4" name="Shape 39"/>
          <p:cNvSpPr/>
          <p:nvPr/>
        </p:nvSpPr>
        <p:spPr>
          <a:xfrm>
            <a:off x="8525875" y="2877499"/>
            <a:ext cx="1233214" cy="261591"/>
          </a:xfrm>
          <a:custGeom>
            <a:avLst/>
            <a:gdLst/>
            <a:ahLst/>
            <a:cxnLst/>
            <a:rect l="l" t="t" r="r" b="b"/>
            <a:pathLst>
              <a:path w="1233214" h="261591">
                <a:moveTo>
                  <a:pt x="0" y="0"/>
                </a:moveTo>
                <a:lnTo>
                  <a:pt x="1233214" y="0"/>
                </a:lnTo>
                <a:lnTo>
                  <a:pt x="1233214" y="261591"/>
                </a:lnTo>
                <a:lnTo>
                  <a:pt x="0" y="261591"/>
                </a:lnTo>
                <a:lnTo>
                  <a:pt x="0" y="0"/>
                </a:ln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45" name="Text 40"/>
          <p:cNvSpPr/>
          <p:nvPr/>
        </p:nvSpPr>
        <p:spPr>
          <a:xfrm>
            <a:off x="8637986" y="2914869"/>
            <a:ext cx="1074391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YOUNG ADULTS</a:t>
            </a:r>
            <a:endParaRPr lang="en-US" sz="1600" dirty="0"/>
          </a:p>
        </p:txBody>
      </p:sp>
      <p:sp>
        <p:nvSpPr>
          <p:cNvPr id="46" name="Text 41"/>
          <p:cNvSpPr/>
          <p:nvPr/>
        </p:nvSpPr>
        <p:spPr>
          <a:xfrm>
            <a:off x="8413765" y="3363310"/>
            <a:ext cx="3288570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</a:t>
            </a:r>
            <a:endParaRPr lang="en-US" sz="1600" dirty="0"/>
          </a:p>
        </p:txBody>
      </p:sp>
      <p:sp>
        <p:nvSpPr>
          <p:cNvPr id="47" name="Text 42"/>
          <p:cNvSpPr/>
          <p:nvPr/>
        </p:nvSpPr>
        <p:spPr>
          <a:xfrm>
            <a:off x="8413765" y="3811633"/>
            <a:ext cx="3251200" cy="72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7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Young adults managing finances independently for the first time, seeking convenient digital solutions.</a:t>
            </a:r>
            <a:endParaRPr lang="en-US" sz="1600" dirty="0"/>
          </a:p>
        </p:txBody>
      </p:sp>
      <p:sp>
        <p:nvSpPr>
          <p:cNvPr id="48" name="Shape 43"/>
          <p:cNvSpPr/>
          <p:nvPr/>
        </p:nvSpPr>
        <p:spPr>
          <a:xfrm>
            <a:off x="8413765" y="4689831"/>
            <a:ext cx="3176460" cy="597922"/>
          </a:xfrm>
          <a:custGeom>
            <a:avLst/>
            <a:gdLst/>
            <a:ahLst/>
            <a:cxnLst/>
            <a:rect l="l" t="t" r="r" b="b"/>
            <a:pathLst>
              <a:path w="3176460" h="597922">
                <a:moveTo>
                  <a:pt x="0" y="0"/>
                </a:moveTo>
                <a:lnTo>
                  <a:pt x="3176460" y="0"/>
                </a:lnTo>
                <a:lnTo>
                  <a:pt x="3176460" y="597922"/>
                </a:lnTo>
                <a:lnTo>
                  <a:pt x="0" y="59792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Text 44"/>
          <p:cNvSpPr/>
          <p:nvPr/>
        </p:nvSpPr>
        <p:spPr>
          <a:xfrm>
            <a:off x="8525875" y="4801941"/>
            <a:ext cx="301763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Account Management</a:t>
            </a:r>
            <a:endParaRPr lang="en-US" sz="1600" dirty="0"/>
          </a:p>
        </p:txBody>
      </p:sp>
      <p:sp>
        <p:nvSpPr>
          <p:cNvPr id="50" name="Text 45"/>
          <p:cNvSpPr/>
          <p:nvPr/>
        </p:nvSpPr>
        <p:spPr>
          <a:xfrm>
            <a:off x="8525875" y="5026162"/>
            <a:ext cx="300829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 student account balances</a:t>
            </a:r>
            <a:endParaRPr lang="en-US" sz="1600" dirty="0"/>
          </a:p>
        </p:txBody>
      </p:sp>
      <p:sp>
        <p:nvSpPr>
          <p:cNvPr id="51" name="Shape 46"/>
          <p:cNvSpPr/>
          <p:nvPr/>
        </p:nvSpPr>
        <p:spPr>
          <a:xfrm>
            <a:off x="8413765" y="5362374"/>
            <a:ext cx="3176460" cy="597922"/>
          </a:xfrm>
          <a:custGeom>
            <a:avLst/>
            <a:gdLst/>
            <a:ahLst/>
            <a:cxnLst/>
            <a:rect l="l" t="t" r="r" b="b"/>
            <a:pathLst>
              <a:path w="3176460" h="597922">
                <a:moveTo>
                  <a:pt x="0" y="0"/>
                </a:moveTo>
                <a:lnTo>
                  <a:pt x="3176460" y="0"/>
                </a:lnTo>
                <a:lnTo>
                  <a:pt x="3176460" y="597922"/>
                </a:lnTo>
                <a:lnTo>
                  <a:pt x="0" y="59792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2" name="Text 47"/>
          <p:cNvSpPr/>
          <p:nvPr/>
        </p:nvSpPr>
        <p:spPr>
          <a:xfrm>
            <a:off x="8525875" y="5474485"/>
            <a:ext cx="301763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ATM Locator</a:t>
            </a:r>
            <a:endParaRPr lang="en-US" sz="1600" dirty="0"/>
          </a:p>
        </p:txBody>
      </p:sp>
      <p:sp>
        <p:nvSpPr>
          <p:cNvPr id="53" name="Text 48"/>
          <p:cNvSpPr/>
          <p:nvPr/>
        </p:nvSpPr>
        <p:spPr>
          <a:xfrm>
            <a:off x="8525875" y="5698705"/>
            <a:ext cx="300829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Find nearby ATMs on campus</a:t>
            </a:r>
            <a:endParaRPr lang="en-US" sz="1600" dirty="0"/>
          </a:p>
        </p:txBody>
      </p:sp>
      <p:sp>
        <p:nvSpPr>
          <p:cNvPr id="54" name="Shape 49"/>
          <p:cNvSpPr/>
          <p:nvPr/>
        </p:nvSpPr>
        <p:spPr>
          <a:xfrm>
            <a:off x="8413765" y="6034918"/>
            <a:ext cx="3176460" cy="597922"/>
          </a:xfrm>
          <a:custGeom>
            <a:avLst/>
            <a:gdLst/>
            <a:ahLst/>
            <a:cxnLst/>
            <a:rect l="l" t="t" r="r" b="b"/>
            <a:pathLst>
              <a:path w="3176460" h="597922">
                <a:moveTo>
                  <a:pt x="0" y="0"/>
                </a:moveTo>
                <a:lnTo>
                  <a:pt x="3176460" y="0"/>
                </a:lnTo>
                <a:lnTo>
                  <a:pt x="3176460" y="597922"/>
                </a:lnTo>
                <a:lnTo>
                  <a:pt x="0" y="59792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5" name="Text 50"/>
          <p:cNvSpPr/>
          <p:nvPr/>
        </p:nvSpPr>
        <p:spPr>
          <a:xfrm>
            <a:off x="8525875" y="6147028"/>
            <a:ext cx="301763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Loan Information</a:t>
            </a:r>
            <a:endParaRPr lang="en-US" sz="1600" dirty="0"/>
          </a:p>
        </p:txBody>
      </p:sp>
      <p:sp>
        <p:nvSpPr>
          <p:cNvPr id="56" name="Text 51"/>
          <p:cNvSpPr/>
          <p:nvPr/>
        </p:nvSpPr>
        <p:spPr>
          <a:xfrm>
            <a:off x="8525875" y="6371249"/>
            <a:ext cx="3008294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Explore student loan options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7db069d231f75609444790ce3fbf538f2b05df4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7802" b="780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6C8EAD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450527"/>
            <a:ext cx="2674620" cy="388620"/>
          </a:xfrm>
          <a:custGeom>
            <a:avLst/>
            <a:gdLst/>
            <a:ahLst/>
            <a:cxnLst/>
            <a:rect l="l" t="t" r="r" b="b"/>
            <a:pathLst>
              <a:path w="2674620" h="388620">
                <a:moveTo>
                  <a:pt x="0" y="0"/>
                </a:moveTo>
                <a:lnTo>
                  <a:pt x="2674620" y="0"/>
                </a:lnTo>
                <a:lnTo>
                  <a:pt x="2674620" y="388620"/>
                </a:lnTo>
                <a:lnTo>
                  <a:pt x="0" y="38862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 w="10160">
            <a:solidFill>
              <a:srgbClr val="4ECD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538153"/>
            <a:ext cx="235922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360" kern="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FUTURE IS NOW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071553"/>
            <a:ext cx="10096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Transforming Banking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with 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01465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281353"/>
            <a:ext cx="9867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BankBot AI demonstrates how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and NLP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can transform traditional banking into a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smart, efficient, and user-friendly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digital system.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176703"/>
            <a:ext cx="98679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future of banking is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conversational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4ECDC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intelligent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always accessible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8C8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4810" y="4856788"/>
            <a:ext cx="2312670" cy="941070"/>
          </a:xfrm>
          <a:custGeom>
            <a:avLst/>
            <a:gdLst/>
            <a:ahLst/>
            <a:cxnLst/>
            <a:rect l="l" t="t" r="r" b="b"/>
            <a:pathLst>
              <a:path w="2312670" h="941070">
                <a:moveTo>
                  <a:pt x="0" y="0"/>
                </a:moveTo>
                <a:lnTo>
                  <a:pt x="2312670" y="0"/>
                </a:lnTo>
                <a:lnTo>
                  <a:pt x="2312670" y="941070"/>
                </a:lnTo>
                <a:lnTo>
                  <a:pt x="0" y="94107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6C8EAD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66838" y="5013006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96453" y="0"/>
                </a:moveTo>
                <a:cubicBezTo>
                  <a:pt x="196453" y="-9878"/>
                  <a:pt x="188472" y="-17859"/>
                  <a:pt x="178594" y="-17859"/>
                </a:cubicBezTo>
                <a:cubicBezTo>
                  <a:pt x="168715" y="-17859"/>
                  <a:pt x="160734" y="-9878"/>
                  <a:pt x="160734" y="0"/>
                </a:cubicBezTo>
                <a:lnTo>
                  <a:pt x="160734" y="35719"/>
                </a:lnTo>
                <a:lnTo>
                  <a:pt x="107156" y="35719"/>
                </a:lnTo>
                <a:cubicBezTo>
                  <a:pt x="77577" y="35719"/>
                  <a:pt x="53578" y="59717"/>
                  <a:pt x="53578" y="89297"/>
                </a:cubicBezTo>
                <a:lnTo>
                  <a:pt x="53578" y="214313"/>
                </a:lnTo>
                <a:cubicBezTo>
                  <a:pt x="53578" y="243892"/>
                  <a:pt x="77577" y="267891"/>
                  <a:pt x="107156" y="267891"/>
                </a:cubicBezTo>
                <a:lnTo>
                  <a:pt x="250031" y="267891"/>
                </a:lnTo>
                <a:cubicBezTo>
                  <a:pt x="279611" y="267891"/>
                  <a:pt x="303609" y="243892"/>
                  <a:pt x="303609" y="214313"/>
                </a:cubicBezTo>
                <a:lnTo>
                  <a:pt x="303609" y="89297"/>
                </a:lnTo>
                <a:cubicBezTo>
                  <a:pt x="303609" y="59717"/>
                  <a:pt x="279611" y="35719"/>
                  <a:pt x="250031" y="35719"/>
                </a:cubicBezTo>
                <a:lnTo>
                  <a:pt x="196453" y="35719"/>
                </a:lnTo>
                <a:lnTo>
                  <a:pt x="196453" y="0"/>
                </a:lnTo>
                <a:close/>
                <a:moveTo>
                  <a:pt x="89297" y="205383"/>
                </a:moveTo>
                <a:cubicBezTo>
                  <a:pt x="89297" y="197960"/>
                  <a:pt x="95269" y="191988"/>
                  <a:pt x="102691" y="191988"/>
                </a:cubicBezTo>
                <a:lnTo>
                  <a:pt x="120551" y="191988"/>
                </a:lnTo>
                <a:cubicBezTo>
                  <a:pt x="127974" y="191988"/>
                  <a:pt x="133945" y="197960"/>
                  <a:pt x="133945" y="205383"/>
                </a:cubicBezTo>
                <a:cubicBezTo>
                  <a:pt x="133945" y="212806"/>
                  <a:pt x="127974" y="218777"/>
                  <a:pt x="120551" y="218777"/>
                </a:cubicBezTo>
                <a:lnTo>
                  <a:pt x="102691" y="218777"/>
                </a:lnTo>
                <a:cubicBezTo>
                  <a:pt x="95269" y="218777"/>
                  <a:pt x="89297" y="212806"/>
                  <a:pt x="89297" y="205383"/>
                </a:cubicBezTo>
                <a:close/>
                <a:moveTo>
                  <a:pt x="156270" y="205383"/>
                </a:moveTo>
                <a:cubicBezTo>
                  <a:pt x="156270" y="197960"/>
                  <a:pt x="162241" y="191988"/>
                  <a:pt x="169664" y="191988"/>
                </a:cubicBezTo>
                <a:lnTo>
                  <a:pt x="187523" y="191988"/>
                </a:lnTo>
                <a:cubicBezTo>
                  <a:pt x="194946" y="191988"/>
                  <a:pt x="200918" y="197960"/>
                  <a:pt x="200918" y="205383"/>
                </a:cubicBezTo>
                <a:cubicBezTo>
                  <a:pt x="200918" y="212806"/>
                  <a:pt x="194946" y="218777"/>
                  <a:pt x="187523" y="218777"/>
                </a:cubicBezTo>
                <a:lnTo>
                  <a:pt x="169664" y="218777"/>
                </a:lnTo>
                <a:cubicBezTo>
                  <a:pt x="162241" y="218777"/>
                  <a:pt x="156270" y="212806"/>
                  <a:pt x="156270" y="205383"/>
                </a:cubicBezTo>
                <a:close/>
                <a:moveTo>
                  <a:pt x="223242" y="205383"/>
                </a:moveTo>
                <a:cubicBezTo>
                  <a:pt x="223242" y="197960"/>
                  <a:pt x="229214" y="191988"/>
                  <a:pt x="236637" y="191988"/>
                </a:cubicBezTo>
                <a:lnTo>
                  <a:pt x="254496" y="191988"/>
                </a:lnTo>
                <a:cubicBezTo>
                  <a:pt x="261919" y="191988"/>
                  <a:pt x="267891" y="197960"/>
                  <a:pt x="267891" y="205383"/>
                </a:cubicBezTo>
                <a:cubicBezTo>
                  <a:pt x="267891" y="212806"/>
                  <a:pt x="261919" y="218777"/>
                  <a:pt x="254496" y="218777"/>
                </a:cubicBezTo>
                <a:lnTo>
                  <a:pt x="236637" y="218777"/>
                </a:lnTo>
                <a:cubicBezTo>
                  <a:pt x="229214" y="218777"/>
                  <a:pt x="223242" y="212806"/>
                  <a:pt x="223242" y="205383"/>
                </a:cubicBezTo>
                <a:close/>
                <a:moveTo>
                  <a:pt x="125016" y="98227"/>
                </a:moveTo>
                <a:cubicBezTo>
                  <a:pt x="139801" y="98227"/>
                  <a:pt x="151805" y="110230"/>
                  <a:pt x="151805" y="125016"/>
                </a:cubicBezTo>
                <a:cubicBezTo>
                  <a:pt x="151805" y="139801"/>
                  <a:pt x="139801" y="151805"/>
                  <a:pt x="125016" y="151805"/>
                </a:cubicBezTo>
                <a:cubicBezTo>
                  <a:pt x="110230" y="151805"/>
                  <a:pt x="98227" y="139801"/>
                  <a:pt x="98227" y="125016"/>
                </a:cubicBezTo>
                <a:cubicBezTo>
                  <a:pt x="98227" y="110230"/>
                  <a:pt x="110230" y="98227"/>
                  <a:pt x="125016" y="98227"/>
                </a:cubicBezTo>
                <a:close/>
                <a:moveTo>
                  <a:pt x="205383" y="125016"/>
                </a:moveTo>
                <a:cubicBezTo>
                  <a:pt x="205383" y="110230"/>
                  <a:pt x="217387" y="98227"/>
                  <a:pt x="232172" y="98227"/>
                </a:cubicBezTo>
                <a:cubicBezTo>
                  <a:pt x="246957" y="98227"/>
                  <a:pt x="258961" y="110230"/>
                  <a:pt x="258961" y="125016"/>
                </a:cubicBezTo>
                <a:cubicBezTo>
                  <a:pt x="258961" y="139801"/>
                  <a:pt x="246957" y="151805"/>
                  <a:pt x="232172" y="151805"/>
                </a:cubicBezTo>
                <a:cubicBezTo>
                  <a:pt x="217387" y="151805"/>
                  <a:pt x="205383" y="139801"/>
                  <a:pt x="205383" y="125016"/>
                </a:cubicBezTo>
                <a:close/>
                <a:moveTo>
                  <a:pt x="35719" y="125016"/>
                </a:move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178594"/>
                </a:lnTo>
                <a:cubicBezTo>
                  <a:pt x="0" y="188472"/>
                  <a:pt x="7981" y="196453"/>
                  <a:pt x="17859" y="196453"/>
                </a:cubicBezTo>
                <a:cubicBezTo>
                  <a:pt x="27738" y="196453"/>
                  <a:pt x="35719" y="188472"/>
                  <a:pt x="35719" y="178594"/>
                </a:cubicBezTo>
                <a:lnTo>
                  <a:pt x="35719" y="125016"/>
                </a:lnTo>
                <a:close/>
                <a:moveTo>
                  <a:pt x="339328" y="107156"/>
                </a:moveTo>
                <a:cubicBezTo>
                  <a:pt x="329450" y="107156"/>
                  <a:pt x="321469" y="115137"/>
                  <a:pt x="321469" y="125016"/>
                </a:cubicBezTo>
                <a:lnTo>
                  <a:pt x="321469" y="178594"/>
                </a:lnTo>
                <a:cubicBezTo>
                  <a:pt x="321469" y="188472"/>
                  <a:pt x="329450" y="196453"/>
                  <a:pt x="339328" y="196453"/>
                </a:cubicBezTo>
                <a:cubicBezTo>
                  <a:pt x="349207" y="196453"/>
                  <a:pt x="357188" y="188472"/>
                  <a:pt x="357188" y="17859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2" name="Text 9"/>
          <p:cNvSpPr/>
          <p:nvPr/>
        </p:nvSpPr>
        <p:spPr>
          <a:xfrm>
            <a:off x="498157" y="5374956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Intelligent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861310" y="4856788"/>
            <a:ext cx="2312670" cy="941070"/>
          </a:xfrm>
          <a:custGeom>
            <a:avLst/>
            <a:gdLst/>
            <a:ahLst/>
            <a:cxnLst/>
            <a:rect l="l" t="t" r="r" b="b"/>
            <a:pathLst>
              <a:path w="2312670" h="941070">
                <a:moveTo>
                  <a:pt x="0" y="0"/>
                </a:moveTo>
                <a:lnTo>
                  <a:pt x="2312670" y="0"/>
                </a:lnTo>
                <a:lnTo>
                  <a:pt x="2312670" y="941070"/>
                </a:lnTo>
                <a:lnTo>
                  <a:pt x="0" y="94107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79056" y="501300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5" name="Text 12"/>
          <p:cNvSpPr/>
          <p:nvPr/>
        </p:nvSpPr>
        <p:spPr>
          <a:xfrm>
            <a:off x="2974658" y="5374956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337810" y="4856788"/>
            <a:ext cx="2312670" cy="941070"/>
          </a:xfrm>
          <a:custGeom>
            <a:avLst/>
            <a:gdLst/>
            <a:ahLst/>
            <a:cxnLst/>
            <a:rect l="l" t="t" r="r" b="b"/>
            <a:pathLst>
              <a:path w="2312670" h="941070">
                <a:moveTo>
                  <a:pt x="0" y="0"/>
                </a:moveTo>
                <a:lnTo>
                  <a:pt x="2312670" y="0"/>
                </a:lnTo>
                <a:lnTo>
                  <a:pt x="2312670" y="941070"/>
                </a:lnTo>
                <a:lnTo>
                  <a:pt x="0" y="94107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6C8EAD">
                <a:alpha val="3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55556" y="501300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6C8EAD"/>
          </a:solidFill>
          <a:ln/>
        </p:spPr>
      </p:sp>
      <p:sp>
        <p:nvSpPr>
          <p:cNvPr id="18" name="Text 15"/>
          <p:cNvSpPr/>
          <p:nvPr/>
        </p:nvSpPr>
        <p:spPr>
          <a:xfrm>
            <a:off x="5451157" y="5374956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 Available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814310" y="4856788"/>
            <a:ext cx="2312670" cy="941070"/>
          </a:xfrm>
          <a:custGeom>
            <a:avLst/>
            <a:gdLst/>
            <a:ahLst/>
            <a:cxnLst/>
            <a:rect l="l" t="t" r="r" b="b"/>
            <a:pathLst>
              <a:path w="2312670" h="941070">
                <a:moveTo>
                  <a:pt x="0" y="0"/>
                </a:moveTo>
                <a:lnTo>
                  <a:pt x="2312670" y="0"/>
                </a:lnTo>
                <a:lnTo>
                  <a:pt x="2312670" y="941070"/>
                </a:lnTo>
                <a:lnTo>
                  <a:pt x="0" y="941070"/>
                </a:lnTo>
                <a:lnTo>
                  <a:pt x="0" y="0"/>
                </a:lnTo>
                <a:close/>
              </a:path>
            </a:pathLst>
          </a:custGeom>
          <a:solidFill>
            <a:srgbClr val="2A2D31">
              <a:alpha val="80000"/>
            </a:srgbClr>
          </a:solidFill>
          <a:ln w="10160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96338" y="5013006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8"/>
          <p:cNvSpPr/>
          <p:nvPr/>
        </p:nvSpPr>
        <p:spPr>
          <a:xfrm>
            <a:off x="7927657" y="5374956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User-Friendly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81000" y="5867521"/>
            <a:ext cx="2657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C8EA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81000" y="6210291"/>
            <a:ext cx="2628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C8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450586" y="5943591"/>
            <a:ext cx="2362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Vallivedu Madhuri Reddy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469636" y="6248391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4ECD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BankBot AI Project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BankBot AI - Intelligent Chatbot for Banking FAQs &amp; Services</dc:title>
  <dc:subject>BankBot AI - Intelligent Chatbot for Banking FAQs &amp; Services</dc:subject>
  <dc:creator>Kimi</dc:creator>
  <cp:lastModifiedBy>Kimi</cp:lastModifiedBy>
  <cp:revision>1</cp:revision>
  <dcterms:created xsi:type="dcterms:W3CDTF">2026-01-22T12:54:52Z</dcterms:created>
  <dcterms:modified xsi:type="dcterms:W3CDTF">2026-01-22T12:54:52Z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{"Label":"BankBot AI - Intelligent Chatbot for Banking FAQs &amp; Services","ContentProducer":"001191110108MACG2KBH8F10000","ProduceID":"19be5bd1-ce92-8bca-8000-000003dcc124","ReservedCode1":"","ContentPropagator":"001191110108MACG2KBH8F20000","PropagateID":"19be5bd1-ce92-8bca-8000-000003dcc124","ReservedCode2":""}</vt:lpwstr>
  </property>
</Properties>
</file>